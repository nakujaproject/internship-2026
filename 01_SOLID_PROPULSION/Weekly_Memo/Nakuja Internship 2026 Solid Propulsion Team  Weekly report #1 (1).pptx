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2C3912-24A6-4997-B7DE-CA551BDF0BAD}">
  <a:tblStyle styleId="{B42C3912-24A6-4997-B7DE-CA551BDF0BA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ddddd75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ddddd75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dddd756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dddd756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dddd756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dddd756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ddddd756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ddddd756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ddddd756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ddddd756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ddddd756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ddddd756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ddddd756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ddddd756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ddddd756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ddddd756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ddddd756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ddddd756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ddddd756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ddddd756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ddddd756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ddddd756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ddddd756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ddddd756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ddddd756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ddddd756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dddd756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ddddd756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ddddd756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ddddd756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spreadsheets/d/12ZEqdzojJpOwdd-moT2f31HzPiEnxrXmXsnNbVNElK4/edit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663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Nakuja Internship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Solid Propulsion Team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Weekly report #1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6300" y="3412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by: Collins Kinyua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504900" y="4003450"/>
            <a:ext cx="2134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June 19, 2026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completed this week: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Began procurement process for new SRM casing and simulated possible solid rocket motor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 of new casing for ignition </a:t>
            </a:r>
            <a:r>
              <a:rPr lang="en"/>
              <a:t>circuit</a:t>
            </a:r>
            <a:r>
              <a:rPr lang="en"/>
              <a:t> system.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Wrote a report on mitigation of pressure spikes in BATES(BAllistic Test and Evaluation System) grain.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Failure analysis of previous static tests.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8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Procurement process for new casing and simulated SRM performance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303925"/>
            <a:ext cx="8520600" cy="17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statement: Upon use of the Aluminum A6063-T5 casing during static fire testing led to rapid unscheduled disassembly (The motor exploded during static fire testing).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indicated that the Aluminum casing could not withstand the simulated peak pressure value which </a:t>
            </a:r>
            <a:r>
              <a:rPr lang="en"/>
              <a:t>necessitated</a:t>
            </a:r>
            <a:r>
              <a:rPr lang="en"/>
              <a:t> a change of casing material.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175" y="2338600"/>
            <a:ext cx="3159275" cy="27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13400" y="278850"/>
            <a:ext cx="8520600" cy="25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The following materials were considered: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Mild steel SCH 160 -available in our inventory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Stainless steel G 316 -Kens Metal industries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Carbon steel seamless pipe schedule 40 Grade B API 5L -Kens metal industries.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Selected Material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17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Stainless steel G316 is the material to be used for the casing.</a:t>
            </a:r>
            <a:br>
              <a:rPr lang="en"/>
            </a:br>
            <a:r>
              <a:rPr lang="en"/>
              <a:t> It is selected for having a 2mm thickness and higher yield strength than aluminium.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See the full comparison table to aluminium </a:t>
            </a:r>
            <a:r>
              <a:rPr lang="en" u="sng">
                <a:solidFill>
                  <a:schemeClr val="hlink"/>
                </a:solidFill>
                <a:hlinkClick r:id="rId3"/>
              </a:rPr>
              <a:t>here</a:t>
            </a:r>
            <a:endParaRPr/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2624138" y="314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{B42C3912-24A6-4997-B7DE-CA551BDF0BAD}</a:tableStyleId>
              </a:tblPr>
              <a:tblGrid>
                <a:gridCol w="1990725"/>
                <a:gridCol w="952500"/>
                <a:gridCol w="952500"/>
              </a:tblGrid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Parameter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Aluminium 6063-T5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Stainless Steel G316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22222"/>
                          </a:solidFill>
                        </a:rPr>
                        <a:t>Outer Diameter</a:t>
                      </a:r>
                      <a:endParaRPr b="1" sz="1000">
                        <a:solidFill>
                          <a:srgbClr val="22222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</a:rPr>
                        <a:t>100 mm</a:t>
                      </a:r>
                      <a:endParaRPr sz="1000">
                        <a:solidFill>
                          <a:srgbClr val="22222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4E79"/>
                          </a:solidFill>
                        </a:rPr>
                        <a:t>101.6 mm</a:t>
                      </a:r>
                      <a:endParaRPr b="1" sz="1000">
                        <a:solidFill>
                          <a:srgbClr val="1F4E79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22222"/>
                          </a:solidFill>
                        </a:rPr>
                        <a:t>Inner Diameter</a:t>
                      </a:r>
                      <a:endParaRPr b="1" sz="1000">
                        <a:solidFill>
                          <a:srgbClr val="22222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</a:rPr>
                        <a:t>94 mm</a:t>
                      </a:r>
                      <a:endParaRPr sz="1000">
                        <a:solidFill>
                          <a:srgbClr val="22222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4E79"/>
                          </a:solidFill>
                        </a:rPr>
                        <a:t>97.6 mm</a:t>
                      </a:r>
                      <a:endParaRPr b="1" sz="1000">
                        <a:solidFill>
                          <a:srgbClr val="1F4E79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22222"/>
                          </a:solidFill>
                        </a:rPr>
                        <a:t>Thickness (t)</a:t>
                      </a:r>
                      <a:endParaRPr b="1" sz="1000">
                        <a:solidFill>
                          <a:srgbClr val="22222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</a:rPr>
                        <a:t>3 mm</a:t>
                      </a:r>
                      <a:endParaRPr sz="1000">
                        <a:solidFill>
                          <a:srgbClr val="22222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4E79"/>
                          </a:solidFill>
                        </a:rPr>
                        <a:t>2 mm</a:t>
                      </a:r>
                      <a:endParaRPr b="1" sz="1000">
                        <a:solidFill>
                          <a:srgbClr val="1F4E79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Design of new casing for ignition circuit.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17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statement: During static fire testing, the current ignition circuit system (Trigger and Ignitor </a:t>
            </a:r>
            <a:r>
              <a:rPr lang="en"/>
              <a:t>circuit</a:t>
            </a:r>
            <a:r>
              <a:rPr lang="en"/>
              <a:t>) was bulky to transport and set-up prompting a change to a more compact and heat resistant design.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Old Design: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7650" y="2076500"/>
            <a:ext cx="4089324" cy="306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proposed design: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Trigger casing                                                   Trigger top cover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0825"/>
            <a:ext cx="4260300" cy="2261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4" y="1440825"/>
            <a:ext cx="4260321" cy="22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Report on mitigation of pressure spikes in BATES grain.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Key findings: 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Two main areas of focus were brought to attention: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Structural Integrity of the grain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Ignition timing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lphaUcPeriod"/>
            </a:pPr>
            <a:r>
              <a:rPr lang="en"/>
              <a:t>Structural Integrity 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6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faced: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Formation of air bubbles and voids -this causes rapid increase in chamber  pressure </a:t>
            </a:r>
            <a:r>
              <a:rPr lang="en"/>
              <a:t>contributing</a:t>
            </a:r>
            <a:r>
              <a:rPr lang="en"/>
              <a:t> to CATO.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Erosive burning -this was observed by ejection of unburnt chunks of propellant during static test.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Proposed solutions: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Addition of surfactant -Sodium Laureth Sulphate(~1%), reduces the surface tension of sorbitol thus allowing wetting of KNO3 crystal without forming air bubbles and voids.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Addition of plasticizer -Glycerol(~1%) introduces flexibility to the binder thus allowing the grain to resist cracking during firing to prevent erosive burning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226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B. Ignition timing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799300"/>
            <a:ext cx="8520600" cy="32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During previous static fire testing, delayed ignition was observed which contributes to non-uniform pressure rises.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196" y="1943075"/>
            <a:ext cx="4588450" cy="313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93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Proposed solution: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Implementation of a dual ignition sequence consisting of high-sensitivity primer (KNO3, Charcoal, Isopropyl Alcohol -Binding agent) and internal pyrogenic ignitor charge to ensure the entire grain surface initiates combustion simultaneously, preventing localised pressure surges caused by slow or uneven ignition.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Increase inter-grain spacing to 15% of grain diameter to allow for easy penetration of hot gases thus instantaneous ignition.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300" y="2909400"/>
            <a:ext cx="7504975" cy="2234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257100" y="84650"/>
            <a:ext cx="85206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adding primer and increasing spacing between the grains inside the SRM</a:t>
            </a: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3">
            <a:alphaModFix/>
          </a:blip>
          <a:srcRect b="1743" l="2413" r="1820" t="51408"/>
          <a:stretch/>
        </p:blipFill>
        <p:spPr>
          <a:xfrm>
            <a:off x="559125" y="1959125"/>
            <a:ext cx="4335400" cy="193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 rotWithShape="1">
          <a:blip r:embed="rId4">
            <a:alphaModFix/>
          </a:blip>
          <a:srcRect b="1724" l="3437" r="5397" t="55182"/>
          <a:stretch/>
        </p:blipFill>
        <p:spPr>
          <a:xfrm>
            <a:off x="5167525" y="1915425"/>
            <a:ext cx="3505450" cy="180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4"/>
          <p:cNvSpPr txBox="1"/>
          <p:nvPr/>
        </p:nvSpPr>
        <p:spPr>
          <a:xfrm>
            <a:off x="449925" y="1151000"/>
            <a:ext cx="84306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Delayed ignition without primer:                 Proper ignition with primer: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(Notice the time taken to reach 500N in both curves, it should be </a:t>
            </a:r>
            <a:r>
              <a:rPr lang="en" sz="1800">
                <a:solidFill>
                  <a:schemeClr val="dk2"/>
                </a:solidFill>
              </a:rPr>
              <a:t>instantaneous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0"/>
            <a:ext cx="85206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Failure analysis of previous static tests.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605100"/>
            <a:ext cx="8520600" cy="23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scientific workflow for failure analysis was developed and will be used to record, analyse and provide possible solutions for why the previous N-4 SRM failed.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the workflow we came up with: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500" y="1773025"/>
            <a:ext cx="4986551" cy="313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75" y="404512"/>
            <a:ext cx="5946999" cy="433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 this week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Lack of internet connection hindered effective research.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7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The End!</a:t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6998" y="646425"/>
            <a:ext cx="3104050" cy="41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