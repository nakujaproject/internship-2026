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kAn1PHy8+KlSL/CBRJ7F1Z3Ud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725"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f57c144d6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f57c144d6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f57c144d6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f57c144d6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f57c144d6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f57c144d6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57c144d6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57c144d6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f57c144d6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f57c144d6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57c144d66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f57c144d6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f5a7cd685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f5a7cd685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f5a7cd685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f5a7cd685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2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2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2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drive.google.com/file/d/12g5LjcHqelsZBR22RvL5BQSIn7SghJpc/view"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hyperlink" Target="http://drive.google.com/file/d/1kVwE-Nbw1qTgX0c71LP6jQOzQNilpoiG/view"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hyperlink" Target="http://drive.google.com/file/d/1ZzKLjwHaTy4m9rBOYdmlfuTc5U2FBENr/view"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docs.google.com/spreadsheets/d/1ItQDAlRLaYcg9si493R-wpe7q-Kaqn-85Dn_sr7F3AY/edit?usp=sharin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orgs/nakujaproject/projects/26"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66308" y="1545450"/>
            <a:ext cx="8520600" cy="2052600"/>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111111"/>
              <a:buNone/>
            </a:pPr>
            <a:r>
              <a:rPr lang="en"/>
              <a:t>Nakuja Internship 2026</a:t>
            </a:r>
            <a:endParaRPr/>
          </a:p>
          <a:p>
            <a:pPr marL="0" lvl="0" indent="0" algn="ctr" rtl="0">
              <a:lnSpc>
                <a:spcPct val="100000"/>
              </a:lnSpc>
              <a:spcBef>
                <a:spcPts val="0"/>
              </a:spcBef>
              <a:spcAft>
                <a:spcPts val="0"/>
              </a:spcAft>
              <a:buSzPct val="111111"/>
              <a:buNone/>
            </a:pPr>
            <a:r>
              <a:rPr lang="en"/>
              <a:t>Solid Propulsion Team</a:t>
            </a:r>
            <a:endParaRPr/>
          </a:p>
          <a:p>
            <a:pPr marL="0" lvl="0" indent="0" algn="ctr" rtl="0">
              <a:lnSpc>
                <a:spcPct val="100000"/>
              </a:lnSpc>
              <a:spcBef>
                <a:spcPts val="0"/>
              </a:spcBef>
              <a:spcAft>
                <a:spcPts val="0"/>
              </a:spcAft>
              <a:buSzPct val="111111"/>
              <a:buNone/>
            </a:pPr>
            <a:r>
              <a:rPr lang="en"/>
              <a:t> Weekly report #6</a:t>
            </a:r>
            <a:endParaRPr/>
          </a:p>
          <a:p>
            <a:pPr marL="0" lvl="0" indent="0" algn="ctr" rtl="0">
              <a:lnSpc>
                <a:spcPct val="100000"/>
              </a:lnSpc>
              <a:spcBef>
                <a:spcPts val="0"/>
              </a:spcBef>
              <a:spcAft>
                <a:spcPts val="0"/>
              </a:spcAft>
              <a:buSzPct val="111111"/>
              <a:buNone/>
            </a:pPr>
            <a:endParaRPr/>
          </a:p>
        </p:txBody>
      </p:sp>
      <p:sp>
        <p:nvSpPr>
          <p:cNvPr id="55" name="Google Shape;55;p1"/>
          <p:cNvSpPr txBox="1">
            <a:spLocks noGrp="1"/>
          </p:cNvSpPr>
          <p:nvPr>
            <p:ph type="subTitle" idx="1"/>
          </p:nvPr>
        </p:nvSpPr>
        <p:spPr>
          <a:xfrm>
            <a:off x="366300" y="3412900"/>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a:t>Presented by: BenCollins Mureithi</a:t>
            </a:r>
            <a:endParaRPr/>
          </a:p>
        </p:txBody>
      </p:sp>
      <p:sp>
        <p:nvSpPr>
          <p:cNvPr id="56" name="Google Shape;56;p1"/>
          <p:cNvSpPr txBox="1"/>
          <p:nvPr/>
        </p:nvSpPr>
        <p:spPr>
          <a:xfrm>
            <a:off x="3504900" y="4309225"/>
            <a:ext cx="2134200" cy="464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July </a:t>
            </a:r>
            <a:r>
              <a:rPr lang="en" sz="1800">
                <a:solidFill>
                  <a:schemeClr val="dk2"/>
                </a:solidFill>
              </a:rPr>
              <a:t>24</a:t>
            </a:r>
            <a:r>
              <a:rPr lang="en" sz="1800" b="0" i="0" u="none" strike="noStrike" cap="none">
                <a:solidFill>
                  <a:schemeClr val="dk2"/>
                </a:solidFill>
                <a:latin typeface="Arial"/>
                <a:ea typeface="Arial"/>
                <a:cs typeface="Arial"/>
                <a:sym typeface="Arial"/>
              </a:rPr>
              <a:t>, 2026</a:t>
            </a:r>
            <a:endParaRPr sz="1800" b="0" i="0" u="none" strike="noStrike" cap="non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Tasks completed this week</a:t>
            </a:r>
            <a:endParaRPr/>
          </a:p>
        </p:txBody>
      </p:sp>
      <p:sp>
        <p:nvSpPr>
          <p:cNvPr id="62" name="Google Shape;6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a:t>Cooking of grains for testing (control grain + suppressant)</a:t>
            </a:r>
            <a:endParaRPr/>
          </a:p>
          <a:p>
            <a:pPr marL="457200" lvl="0" indent="-342900" algn="l" rtl="0">
              <a:spcBef>
                <a:spcPts val="0"/>
              </a:spcBef>
              <a:spcAft>
                <a:spcPts val="0"/>
              </a:spcAft>
              <a:buSzPts val="1800"/>
              <a:buAutoNum type="arabicPeriod"/>
            </a:pPr>
            <a:r>
              <a:rPr lang="en"/>
              <a:t>One grain static test (surfactant, suppressant)</a:t>
            </a:r>
            <a:endParaRPr/>
          </a:p>
          <a:p>
            <a:pPr marL="457200" lvl="0" indent="-342900" algn="l" rtl="0">
              <a:spcBef>
                <a:spcPts val="0"/>
              </a:spcBef>
              <a:spcAft>
                <a:spcPts val="0"/>
              </a:spcAft>
              <a:buSzPts val="1800"/>
              <a:buAutoNum type="arabicPeriod"/>
            </a:pPr>
            <a:r>
              <a:rPr lang="en"/>
              <a:t>Old grains disposal </a:t>
            </a:r>
            <a:endParaRPr/>
          </a:p>
          <a:p>
            <a:pPr marL="457200" lvl="0" indent="-342900" algn="l" rtl="0">
              <a:spcBef>
                <a:spcPts val="0"/>
              </a:spcBef>
              <a:spcAft>
                <a:spcPts val="0"/>
              </a:spcAft>
              <a:buSzPts val="1800"/>
              <a:buAutoNum type="arabicPeriod"/>
            </a:pPr>
            <a:r>
              <a:rPr lang="en"/>
              <a:t>Test stand analysis</a:t>
            </a:r>
            <a:endParaRPr/>
          </a:p>
          <a:p>
            <a:pPr marL="457200" lvl="0" indent="-342900" algn="l" rtl="0">
              <a:spcBef>
                <a:spcPts val="0"/>
              </a:spcBef>
              <a:spcAft>
                <a:spcPts val="0"/>
              </a:spcAft>
              <a:buSzPts val="1800"/>
              <a:buAutoNum type="arabicPeriod"/>
            </a:pPr>
            <a:r>
              <a:rPr lang="en"/>
              <a:t>3D print igniter circuit cover</a:t>
            </a:r>
            <a:endParaRPr/>
          </a:p>
          <a:p>
            <a:pPr marL="457200" lvl="0" indent="-342900" algn="l" rtl="0">
              <a:spcBef>
                <a:spcPts val="0"/>
              </a:spcBef>
              <a:spcAft>
                <a:spcPts val="0"/>
              </a:spcAft>
              <a:buSzPts val="1800"/>
              <a:buAutoNum type="arabicPeriod"/>
            </a:pPr>
            <a:r>
              <a:rPr lang="en"/>
              <a:t>5 grain motor design + open rocket simulation</a:t>
            </a:r>
            <a:endParaRPr/>
          </a:p>
          <a:p>
            <a:pPr marL="457200" lvl="0" indent="-342900" algn="l" rtl="0">
              <a:spcBef>
                <a:spcPts val="0"/>
              </a:spcBef>
              <a:spcAft>
                <a:spcPts val="0"/>
              </a:spcAft>
              <a:buSzPts val="1800"/>
              <a:buAutoNum type="arabicPeriod"/>
            </a:pPr>
            <a:r>
              <a:rPr lang="en"/>
              <a:t>Drafting of a purchase request for second disbursement</a:t>
            </a:r>
            <a:endParaRPr/>
          </a:p>
          <a:p>
            <a:pPr marL="457200" lvl="0" indent="0" algn="l" rtl="0">
              <a:lnSpc>
                <a:spcPct val="115000"/>
              </a:lnSpc>
              <a:spcBef>
                <a:spcPts val="1200"/>
              </a:spcBef>
              <a:spcAft>
                <a:spcPts val="1200"/>
              </a:spcAft>
              <a:buSzPts val="18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g3f57c144d66_0_0"/>
          <p:cNvSpPr txBox="1">
            <a:spLocks noGrp="1"/>
          </p:cNvSpPr>
          <p:nvPr>
            <p:ph type="title"/>
          </p:nvPr>
        </p:nvSpPr>
        <p:spPr>
          <a:xfrm>
            <a:off x="0" y="99750"/>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Cooking of propellant grain to be used as control</a:t>
            </a:r>
            <a:endParaRPr/>
          </a:p>
        </p:txBody>
      </p:sp>
      <p:sp>
        <p:nvSpPr>
          <p:cNvPr id="68" name="Google Shape;68;g3f57c144d66_0_0"/>
          <p:cNvSpPr txBox="1">
            <a:spLocks noGrp="1"/>
          </p:cNvSpPr>
          <p:nvPr>
            <p:ph type="body" idx="1"/>
          </p:nvPr>
        </p:nvSpPr>
        <p:spPr>
          <a:xfrm>
            <a:off x="97375" y="672450"/>
            <a:ext cx="8878500" cy="4203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Purpose</a:t>
            </a:r>
            <a:r>
              <a:rPr lang="en"/>
              <a:t>: Upon data analysis from the first one grain static test, we discovered an unusually long burn time which is an indicator of moisture presence in the propellant grain. This suggests that the data collected does not reflect the true performance of the grain thus the one grain test for the control grain has to be repeated while preventing moisture entry as our main objective.</a:t>
            </a:r>
            <a:endParaRPr/>
          </a:p>
          <a:p>
            <a:pPr marL="0" lvl="0" indent="0" algn="l" rtl="0">
              <a:spcBef>
                <a:spcPts val="0"/>
              </a:spcBef>
              <a:spcAft>
                <a:spcPts val="0"/>
              </a:spcAft>
              <a:buNone/>
            </a:pPr>
            <a:r>
              <a:rPr lang="en" b="1"/>
              <a:t>Mitigation strategy</a:t>
            </a:r>
            <a:r>
              <a:rPr lang="en"/>
              <a:t>: After cooking the grain and motor assembly, it shall be stored in a ziplock bag at all times.</a:t>
            </a:r>
            <a:endParaRPr/>
          </a:p>
          <a:p>
            <a:pPr marL="0" lvl="0" indent="0" algn="l" rtl="0">
              <a:spcBef>
                <a:spcPts val="0"/>
              </a:spcBef>
              <a:spcAft>
                <a:spcPts val="0"/>
              </a:spcAft>
              <a:buNone/>
            </a:pPr>
            <a:r>
              <a:rPr lang="en"/>
              <a:t>Grain during storage:                  Solid Rocket Motor before static test:</a:t>
            </a:r>
            <a:endParaRPr/>
          </a:p>
        </p:txBody>
      </p:sp>
      <p:pic>
        <p:nvPicPr>
          <p:cNvPr id="69" name="Google Shape;69;g3f57c144d66_0_0"/>
          <p:cNvPicPr preferRelativeResize="0"/>
          <p:nvPr/>
        </p:nvPicPr>
        <p:blipFill>
          <a:blip r:embed="rId3">
            <a:alphaModFix/>
          </a:blip>
          <a:stretch>
            <a:fillRect/>
          </a:stretch>
        </p:blipFill>
        <p:spPr>
          <a:xfrm rot="5400000">
            <a:off x="808129" y="2663900"/>
            <a:ext cx="1678225" cy="2983524"/>
          </a:xfrm>
          <a:prstGeom prst="rect">
            <a:avLst/>
          </a:prstGeom>
          <a:noFill/>
          <a:ln>
            <a:noFill/>
          </a:ln>
        </p:spPr>
      </p:pic>
      <p:pic>
        <p:nvPicPr>
          <p:cNvPr id="70" name="Google Shape;70;g3f57c144d66_0_0"/>
          <p:cNvPicPr preferRelativeResize="0"/>
          <p:nvPr/>
        </p:nvPicPr>
        <p:blipFill>
          <a:blip r:embed="rId4">
            <a:alphaModFix/>
          </a:blip>
          <a:stretch>
            <a:fillRect/>
          </a:stretch>
        </p:blipFill>
        <p:spPr>
          <a:xfrm>
            <a:off x="7430604" y="2740350"/>
            <a:ext cx="1348101" cy="2328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g3f57c144d66_0_25"/>
          <p:cNvSpPr txBox="1">
            <a:spLocks noGrp="1"/>
          </p:cNvSpPr>
          <p:nvPr>
            <p:ph type="title"/>
          </p:nvPr>
        </p:nvSpPr>
        <p:spPr>
          <a:xfrm>
            <a:off x="0" y="0"/>
            <a:ext cx="8520600" cy="602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One grain static test # 3 &amp; 4 - Addition of surfactant</a:t>
            </a:r>
            <a:endParaRPr/>
          </a:p>
        </p:txBody>
      </p:sp>
      <p:sp>
        <p:nvSpPr>
          <p:cNvPr id="76" name="Google Shape;76;g3f57c144d66_0_25"/>
          <p:cNvSpPr txBox="1">
            <a:spLocks noGrp="1"/>
          </p:cNvSpPr>
          <p:nvPr>
            <p:ph type="body" idx="1"/>
          </p:nvPr>
        </p:nvSpPr>
        <p:spPr>
          <a:xfrm>
            <a:off x="78400" y="602100"/>
            <a:ext cx="8897400" cy="4199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Purpose</a:t>
            </a:r>
            <a:r>
              <a:rPr lang="en"/>
              <a:t>: Two one grain static tests were performed for grains containing 1% Sodium Laureth Sulphate (SLES) and 0.1% Sodium Lauryl Sulphate (SLS) in an attempt to mitigate air bubbles and voids, both of which produced similar results. The thrust output from both tests indicate that they cannot be used for motor integration.</a:t>
            </a:r>
            <a:endParaRPr/>
          </a:p>
          <a:p>
            <a:pPr marL="0" lvl="0" indent="0" algn="l" rtl="0">
              <a:spcBef>
                <a:spcPts val="0"/>
              </a:spcBef>
              <a:spcAft>
                <a:spcPts val="0"/>
              </a:spcAft>
              <a:buNone/>
            </a:pPr>
            <a:r>
              <a:rPr lang="en" b="1"/>
              <a:t>Recommendation:</a:t>
            </a:r>
            <a:r>
              <a:rPr lang="en"/>
              <a:t> SLS or SLES cannot be used for KNSB propellant grains as it suppresses the burn rate which affects the thrust output negatively.</a:t>
            </a:r>
            <a:endParaRPr/>
          </a:p>
          <a:p>
            <a:pPr marL="0" lvl="0" indent="0" algn="l" rtl="0">
              <a:spcBef>
                <a:spcPts val="0"/>
              </a:spcBef>
              <a:spcAft>
                <a:spcPts val="0"/>
              </a:spcAft>
              <a:buNone/>
            </a:pPr>
            <a:r>
              <a:rPr lang="en" b="1"/>
              <a:t>Alternative</a:t>
            </a:r>
            <a:r>
              <a:rPr lang="en"/>
              <a:t>: Use Lecithin </a:t>
            </a:r>
            <a:endParaRPr/>
          </a:p>
        </p:txBody>
      </p:sp>
      <p:pic>
        <p:nvPicPr>
          <p:cNvPr id="77" name="Google Shape;77;g3f57c144d66_0_25" title="VID-20260721-WA0012.mp4">
            <a:hlinkClick r:id="rId3"/>
          </p:cNvPr>
          <p:cNvPicPr preferRelativeResize="0"/>
          <p:nvPr/>
        </p:nvPicPr>
        <p:blipFill>
          <a:blip r:embed="rId4">
            <a:alphaModFix/>
          </a:blip>
          <a:stretch>
            <a:fillRect/>
          </a:stretch>
        </p:blipFill>
        <p:spPr>
          <a:xfrm>
            <a:off x="5061950" y="2919125"/>
            <a:ext cx="3954448" cy="2224375"/>
          </a:xfrm>
          <a:prstGeom prst="rect">
            <a:avLst/>
          </a:prstGeom>
          <a:noFill/>
          <a:ln>
            <a:noFill/>
          </a:ln>
        </p:spPr>
      </p:pic>
      <p:pic>
        <p:nvPicPr>
          <p:cNvPr id="78" name="Google Shape;78;g3f57c144d66_0_25" title="VID-20260721-WA0000.mp4">
            <a:hlinkClick r:id="rId5"/>
          </p:cNvPr>
          <p:cNvPicPr preferRelativeResize="0"/>
          <p:nvPr/>
        </p:nvPicPr>
        <p:blipFill>
          <a:blip r:embed="rId6">
            <a:alphaModFix/>
          </a:blip>
          <a:stretch>
            <a:fillRect/>
          </a:stretch>
        </p:blipFill>
        <p:spPr>
          <a:xfrm>
            <a:off x="697250" y="2919125"/>
            <a:ext cx="4140576" cy="23290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0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1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3f57c144d66_0_5"/>
          <p:cNvSpPr txBox="1">
            <a:spLocks noGrp="1"/>
          </p:cNvSpPr>
          <p:nvPr>
            <p:ph type="title"/>
          </p:nvPr>
        </p:nvSpPr>
        <p:spPr>
          <a:xfrm>
            <a:off x="0" y="878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One grain static test #5 -Addition of suppressant</a:t>
            </a:r>
            <a:endParaRPr/>
          </a:p>
        </p:txBody>
      </p:sp>
      <p:sp>
        <p:nvSpPr>
          <p:cNvPr id="84" name="Google Shape;84;g3f57c144d66_0_5"/>
          <p:cNvSpPr txBox="1">
            <a:spLocks noGrp="1"/>
          </p:cNvSpPr>
          <p:nvPr>
            <p:ph type="body" idx="1"/>
          </p:nvPr>
        </p:nvSpPr>
        <p:spPr>
          <a:xfrm>
            <a:off x="61675" y="660550"/>
            <a:ext cx="8951100" cy="4425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t>Purpose: Upon analysis from previous static tests, we noticed that the actual thrust often exceeds the simulated thrust. To mitigate this observation, we decided to add a suppressant to the KNSB grain.</a:t>
            </a:r>
            <a:endParaRPr sz="1500"/>
          </a:p>
          <a:p>
            <a:pPr marL="0" lvl="0" indent="0" algn="l" rtl="0">
              <a:spcBef>
                <a:spcPts val="0"/>
              </a:spcBef>
              <a:spcAft>
                <a:spcPts val="0"/>
              </a:spcAft>
              <a:buNone/>
            </a:pPr>
            <a:r>
              <a:rPr lang="en" sz="1500"/>
              <a:t>Challenge encountered: Upon performing the one grain test #5, the test was successful except 1 major issue, due to a faulty load cell, we were not able to retrieve the thrust values generated by the static test. This necessitated purchasing of a new load cell as the one we have has been causing issues all through the test campaign.</a:t>
            </a:r>
            <a:endParaRPr sz="1500"/>
          </a:p>
          <a:p>
            <a:pPr marL="0" lvl="0" indent="0" algn="l" rtl="0">
              <a:spcBef>
                <a:spcPts val="0"/>
              </a:spcBef>
              <a:spcAft>
                <a:spcPts val="0"/>
              </a:spcAft>
              <a:buNone/>
            </a:pPr>
            <a:r>
              <a:rPr lang="en" sz="1500" b="1"/>
              <a:t>Thrust curve from previous tests</a:t>
            </a:r>
            <a:r>
              <a:rPr lang="en" sz="1500"/>
              <a:t>:     </a:t>
            </a:r>
            <a:r>
              <a:rPr lang="en" sz="1500" b="1"/>
              <a:t>Static test video</a:t>
            </a:r>
            <a:r>
              <a:rPr lang="en" sz="1500"/>
              <a:t>:              </a:t>
            </a:r>
            <a:r>
              <a:rPr lang="en" sz="1500" b="1"/>
              <a:t>Faulty load cell</a:t>
            </a:r>
            <a:r>
              <a:rPr lang="en" sz="1500"/>
              <a:t>:</a:t>
            </a:r>
            <a:endParaRPr sz="1500"/>
          </a:p>
        </p:txBody>
      </p:sp>
      <p:pic>
        <p:nvPicPr>
          <p:cNvPr id="85" name="Google Shape;85;g3f57c144d66_0_5"/>
          <p:cNvPicPr preferRelativeResize="0"/>
          <p:nvPr/>
        </p:nvPicPr>
        <p:blipFill>
          <a:blip r:embed="rId3">
            <a:alphaModFix/>
          </a:blip>
          <a:stretch>
            <a:fillRect/>
          </a:stretch>
        </p:blipFill>
        <p:spPr>
          <a:xfrm>
            <a:off x="516150" y="3363702"/>
            <a:ext cx="2667274" cy="1479075"/>
          </a:xfrm>
          <a:prstGeom prst="rect">
            <a:avLst/>
          </a:prstGeom>
          <a:noFill/>
          <a:ln>
            <a:noFill/>
          </a:ln>
        </p:spPr>
      </p:pic>
      <p:pic>
        <p:nvPicPr>
          <p:cNvPr id="86" name="Google Shape;86;g3f57c144d66_0_5" title="VID-20260724-WA0003.mp4">
            <a:hlinkClick r:id="rId4"/>
          </p:cNvPr>
          <p:cNvPicPr preferRelativeResize="0"/>
          <p:nvPr/>
        </p:nvPicPr>
        <p:blipFill>
          <a:blip r:embed="rId5">
            <a:alphaModFix/>
          </a:blip>
          <a:stretch>
            <a:fillRect/>
          </a:stretch>
        </p:blipFill>
        <p:spPr>
          <a:xfrm>
            <a:off x="3567730" y="2605116"/>
            <a:ext cx="1385150" cy="2462499"/>
          </a:xfrm>
          <a:prstGeom prst="rect">
            <a:avLst/>
          </a:prstGeom>
          <a:noFill/>
          <a:ln>
            <a:noFill/>
          </a:ln>
        </p:spPr>
      </p:pic>
      <p:pic>
        <p:nvPicPr>
          <p:cNvPr id="87" name="Google Shape;87;g3f57c144d66_0_5"/>
          <p:cNvPicPr preferRelativeResize="0"/>
          <p:nvPr/>
        </p:nvPicPr>
        <p:blipFill>
          <a:blip r:embed="rId6">
            <a:alphaModFix/>
          </a:blip>
          <a:stretch>
            <a:fillRect/>
          </a:stretch>
        </p:blipFill>
        <p:spPr>
          <a:xfrm rot="-5400000">
            <a:off x="6156050" y="1964624"/>
            <a:ext cx="1919351" cy="341220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3f57c144d66_0_10"/>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Old grains disposal</a:t>
            </a:r>
            <a:endParaRPr/>
          </a:p>
        </p:txBody>
      </p:sp>
      <p:sp>
        <p:nvSpPr>
          <p:cNvPr id="93" name="Google Shape;93;g3f57c144d66_0_10"/>
          <p:cNvSpPr txBox="1">
            <a:spLocks noGrp="1"/>
          </p:cNvSpPr>
          <p:nvPr>
            <p:ph type="body" idx="1"/>
          </p:nvPr>
        </p:nvSpPr>
        <p:spPr>
          <a:xfrm>
            <a:off x="0" y="5727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Purpose: In an attempt to free up the inventory of old grains, the team decided to dispose some of the old propellant grains which were cooked by the previous teams. The grains were disposed remotely in batches of 6 inside a trench located at the baseball pitch at a safe distance of 30m</a:t>
            </a:r>
            <a:endParaRPr/>
          </a:p>
        </p:txBody>
      </p:sp>
      <p:pic>
        <p:nvPicPr>
          <p:cNvPr id="94" name="Google Shape;94;g3f57c144d66_0_10"/>
          <p:cNvPicPr preferRelativeResize="0"/>
          <p:nvPr/>
        </p:nvPicPr>
        <p:blipFill>
          <a:blip r:embed="rId3">
            <a:alphaModFix/>
          </a:blip>
          <a:stretch>
            <a:fillRect/>
          </a:stretch>
        </p:blipFill>
        <p:spPr>
          <a:xfrm>
            <a:off x="1130300" y="2092075"/>
            <a:ext cx="4734499" cy="2663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f57c144d66_0_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5. Test stand analysis</a:t>
            </a:r>
            <a:endParaRPr/>
          </a:p>
        </p:txBody>
      </p:sp>
      <p:sp>
        <p:nvSpPr>
          <p:cNvPr id="100" name="Google Shape;100;g3f57c144d66_0_15"/>
          <p:cNvSpPr txBox="1">
            <a:spLocks noGrp="1"/>
          </p:cNvSpPr>
          <p:nvPr>
            <p:ph type="body" idx="1"/>
          </p:nvPr>
        </p:nvSpPr>
        <p:spPr>
          <a:xfrm>
            <a:off x="259118" y="1068337"/>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tx1"/>
                </a:solidFill>
              </a:rPr>
              <a:t>Purpose:To determine if the test stand could topple in a multi-grain static test. The designer from the previous team  said it couldn't as the more the thrust the more stable it gets as its being pressed downward. However, </a:t>
            </a:r>
            <a:r>
              <a:rPr lang="en" dirty="0"/>
              <a:t>the Load cell support </a:t>
            </a:r>
            <a:r>
              <a:rPr lang="en" dirty="0">
                <a:solidFill>
                  <a:schemeClr val="tx1"/>
                </a:solidFill>
              </a:rPr>
              <a:t>should be </a:t>
            </a:r>
            <a:r>
              <a:rPr lang="en" dirty="0"/>
              <a:t>reinforced further </a:t>
            </a:r>
            <a:r>
              <a:rPr lang="en" dirty="0">
                <a:solidFill>
                  <a:schemeClr val="tx1"/>
                </a:solidFill>
              </a:rPr>
              <a:t>as the current one yielded in their last five grain test</a:t>
            </a:r>
            <a:r>
              <a:rPr lang="en" dirty="0" smtClean="0">
                <a:solidFill>
                  <a:schemeClr val="tx1"/>
                </a:solidFill>
              </a:rPr>
              <a:t>.</a:t>
            </a:r>
          </a:p>
          <a:p>
            <a:pPr marL="0" lvl="0" indent="0" algn="l" rtl="0">
              <a:spcBef>
                <a:spcPts val="0"/>
              </a:spcBef>
              <a:spcAft>
                <a:spcPts val="0"/>
              </a:spcAft>
              <a:buNone/>
            </a:pPr>
            <a:r>
              <a:rPr lang="en" dirty="0" smtClean="0">
                <a:solidFill>
                  <a:schemeClr val="tx1"/>
                </a:solidFill>
              </a:rPr>
              <a:t> </a:t>
            </a:r>
          </a:p>
          <a:p>
            <a:pPr marL="0" lvl="0" indent="0" algn="l" rtl="0">
              <a:spcBef>
                <a:spcPts val="0"/>
              </a:spcBef>
              <a:spcAft>
                <a:spcPts val="0"/>
              </a:spcAft>
              <a:buNone/>
            </a:pPr>
            <a:endParaRPr dirty="0">
              <a:solidFill>
                <a:schemeClr val="tx1"/>
              </a:solidFill>
            </a:endParaRPr>
          </a:p>
        </p:txBody>
      </p:sp>
      <p:sp>
        <p:nvSpPr>
          <p:cNvPr id="2" name="AutoShape 2" descr="blob:https://web.whatsapp.com/234d2c98-e60f-4729-8174-02de4262b1f7"/>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lob:https://web.whatsapp.com/234d2c98-e60f-4729-8174-02de4262b1f7"/>
          <p:cNvSpPr>
            <a:spLocks noChangeAspect="1" noChangeArrowheads="1"/>
          </p:cNvSpPr>
          <p:nvPr/>
        </p:nvSpPr>
        <p:spPr bwMode="auto">
          <a:xfrm>
            <a:off x="248501"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data:image/png;base64,iVBORw0KGgoAAAANSUhEUgAAAgkAAAEUCAYAAAChwqUgAAAQAElEQVR4Aez9BYAtx3Umjn9f98VhhscgZkaLJYvNtiw7McWxnRjjJI7jbH6bbLLJgrMhxyTHlpllWxZbYDHzY8Z5MEwXu7v+3+k7d+jNA8mQ7H9fzz1dVYfq1KmqU9XVd2a8Y978Ndf+ui+4edfc5BZc+Y9u/pWfc92ChVd+1i28+h/couv+yS286p9d13VfdvOv+bJbdsnH3KnX/nmc77ruS27+9cILFl5/U5yfp7RbvIuuvkkyN7nO64SX3PxrPu86rvuacF9S+iXXde1NcZ3dSl8tmI7O62T7625y5777q+7M99zsznnPTe7s93zNnfPubwh3s/IGKr/nq6JNg3d/XbRvuLMkc7ZoBufGqfjfa3ymy0B6f/drbvH1n3fzrv2ym3f1192Ca77o5l3z7647hq+47msNborb1G08BnGbv+zmXWu8N4nnC677mq+67mu/JPh3N0/0SRB/V+yHL4s2E7pi3Yb7Ykyr8Jk+w03BvGu+Ip1fkQ1fcZ3XflXpTW6e6u6WjV2mw/pXfWL2Vez9cqyvez/1dssmg7g+6e4WzLv6q27+1V+L+9D6tct4TP91n1ddX1adN0vn5zU2blJq7fyy0pnQqTEz79p/d/Ov/YIzf3Rdp3aZDtlhtC6Nl3ny0fzY9qoeSw2+qDr+PYbuuE1fcd2SM/4ujbmKTV9x82LfWv03xb7oFI/xdcveTvHNUzrP9Cvtki2G3xduUj1fiaFbbZ+vtlt758uP86/5knzwBdG+rLq+EtvQPVnHTYfLh31xeAwcHgO/8TEwT7HIYn23YuE8i3mKZ52Kp/OuvtnNU3ztUhztVmydJ1r3rP6YJ15bMzqu+6pipGK04rLFNsN3SV+X4uI8yRz5lm84b6AYoDwcIjc2it0v/BC7Hvss9jzxjwhf/ldc1/YNvL3rO8it/jrGRscwNp7H2Fgeo7k8xgX1rS1oW7oI7YLWJQvi1PJM1WKwUMToeFH8RQzmCxjMASPjOeRGc8iPhMqXMZIrxDzG98qhhPHRsuRDlAshzjzxCFxw0mKcc/IROPfkJYKFyi8SLFZ+sdIls2Ch8PMFC4RfrHQJzj5piVLhTzK5KizFqccuRaFMDOXKsjmH/nyIYbXf/DAat6HSjvExa28Jw+Nl8QYYEN/QuFM5wuiYQPjR8UD5svwRTsLIeAnjYzmMyl+zYXysgJGxAMOSHxkL5U/Jz8E3InvMpjH1UU66xlTX8HiIoXxeusdld0l2l1VHWTqKcToqvQbD0jsqG0bn0DtmOGtjDLIxN478aAk59eH4WAmj1uZRhxHJj8nW0djOSHVEGDXZGVDQOMthRDLD4xFGxguCkvhK4i8jNxooLWFItIFxyMfFmGY2mt4x6R7X+DMYk2zF90X5BhqfoeRLMPyw+mkoF2FU9hU03gqjxTg/It+Pq45htXdkzGFM7Tf/jsr2faEA02UwqraP5HIwftMxJD0jsS1mewGjM9qoug6XD/vk8Bg4PAZ+w2NgJFfE+Pg4xhTzLT+kmD+iWDasWDUyXpb/y6IVlO4bk4bFOyT58vC4YnJB8bOMYcW1UcXmMdltYPnxXAlewgFFP0IEZcb6kRzbCo5sxBkLR7Aw04v64jZ86MoEkgzFQxCeOAUkUpkMcsMj6N+9B1s3bcbo4BD69u5GTX0aiJKorUvh1CXNOGVpK47sSCBF1YEUHD0gzhOQxlcHALwAYIBsDXDjm8/Fe998Nn7/jefhg288C7//ptPxeypb/gNvNPwseNPZMPwH3nSO0nMkJ3jTufhgXD5P8mcJzozx77jmZNRnVJ08kHRleI5AbDd0eRMgnHyiO3zn4Is34UJxRYhkp/MigEVEjOBUTrkACYQxn8lQfsVcQPlM/JC880JA/YD4qtY7lTpphEvEVIcIkfzsO8JzvjRH8FiObYPpQQSzyU3ohiydXb+D+lkgSURqW0Qg9BxCpVA7IuWdH0hUfKKTJekU3XSqLhEAyU+BD7qkeALpCZVCZSpfFjiNC5UZgpKlUhDCCW/2Cue8MuxSk+CMOKHbqb6YJh4ggtFlqfRHCOSOwJN98p/pNf856QtleyQcYhlVFOubSiP1jLU/Et7abeDUZicbKFnQASrDUvGoABxOgcM+AA77ADjsA+A36gMPkeK7RSwoDjrFfsIpvgO+1kQKBwHjGAVdnAFOtAQiJGuh9UFBUjGysVYxzZMWxXJHwCm2OZX1KVfinBaXKFHCqSekceZRxDGLiJaWBJprfAQpqZQApVhqQOVNSaTFsFRWUIYPCJyQhUJJykvwQ6C1rRbXX3oc3nHRcpx/TDuS4go8H84rSZMYYNoiYV8NmGxKLUnDC1NyToBEJFss6GuxsqBeUl0BHSJqQRIgdlglb/QAcghMRrbIsU4QyKYwxhtfINssLQNyXKAWlJmU7Q6UHNVJiK9I90iYEJE8aotoJF9E4iQou0IB5SHA1+bJadEOJOuc5GzBUp0BfVQup2QKIuepE33JQ7JGSujmC6Z45ATVEsE2JZ5qUdWA2uJBLbG6Ep5q8IEogbISq58uLXf44o6k16FyWeqgpqroZH2kusOJ1IGGlT3OpYSzgvWodGgz5KkePwrhaxxBbRM15odqngJhXVaYRFx3KnRIuoxsABhGYpO+yPQRCXVQQjq9yANVJ6xGlSH/Ir5kj+olI9UTSdaH0waU2oQkJOOLl84h9jE8eNJLgXKyMYz10/pCkwuQ/DQgHTyNF084X3V5TjcaJOFJpx+GSlWf/OBU+2z5w+VIzjoMh8fB4THwSsfAK+GPQ5JmmhN4KGNRawrHLG7F0vm1SCh+OcWmkFRcFINiGaaBp7WhtS6LT/3+FWhr9HHWsQ34+z9+K+pqU4hCrXeKrYglLdYpsPoKnvCLOHtpEp94fRfef/08nHdiBhs2jeDxdUV88Qe7UFTgteo8CVrwNQVUpTm9pjBcvR7nS4UCFNIVmJOI/AB9vaMYSSawbFETNm0ZQlk6zDhfq5gtVBD3qwfKkkBuMAhBbQykVt5wgDKDQ0Ws27AL/UN6z6GyTBVeZC0+VHlwYBS5gi0iCVRopg8Y0fF038CIGAnDGC+QgB+5SlkbnI6aApJ0gBZ5StjA0xNmd32AeTV5dNYGqE2U4VOAEppqQ9Qmw/g0wkegVgcAI+FKWFAXoDM9js6aUoz3pM+Di+uKU9/BRwEd6si0TiLMf1QHezFfCE+DwXCZZID6dBHQYIk0MCAp2zTNbxzVQhygJZPD/Pq8FkcXy0A6EvJZXSZCXToQdxmmxwA65fBkpy9ISn/aN22qSwtkvPt0RTRk8sh4RdTIH531ZdSmchpskI6SbC8rhVKnNIqBapOnOuGNx+WUTmQ6m3JIYhwNqTIWNkWyU/ZrRY7Ea7vhunQJddlQ3jd9lBxhPvfUdl+6EoKM/JOwfrA2q0985NGQziOlI7KMX8DSpgK61SdJ9QXEQxTRWOOQcvm4zVKIim1O+itgdfiyryblIal+Mv0yC578Yv3Y0eTLVm0nVR8kDUkeBg+HfXDYB4fHwK8yBqhosi9gzvhCUHFPkw7KIKP15u3Xno03XnIUfueN52JBW43iZgRqzaUiHWbrUOwaGStjy4at+NfPXIcP33gOfvSzB5HTq4aEn5QdHsQi8OBRT1xOgdDzQ1x6YSu27i3gE5/vQf+Aj13DAb7/0ABGxqFY6sFpwVAOWloRaQGhnkxtwxFFCrMKwGN6N9Le1oGwFCDwIhT0TvwrX38Ef/aFR/HEtlHJOOlxSikjKpqEUEZ4aX3leYlKk1NrvPipkFrMkwgUzDdv6cXi+Z1oqSWeem4T7n9uM3oHSrjjwVX46aNr8fLqnXj05R1Yt3UQdz6+Fi+u7cPq7cN47Ol1eGTFdpRL1BKUgJqlxSFSewjIxiRLaK+L0KL22XF1cz2Q8X0k5L+WbBl2krKsrYBlDQGWKD1OsLyzjIWNeSxsLqGzroATukJktbilshFqopL053BUVxkLGgs4rivA4oYCksmcZMqY3zCKY7tLOHZeP7pajEYsbBiTnjyO6fDR2ZDHKd0FtCXy2nT4UC9JXxFelIJT58xrdGhLjaOjroy2rDZsDcM4oa2ItswQjptfQmd9Dsd2FXBUW4DOujGcMK+sjU4Jp80v45juCA3aCHRqQ7Cko4yuRmBZ+ziOasmhRQu7l4igPSAiLah1qRCt9QGaUnmcOS+H4+aFqPPzOFrtmd+QQ2u2iCNbSji6u6xNSQTHIjqbc7KjhNbaEuZnC+huHMHJXUU0ZXM4YV6E7vpxHNce4sj2ovhGcUJ3Dt21eZwo3cerzfXaELTWFbG8bRzzmkIsaxvF0a1FbcbyqEkWwGSE9mRK/VbC4rYcTlgwjmVq49FtQEfaYWnHIE5sDHFEex5LWgOc0BnIvhCdteM4vtupP0bQXlPCcZ2h2jWKM7qG0Sq5Jm1cIp0AUZtNIJJ+dxhw2Ac47IP/R+fBqxv71EOXHKZRQ2g11lIe4sjFjbj49C5cflonLjp5gR6+pJse5hpb9uBi0SeZ8PHv//UtuOGKxbjknPnYuWUP4GlNVmxyilNOKVTLTCDy2kCs3zaMoxc3o6E2i5VbdiuWO60bplXycb2EFyQKsMUe5QQee24vlnXX43cvaEJDUwrPvzQOOwUWG+wp0I4uoONkqjmRjvLpR2jpbkLnwnbUNmWx5MjFKAUF9Pf2gWqbbXTy+RBb94wjkIaKkZi4xDCR+1WSqhaCACNEWpgC2VgKAU9Pk6M5NbimGfNbm9CXG0BTewdqQyLd1IJlR3dgb/+AHNSC2toEVq3bhqWLF2HRwm4kbfWTTrlMLvZluq+dWQmtWnQ9r4xuLTT2vYIgpzqjIkrlNPaOEF2tSeQLeQzly0hFgXZ4RYyNFTGc91GT0GJTA/T05lAIgPGRepQSQENdLUYGI5SKEQZHA3ieQ40WXjuN6KhPYeduYnQ0hWI+gi1+6ZQHX5uUwvgokrIlnRI+TXgMEHmBbKQW4gKcToeKxSKam7R1cHoNpFON+jqgGJZgm5uBoTTCsof+/gSyadmngeXp1KKutoBA+PFiCZlsGaY/o1dO+bFxpBihqTbUpiiC+ZvykQ32Fi2mTnUYzQW+TmlKqE170l+EK5WxoD5EoRyA5RL8wEk0i3LRR1N9Qjqdjrgc6muJqFCUfofx4RLGwwD9wyH8VICMNiFJ5NBiC7T02xdvMjVEvcZgQyaL3OgQspoIdVnAl0/9iKojg9AVUA4CnSykMSgfN2R9DI/l0B+VUZ/0dO5SRkY7wZGxEUTloja2o8ITpbwHzy+rdQ4uCFFbIx/SaSwEGv2BdFuZOHwd9sBhDxz2wKvygOKJU8xyEjZQgiXd7Tj3pCU47aSlOOnkhUhlUlq4544zIX34TnHKC7F7tIjf+/9+itvv3YxaBfdcPpBmD9RaaHpng+1P2hVvr7/qBHzi727Hj+99GX/y+1ehJpsW68z6FOmkyEKhAuVj2zvwr3cEOOk1lHN/fwAAEABJREFU5+Fvf1jGutJioH45UNcdCzotk9DztaclHzqByGnRSKfSKCqwJ/0UhvqGsHPbLiBQJTIe0hnF4En+t/CxJ7swhYSecLu66vHIQ89iPFdEMD6E3b170FbTpKfWBJq0AWrOANs27kBjfVILTB9GcnmcdNR8LboFjPXvRFgqqgPM5gjOy4NaHhIqen4NtmjRHsxD9XhI2pc9fF8bEi2ejX4sM1hqQk1DDTJeFnnWIJcj6lI+RoMabRYcFrY2I6sNTKZmXAsikZO/KP+lEkkUg7Q2WsDC9gYNDg/9I2W0t6QwEpTg6anYy5ZQr4UOWsTLkkv5GQSRZEIfhVCNijIYHnIoFG3YJTBYrMdQzsdwoQaj5TRGSlnZncXAaITWhgihl8BwmEC+5Gvh9wQptT2N0XxSi3oWYVQjGlEql1HXACQzPvJBHXJhVvV6iLQxSSSBkbEabNtFdX0GfapjVPZApzvM1qAQZZGSj0akE6kkqEU/0GZjuCh/yDdjRQ8j5VqMFVNwmTRGh9PINGXgefVqRxJF4SUO+rVqo8OQdlajLomSNkjj5RDj2pQ11We0mcloQ5CV/T5C1e80Vp02VI2ttSgECZRKGfmgEWXJ1qYy2kk72ZvGUDml3bOHuhofmZpmDJSpDUqEfLEBoSYiaxyK2tXRq1MZCJFUu32B00QkDl+HPXDYA//3eeA/2mJHJxMEioWIVxgP9zyxDn9z86P4Hzc/jn/9xhOK5WWkdCKMWVe81Hl6UJN4MiKiKAU9JWIoKOLu+1bq4QqKTR4i/SCGWQoIjOgB8n9+/jE8sGoPvnP3OvzDv9+PXL4oRimVNGIAPK2nCpQJhEzBX/Z2PFv/YXzm/guwpe1jaDju06g77Q/RcMwNiFgLP3Li9WBf3tPpOvbuHMCm1VuxZc1WbF6zDf09A0hoYVAtIO2uIKo0EljpNwUV9XZ38BAiocVyybxWXHHpyZjf3YxzT1+GC848ER2tCRy9pAmnn7QcxyxrxaWnHomTj1yASy84DqceuRBHLWzD8qXz8ZqzTkBCi7r1nZPRdGlAr1bKLoUd/WUMowHbRtJaKKlFnChqkYm0CG3cm8KKfmJnfxbreoEX+xJYvSuJbeONWDXiY40W0Z6xFF7sLWnR8tVJPl7qyWDnSB1e7vewczSJvVqst4/XYMXuEGsGs9g+UoP1fVnpq8OuUQ+rtjfixW0p7MzXYkexFhv6M3huB7FlNIuBHEAEWjy1MDMLT4vhjmFfcmnsyUnXELG538fKXh/9xWa8pM3Ojr40egseVsrutUNZvLQ1jU2DDdikunrGiJ4isWM8iw1767BjqAkvb0/i5T1Otqa0oUkhULvDsFb2JJBjHbb1p7FtKEDvcAJ7CyE2bPNRYoDtQ9QCncTaniQGZUvopcRH9IwlZV89Ng8B24aTWN2T0iKdwIqdDjvkv55CUm1MYotse3ZHGhsHmrBjkBgeyWBAft060ojV/bXYKl+92EO8JNt2jNdhKPQwLttWb6/B1l2e2k0M6hXShkEfm4ZSsE3e6r2N2DjkSV8Co6VGrJcvN+8MMTRWg+2jaWwZCtEznsTLO7PoLTbi5W0RBooZjI5TfjYom8Nx+DrsgcMeOOyBV+wB51XiiC0yerR3KkHnlL6e/p0eTiICgU53Q7p9VBsqEXl6yIswHkb45k8eRyKTxAq9Nt/eOyp8IBkpYKjUF8z+OJQjXw/HOXh6oLJ8z1AEF9swjVeLoBdpWaVX1OKeQEpCyaAOiOq1EaiH/WpkyIQWnQzsW/FmWJCaj9GoTQsQY4VelAAlR6eyQaxfxolqOyVtE2LMb/LmJpRbGtJTzRHIMmidIDAX+eoE6PQDKntKnToj4SJJRvH5iMcSqB2bgecCOFgbiEi7HWdcXkk4CDKiEIGfB9RuCUml1UU46YV2dNbuUH4LtUhT9VGpbcacOj+SfRAfpdTXZiZQ7b5ziLQRCSWTUN0QLXRZMJINstES6z5PpySBX0akPpNJiGQbHBFq8+LUnkjs9rqBKIvD+HyEwocaaJHqNLlIvImgBpBdBqHnpMJXfzqYnSVmhA6k3sFT3/pqo+GpAenJtkhtKMrOUDX48kRBA2PvqENlIIcoe8JKJtSms+ilAdU9UqrDbm0MnNpeZrKiW5sZp7aXEiHs+ytl0UIrq37rw0CThOKMvLBiq/lVbYnoEPiB6vNkrwcnGyKXEY8PmH+kxzkHZ+2SvqLnIZCikvAl2eQQ6SetvvKQ1GsLMIRjgLwH2Gap6HuIZLNE1P40/MiJV7WoTUUdZ4yGTq+ViqrfPBDJBhy+DnvgsAd+ax74/7+KLNYYRHajg6f45UcADaFyaHjsexFOSE/xXw9Hm4bw9KphvLBqBLlAMc7WMihGKe5DMRKzLir+U5HQKaYqwqlOL/4yNubg9RoTy9CcXIrazFK9l16udBGymSVoSi1EU3oRWpKL0ZZYGEOjeOpqTkM6dQLq0svQlFqKxtQSgdL0BBguuQy1yYWgFjCqHQaY87LWO0RaCAgPtrjGhksg0pGuFAAyOvIi0SJoJVBJClEBu0sKhVIZ37zjZdx8+yp84/aX8fU7XsA3f/4SvnXbS/im4Bu3vSzc8/jqHS/i63e+iG/c+RS+fvuL+Mqdq5SuxNd/vka0lZI1+ZWxzNdvfwk33/GScC/ih/euQa6gjYDq9bRoQ873g1pZzPjUAuqIeFMiPLQIO0badEXw1f5AC6qT1cYTmYRw0OIVaNEq06mJnhZWtY1laacgoXZCEk43h8Dz1IGi6zVCJL2hbQwAhHKdH+mGQDxUXZCsr1sCnhZU22U6adFaCeNL2KBR3WZ/kMgj9EOESMX8vtrkadBAgybyzA5IFxGpLttEhB4QatEOVIbakIwi+M54AjgvQJlJUHW6sA6e1aOBR1R8AC2uEYzXl04neiRw8CMPnk6d/DAJT/4DIulw0l6W7xLCQXV6wnqSkyyh1kgWITzTKVsoOZkmvDYS4nTyqeEgLU48tsD7apsft5uQRlEAClf2tPn1Vas2PVCfeWq/Jz6zIJLeOKVDJJ2R52B9Cl2+vWZhDQLhQ890Ek7tdaJBOcvHqZFkGZ3RYyKUVUZl0Sr5hMpqn8oQbwUH+QYwv1M2OVlMmEYfkfJOfHFZt0g+EEkfwmQNKDrMHtlnKSQD4UwO067Z5Wmkw9nDHvgte4Aa7z5qMIw0R5HGOLIYQwajSkeFH53MG+6VQHZCh6WHImd8BofC+6vwWB21Tm0TZNVua3stBrTgJxD6ETSjESpOW7xW+Kn0hxcp1cy1uECg7FXiHsRNPcz4ir0hinqoSQpj4FCRAKAHVd85ZSI4+LB4ZqcUkeJEIL0eAoQUjU40KkYar8ScD68+vQDVhb4ltRhN8SJ/hHBHVvKpo1CbPhqN6SPijUG9NhCNyaPRrI1AszYQjekloglStrEwWIqmzGI0pOcrPPkyFjFgjotqArX4UZxOIJP0SclAw2hRlp0EFDQToBYhqqGQ0ZBGC5A0GUe9kw7x1R8/hpt++AS+8MNn8PkfPSt4Ls5/7kdPw+Bff6yy8l/6/jP48vdewE0/eBJfFP8Xf/QYvvCjJ/GlHz6Fz//gack9pfIzoj0t+WfxxR88h2///Cm9n/ZkG3Q5RFRWpy9ldWJEB3sgLXlJRLIn0qLp4GA8kV9QGiLyywj9AE60SIE9oj3px9xqiRY9tYEGiCSpKvQhwjjva7GzOqiSU+dCQPkgzis1n1CDxngiDRonjYHqCbQJkEpEnmyRXaHqDZS31Oryo0iaynFNTjKRck4gFt0rH0+DyqkOX4OPZhuNK0JEH6EGVwRrcwJO8mAIqyuBEAEj0JkOJ98EoqrAAGU/QiiCk6wOIBDKTie7nHCUjfIwIG2RNiqmz/IVeyLhDZSIz1d7CZsg0osITvVF0hWo/SGhsvA0uupTyAkk48mPvsRF0R3wtFHwVKjUGcleCi+E7ox1R8rZx8HThgZw+pEGlmF1JSKncenUtgBgBN9JXu2w/oIuykYlcMJRXJQfrT6ntnniNXnKr558DPHaBKYzCcJkPOVt4+nkH88RUL2QD6H2UvaZnCc5k6nkCRqf6YNsEg+h/jU5mDIBpi7VMlU4nDvsgd+wBw6k3tNczEYD6Bx7BF0DP8WCwR+iY/AnaB/6mdKfCpQO3Yr2QUutPA2GpuUHp+XnwhvOoMpn+elQxcep6rL6foPQqja1DN+GtqHb0Tp4B+YVH0OWg5rHodyVUEypQzqVREM2A99zOm2m8Pax1CEbEH7oIalYVBbdKc54AosPsDihmJNJeMhkQjAToZQAAj0cRRYPFXtsDbBYG3qR2O2hyQNEy5STKPsOUi1txq2Flwr2iJ+opEVlX0HFU7CJ9BQMHYP78QLtFCyTakASzvBw+kliSs5kq+DHlVmFyuz3I42ItNj6amQEGaMny8CTXrrYuJBASNMVAgzgWITTYqCC7FBdsMuDQwKhIFI7nCQhe6PJsg9PwTMpZZT+SEG3rGPwkpcBdZwe6SnSZJxSSD7S0unkC8pZqky6U7IsqR2ejJEsdHkO8CWbLNeA8lMyDNVRUM2EF1E4D54FcFuYIg/JUC1VGj/NC5eQPZRmxBfjOySNOS5f+qyzPLUw0uJKB9ji4WkhCBIlGM6DFi6GegKH7PLgO8BpgCRUpx/JE46A2mOvVzzlHCgGTzZaLpQlhhVh1iderNROT5OYiCp6zYZYIlB9kXQk5LFiLBlqAXTKmb2R+s2TH33ZAI0p1QhPbfccJQdQ7fLkIz9Sf0u33eO2WV74CCnMvkw3JG/2eCrYWFFDkNSAp/ovEQGe6FC9lof6y2yCJwJLkAhC2R96lpN21WObFuUO6ePkQ8cIZmdsQzyebBxqbMI85KQfMP2R+CJ5JtJccaI5hohkD+QLJ/silZ3KTjqNv5qGZp98R/Wf8VtdUWxdJC1eDLE+4RwihDppCgQRnDBAJFknLqfxL2+g7FE4ybmYPHnjBP8k4nDmsAf+Qzygkagx77syirkBjI72Ymh0AOMjvSgM70V+ZA9yBsN74nw+xvUqbyB6jFc6MguGjd4r2SnIiyc3Xd7y08HoE2C8v0nIqZ78yC4Uh3ehNNSDstpRzhdha0NdMovjj2zCO157PF5/0SK8/bVL0dlUozCWhrOYYUFBc1xvZpGpDUDFGsJ+HAJvqhPruxtxxDnH4LjzT8HxZx6D9o5WJKJQkaEEi0MUKxXffcVBD6Hie6jY5qGYKCvvdEquWK1XzJ6wYo0EDpW8Uj3dQwHO0wLY1FTAkgVAR1MK9RKuzQSqIAS1WEcKTipgH3CeUBTeQAmk05JZoLGBpAK4r0anfYAM4GlB8jRgPC30Fug9LXLOU4D1HCK9744UVKHL08IANQww2yNE0hEygmOI+ClaPM5PoC5NJJNJ0X1YcK5YNA5fYlaf08bASTalOjJ64o8XLQV2kWWPLb6BZE3KQErjDxEoGEOLotYJ1KWyqNDZ9YUAABAASURBVJV9LhGA8RN8CAfjT8DJpki8vt51hyyDXklWmy2CuB5KPwRhrHn2zakOMICpS8hXDUkP8Hz4DvAjQiskSA++kx4AofRT7Un6aoHa4/lESOmWHbaYmH9CiQVMqg0J2edAiFeysz80GR8wjlC2ZpT3Q8lobNhgdKo35Vf8I9OQUN9Bgy7hAN/6jUToSbdSJsta9h0SyYRw5bgqRyCUnU70eHHU8HXqX8oeE4uZZt1sz1H5XkYKUSJEWjZonwGzJ6nxKVWA7PbV98pIWzke7BDB2k1H2RZqnIWg89SSEId6JeIJk0FG8yPyEojUN2qqdBAaneoKNUibEV+bIcqohPo7rXGlFgORaBqzKVeCL3xIX/UHqjqUPQARKaUgVN42vkDK96UzABJENpVBUm0AfHEmxKOc6jA/EyX53soewEhtdnEZcpYvniwD2ByDrCSJw9dhDxyaB347XCF8OM1jKn4kVGWN4mk2W4uEJ7wTQqPdE93XfIDykeZwQjEd8UUwppkk4UBhNQ/i1PLCiV9LGegAT/MOnq+n64z47EPd5gKhf+Mfs9OHGRbpAdjWh8b6DP7kQ1dgUVcT7npmFbasfBpLuQNdLVljU/scqIZk1Nw3XHIsrrnoFJx1QgdMkxPVi2yWA8mGFI48fiFaa0vA4EY0JPM4+kS9HeioRzodIJkiKCnqAbMmKuLY9iGk48hSQkYx7MSOQdRojS/KV15FJaYuGeAUxJwtNnqaOfHYZrTWjGNBu48FLQkcuTCJU49N4KSlClpSPiU4PRep4CZAicyx+2xYtqgLZx3VgQWt7Tj7uDZktODU+jot0FOhly4jKxsyOrKHNgy1jJAOoSDqx2qc7MQ0vVqjYQtlIsxoAYCOYgIcubQBf/jO0/COq/TKxC+hPqnNAQAdJMA2BQYJBfqWbBLnn7IEb776BDlTi554Ai2iIRJyO6XPAXKggcYbDDzmYAvBacctw7tffxTeev3JWKyOXNjaKLsd0grMdV5e+RApvwbnn7YYqUQNaqQqpdcUKbUriaJsjhA3RR2mSmZ9iBB18IO0NjgZnHnGArz1iiPQ3ZKC1lqkJfPac5egNZVARhsUmwBJ30ODHHX56UvR3tqE5tp68TrUaiHxkEStF6LBG9PiU4CtFxHsom4GSqZ/tIjaxI00sepqMnjjpSeg1i8hY5s4L0I2FeBK1Z+S8xOpUJuAEpD0xBMhkyqqHCCtHUO96j79pCNw+vJ2HL+4CwkNvHrZm0YA30vIngJqo5L8DESxGZFaFmL25RATdeyWEinC0oWduOS0hQoxlJ89TZYjNZayqE2WcN1ly9GcKcm3vlrtoV72JvUEn5Dva1V3RA++TZbQk65D+xjnMRqnpyx2gDYMGbU7Kx8FyZTGbohIm2bzj0745Bsf2WSEY5a2w/cjZLJAkkDg+0gkC+o7H2VP7Uh6ktXGUU/8NdJnG1UihxbFsN9708nIph0WLpyPd155PI6fl1E/jsKzAaO6EqkIKW2UKLmkdtT2q79OPkqq3oQrAuqTZum56Mxl6u8SfAJR5BDBNiEqHFqzD3Md9sBv0AMOCW2cqUhnMT2VSaG+IYt0Mon25mY01CmfTqCupgb12YzSDDra29DW2orGujqkNZ/SiQSaGuos9KCrrQUNtdkKLeGjtiaL5qYGzOvqRCaZQH1tDZobG7F0yWJ0tbcqNkNxJ4SvWUFtUqjdhPdbAqo+p7kYaZ0JFY+gq5QPdJoyisefXoOh3jKWdwAPrdiOxkYFEGpt1PzWYoC02jaWC/HwE2vQ3tiM0IK55G1mG0tTawtqsimM9/SguOlFbH7hDviKB9deeSY+9+evwxvOXoCyHmh9tTXhiKuOLuKG43vR5I/j+mP7cf3RBfheGZ4CsnRSqidAzLYCRqrQnrqdXjXUZjwcsbQby5Y3oDZbwKJ5Dbj68lace1oL6tR5MItmQawmxkEX4XTfF5z0Eeee1I1zzpyPpZ1Z/N6bz8U7rjsbx2kR/MN3notPv/8yvPva43H2kU34tHZXJyr1UJY202k2I9YtROWjSiJGanyEQAtRMl2L/MAQslrUjtKG5M8/cCWuPW8hPn7jhTjjqBZ84MbX4DWnLMG5S1txdHcNzj1pAbob00hEZfh66kuoE33pdKolBgXnOAVAbVwsyGss4+kn1mLN5mGcc9x8XHBsE977prNxxrHN+MQ71J43nolljWUsrg9x3RXH4g9vOBVvfe1ZuPI1x2PxvEaoF2JPeeY0VNqjKlWj8laflwO9AiLlU4k0BnbshSe7Pv6+S3HDZYvR1pjECcd34r984CKctCiFG644FZeffQRec2objppXh1OXpfGht52Nt1xzAk5ZKB+/9Xy8921XoC1tlakml1RGw0A1qqS76hXG8paLPa1Ce0ta/RXglKXNeMe1J+HEBU14w2uOxvknLlQ9jXjv687A773+DFwv//7+W87Dx95xnjY0y3DNa47EJ951IS46dR7OOroRF5zUiHOPb8eN156Ga85bhA/eeD7e9+YLcMUZ85FS3zL2Q0p2JAVmwRTI6YjpDJBKeLhAOpuyZTQmiLdfdQTOO70bR89rkR3n4fSjmlBLX4EjhQsvWYYb3nQaLju9EX/x3gvxvjeei+V1IX7ndSeiI12W/61Xp+pxE+2fngolexIKOmm0aGGf19qMT334QlxzVguuPv9I/Nnbz8UFJ7Ti7Rcfj3e94VTpPguvO2s5rjx5nhb4E9Xnx+DKUzrxuotPw++99SK87ox2pLWQXyKeP3/vebjgyC687/Wn4B3XnIzjjpqPt117Bo5b2AyPIeyd4mB/v4JHEReed1Ls76vPXIDPvO8CbYJfg8uOmYfff/2puOHqo3BCd1J9cRZ+56rjccOlx+DNF52ES0/uRHN9VrFFLfIw4xJG7Tpw2w/z/N/ln//7+stDpGXaaSamkjXIj+cwkhtHqjaDxtY2pfWob2lGbWMDGltaMDg6gkxtLbL1tSgpFkaK9U4Q+T68dBqtXZ1o7exEMptFY3Mj6puakQ/KaOloQ+f8eciVCjD+pDYe2bpaLbAQEJEnO7RZt/XPFt3fNEBxjCjBaY5Tcc8W60JYxvrtA3jtSQlcvWAHWvVQ9tT2BJq10UnoYYNwUDOxtLse9mB4/lmLUSoW0agFn/JhSU8CND9aNPWSyC5ZgkI2g/nLTkLgJfDShu2447Ed+OWzm5AOEih7aeSQwjefJ+Y1ZvAXl+/BsZ0RvvNkE4bjU+EQHqZftIK6SkbLXYj8AnLjPh54ZBcGh6P4j+fktdMZHy7jpRX9cnYIMJoJ6m6bUpxIoZRqGFXVdIAaZAv5tk178PL6Hh2BZJBGGQODg2jS7nH7lt0aACUk0yks6GrCC089h549/bEm60Q76YCcQenFBDhSGMBT46BcAsqrnnwJaG7O4NkX1+KldbvxwrrN6G5vQkdNCh2NDo0sYbB/HFu2DqB/uATHJKCdnZNeJ3lqp0dLnQ9PQOfJ4YDzIsB8lYZ2tmnINZIg1u3sw8KuDkRBgO1btTurycJrqMei5jRSGqy79mzH8fPq0bt7rwK3j0h6CLs8WT0NVI8fyXvarNnpzhPPbUBOHX3eqYvhigN4ZuUOyWdxxJHtWPfSZgwNlmR2gAef3IyXNvejrHchrS1NKI8MIl9yaEolsHL1egyMjyCdkv0sy95QdZZUOZVOq1sU2yimygl4JC48aykautpxjk5E6ht8tNep7WPDWKf+y2rHurtnDxqa61CXTOPpF9djz+4RLJnXjjSLWtwG0adFbtPWISQ08Vsba9QXa7Sjr0NtchRPP78By+Y3ghroNu4gGTvKJ2ba40Ue/Bh8nZLU4IQFrTji+OVY1K3AMjSKDZpc3Qsb0LtzK/o0Xo84Yj6uOLsb8+tSWLdyM+bP68R4fy9WbdmDTo2xwsg46ppa4KxvZ9U1u26IHlDYCIiyRLc2eINb+rFp1wi6Gn2E2qU36Azw5c0DGC3mcf9DLyooNSDbIP5SgLvufwk1DbU4anEztmii1qSSSGSTaJ9XE78OaW8o4wX5rW+shGOP7sDmzTsw6ghf/b9x027sGCng4nOOQFO2hDqNo7q0h/HRYRTLebTUp7Fj8zaMFxw653Vgy5Zt6Fok3/vAI0+twIsb9mBoNA9rg9P4hXra8gZUuw7DzHF22B+/PX94GuMGvmKdhwgFW/CaW9Dd0YmCNgqeYm9bYxu8SOtSBC03Dg3ZGjjNqUwiiXQipdFMnRA0oqmhCUk/iQR9hOUQbU0qu8r8K4zloWAJTw9/NckUAsnnc+X4dC8hvZ7mmafY4ilPyfymPUBZ7ZCWPcrpad5T+6k00qvKl9Zux3CQRUtnEsOK4cuWLcV8xd5abYB8+au1pRZnnDgf9z6+Dnfev07xZgzveNOpSOj1Mu1URm3s69uNsuIQwxA5naA2tC8HywF2bNqJW+95Hr15IrCGSp+9Ou0ttOKmJ9K4ZUUzPv9IBtuKNYBig/Oc7jLWCrBUApbSFtmJYPL8y30YzPt48nktCD1pPPLCML5/Rx827k4jUHCFyUwH6TF5AjAbqMY78ZkDqEEwHXp7B7Fiex5b9wZ4csVOPKNFZFiBbv3eUQXyQTz8/C48vboXz67bgyDbKc0pKSV8OcGT8wgnXDQDHAM1KoBVvnvvGO59djue2TaAvf1jCBLNyKayQKJR+ntx34odCBO1WNk/hBU7B/DUhn4k9E4IXhFAGWBVdzijDg+GD6DTauzZm8eCxcswsLsPz67ehdU943AacLZ4JNM1qs/HWrXn+dUD2NI7hlU7ShgPPWzb2YugmEXFR5E0esq7GfVQWGevXjR4knrHv3zRfGQaGvDoSzuwYuMw0jrDXrNmN37x8DoMJ+qhMYAN20ewcGEdevuLGB2R71btwsZBhz17S1i/exibdpfw8poBjJaSsfcq/eSr3jnq9gIEiSKQ8rFi5S7829cewD3P7sIz64bQ2Dkfq3rycZu27B1Gwa/FY0+uwxPaNOzaM4LnNwzikRe3Ya/GzhbV+fyLu5GXr59b1YNn1w9i4dIj8MyqnXjopR5sk63PretDWYPZQZfGniew9k8HyOLALyLUTC7Kh5//xoP40veeBJnEQDmJqFTEo89uRSHVis1b+vCs6rpDpzyPr+xDQ1e3Nk89eHj1IDb1jGF3zmFgLMLA0Lj8bv15cEioD3p3j6GlaxGGh4ewfTiJUONwe1+AVRvHsV56e/pzWLO+F0PjJTy1Zq98sBMvbOzHmDZbK7cO4YV1m3DBeUehfyiPogLVnh05PLd1L1bvKmCn/LB2yxAefnwT6mob8ZR2+wUFjdbmBsxr7sDDL+5AT7+H7tYsevoiNLTUYbv8vHGojKULOtEv255/eSe8ujbc8eAKPLt2L/ryDjsHgWx9vbwXam5UgAgx3beH8wfv/9+sj/7frN8pxto36Z3WCNjoLObQ3zuMMZ0WRC7C3j27sGfPDoHSvXsVx3qEykonAAAQAElEQVRRKBTRs6sHO3t2o6wn75JOBnr79khmDH19fdi6dYvoOxQD+7C7dw/27t2DkmLDnr0D2Lxpmx58c9i2bQuGBvowPJJDpE2FU91OwbgC0Fxxv1GwGqAZaPV5ivH2EBj6IZxH7OkZRsu8xRhtOBeFpvMBnZr++O6nMVwItKnw0JT10dlUiw+8+Wz8wQ06hdSrZTvtr0mlFct8qfZRGi1jy6ptyI94mLfkDAyPeVi/cjsGe/Pxuh0xodoJMgSECRVvR4JaPNLThN6gWTo8UME4EJ9H5ZwWXSAC1GEGtqA75T3hR/MJFOXE8XyEfBghp7Vzb5+PvQMBqE6E+PYFwOmpy0m3PSVHXohQO5KQQBUi0fr3DmLl3oIa0I8Xtbj98qnNMOgrEGsULB96pgdPr9yDLbsL+JkWwp1j0qvGhEgg0NFQVdeM1AabI0z/7r5+LcrDWLF2ACu2DuHnD67Cmp0juPfhjVizYxD3PL0ZP/3FSryw22HVtnH88ulN2D0QaZHPwqnjIiRh1wz9aoPpTip4h2rXpp078YP7N+ChNUPYOljWRmMo1vuc6rzp50/jtifWYUBP8Su12bnlvpW45alNGvDjuOPpHShq1xv4EThx5D/bR1ZvxEBtUXvUrpXaLP38oS3Y3pfDnY9uwJPb8nh24wA266n91gdXYs94iMe08XlxXQ4PPLsXL28bw/o9Y7j30fV46MWN2D0SYIP8/eL6XRguRWqap36KEGmCRGqX1TcdHKhaI4SahCtWb0FeC/HzOqF4+IUt+MkDK/HSdul+YQd6h0PVsQqPruzHxq392DJQwIsb9+B+bQzue2ILbpOtL20cxQPPb8WDz/doAudx2y9fxMotI3jmmV3YNlDC42t2oawxE2k8Wb1m3XRbLK+NvnyVhqfMYN8Adg2UsXtUdW0bxP06PfnxQ1vlizH87IHV+PnDG7QwJzX8GzWW9mrHvQpb9gxr4R7QJmEQm+WLe57YgL1lB6mbHJdWz9zgUEwE2KRTou/dsxVrd4zgxw+/iBWa0A8/vAI/fvQlbdBy2D46ihXr+jGkvnhq1W48+NwuvLxpAIViUu0dxAurR/CNn76IB9fshRd6ePSxDbjlgU1YqROJbdrMrd7Wq3blcMsjK3DLw5uQjwJtHgbwU9WxtndAPt2G2x5Zq43WNvzb95/BHU9t00a7D9+4Zy3uW70NA4UE7npoBV5eO4gVm4bRr/Ijz2/BwGhR/ewjin1MtdcASg/D3P192C+/Db/YeNTSAAUizf+E5mKIXDCOYZ127h0cQq5UxHg+j1IUougCpWXhcnFa1GvkQGtUxFCnaGMoBPk4tf9NYzBaGEcuKkmujEA8Zc2lgl4lF8ICikEBZeVLiBBpXY38CE4PH07GuDitln9zaeiHsDUEirKxrxWHYW3UCfRtD6zD3RYb7tuCp1bswZ7eIiLnoSz71mkh/JfvPYvP/+Q5fPFnj+LflP/r//MLDBVkq+a3AxQngb07+/HcM6uxYsUuPP/0avRt74evmEOtj54Aartna7hSp1gfaW2NtO6ZLYFscwASAeEF0ZheI4whdOMIwnGEgsANoiwIw1GlQyhHQzBcgUMIxV9yY8hxRHjJid9kpmBMb1kGxFeQoR48l9Q7fl9P/5gBCRnpkBI9Ep+Dr0gduYzMrQwUmtFehFCOI3VXY3w5kCxri1BAUp3vqxUzIFKDpDdhvW6p6FD9TroozZSOQoJIabBQDk+EoriEbIA4HAAHx0hdVhSUhSup9jJm1OEAX/WIWbbZgkUkZJfxpDTofA1ag0B19AwWEYVp1ewj8KRbEia3RU+NozruKempOKHB78kuX8dEpmM6JFRXUjTbrHkI1G7ZpYkhC6TGR1qbtiTGZY98plcSETKyOYBtzOCVAEmE9ITzEGpHGGkAKac2OeGARIS47R4cEs7aIZybAl+4yOQZST4JiUs2QkJP1NSAMp9CaVJl6zury5NfQ6ThCPE79ZNxEZW7Ax0QeWVE0qssnDQm5D+T951DIgbI/6pHDIlp4CvvaXTZSY+TMSFT0peQbwlIwlPdzioQLfBVoxfKAzlA4ycQzil1jOI2hypH2vxGSn031ebp9c3MU35OSl8JkRdIh4vLnk4S7I9J+VFCPvKFU9vVqkjtk2rZJu8qQ9Xtqa19A3uxShupXHx8GkrGidsDHWFBw/onEVG4JCDfelEGqcAHI+nV/EigrOZkMB4k0bvX5IHyeBl7dLxq/WC+iagGSQM1ZhwD5Zxqlv2qIxEBFSASVhZr4jDIF/LLq/DDYd/9an6zWGo+LHspuNbTkO68Asmui5HsvAx+1+XKX4GEpSonlSa6LlP50gm4XKmVq2DlCqQ6L5Ws4a9QWs1fgkS3geEvE/4yJLouFVyivIGVTd7S3ywk1Y60bEx0X4FE98VIzbsCrvZ0PZymUfZqMJwPYf9PJ/ALgGZvpDltUcHT/NcijfFihLxOQ/PjvjZR1MZJcUGx0eInxQvN+oRijBNfQQ8sUamsmBVBoQVgKKrFHXFRRcVOhSg4L4KvGJpUTEtanFD8iSzWjeRu167tdgyN3YrhsZ9jcOx2wd0YHv0FRofvV3onRkbvVv4ejI7cjfzg3Rgf+TlGxD9ivOO3YXAG3I6xkbuQH3sEaW5FFj3Iul2ocb0zIKtyBntRF/WgPupHbbQX9dgi/p2odTuF34UY5/Yo3yPoVbkXGTcgPYMqDyntnQnSV8MeZLhLde+N+WuddKv+rOQyGERTsAc1EN0NozHcK317UIttsZ66cED171V+r2zuQwbDog+r3DsDslBZOhqjnTG+PtqhdI9s6ofVV+d6lPaiLhBEfWhQGxsFzaUxNAS70eS2I41dqn8Y2SiHmmgAafQj6/oEvQJLBZLNYq/s6ENa9qcD5ct7kClvQ6YwgHR5N1Iq15ZULu1EIlqHbMl4tqE+34v60ibUireuuAP1xR6kg51Kt8fySeXT5V1agHqQCHdJj4Hpm4JMeSeSZdUtnalSH2qKe1FT2iVcL9Kl3UiGO5FW/ZnSHmSCrWrvJmSEr1GdWaUZ2VRT7EUq3IpssE3170Z9YQeSake2uBtZySWDPtm5FQn5xexLB7Ij6EFK9qXi9k3ZY+WM7EgLn5Fe469T261co7qy4VrUFPpRU9qOrPTXlXrkhwHUKJ8t9Qq/G5nyDtSqXCf+hsJW1Ik3pTYYJCfShPQnY9iDhHCmP6VyTXEXMqo/G2xGjXxRK1+kg+1q1zZkyj3IlrcgK73pYAcywtdKd0b1ZuWPTHm7cLvVrt3IlvtRm+9Dwu2W7E7UW/+onJXOOqUpydeIv6G0BV4kvaqnprwVdeLLyGdZ1VUjneloK7Lye0bluuIgakvSK96sfJMVn9lXo7Zm1Bdp8STDHap/Gghn7bK2Wjodkmr3jLL6p4Lbo/7frfEyBYY3mM4/M79nGv/0fFWH4Qyq5f8bU7PfoGq75StQ8Y3ld8/y3R75xaAqU00NZ7BLdAPDW9nA8r8uMH0GB9K3RzZXIBWPCeOfDrtl42yYolvbk5o7qRgMv1v6jH9PnKYVj21+QbF3PKrDkJuHQa8LQ15bBfwWDLNFuHYMsUP5DoygHSPKGwyzU7i5wHi7RBOgEyPoUL6iY0jyw5IflqzpNH3DRjcQzvDDbI/5h2M+y1fkp/D7w1Vsq8oNTeppl/3t0lnRMyS9o7JrCF1qW4va2oKRUCfY0W40lDYia/NYczyrGFxX2KU4sV24PajRPM/Il0nFSPNbWnE1GW5HWn2TLQ3A5Cy2J7QmpcST0RyvUSyoUdzLKB6lpC8jfFZpVjiLEzWF3dK7U/FDcUyxzeJPBXYjq3jsdRQeRtvwXWjVRqBt7A60KW0dvRPtI7ejafxn6NCC3zJ6K5rH7kbz6F1oGrsTjeO3o3XkXsEdaB2+Fy3Cm0yrNhGWb5Z888hP0DZ0n+AetA3/Qnz37APtQ/egRXpaTMeIeIbuh8m0Dz0g/P0xf4tkm0fuV9l4f4G24bvRMnwPmlVXq9LZ0DYknqF70a60ZeQe6bhLcK/k7hLcHeebh+9D28gd0vELtUE8Qw/G+lvVVpNvUZ1t0t0+dKdk7pSMeFSu1mW0Fm2gWk2PbG8e+aX4fiF9lXoaR++P9baPPCC/qX7ZUT/6gHx6l+oR3/AvRb9X7bgT7aM/R7va3i6edtXRbnnpbJMt7cq3Ciztyt2H9tF7JXcXOmRfpzZ0HaN3oFP5tpH70KE+6Ja/Le2UXa3Wl/Kb0a3vWkXvkr/bDTf0S3TJPx2q03i7VW/HyJ3onAF3oUvlbvm7vfA4Fnbn0N0ygu7WYSxsGsXCZkFTDouV72odw0LlW0celY13Svd9kr0bXWpHizaQXbGN96NdaevYfbL5dnSo/9rNJrW/ZfQ+dKs/Oq2t4mkXrVO2xTaJp5p2mk/UZtPboTFm+HaNn4UD96Ipd4f88kt0iN46dpfquC/uk9bxO4W/V+W70KqxbW1t1Qa4RXW1jj2MRd0BFjYPY4HaM79lEIvUngWtQ5jfMqT8CBa1DqJr/GH55i60j92GdtnZrr5vV/2tqqtTtnap3Ko+aJfeDuHNp9ZHbWpX1/CdkrlXcJ/skF3WR8O3o3X8LnQP3S27NCYl2zp+h2y/HW2S75DfOtQnbdLbPXQHmlWPjYEO9WuH/NOmPulU2q75YuVO+aBj2PjuUh33yNa70TYuvaOVfIfa3Sl9HfKp2Wb8nfJlp2w36DC82tUl6BTebO4UrUO+79IY6FC+W+3oEt3SzpHbZOtd6Ih51c9K43Yr7RRU5O6QHRUew8UwertwarP0dUpXZ6z7Tum5U3iNG8kaX8cEvlP1G1jZePcHMV1+M94pnrukswoV/THNdI5Y2WjT0km84aYg1h3bZbiKTNdkWTjJGU/cb/Jjl2Jpp/zTKXvMPx3WFvFYu7rU711x2Xyj9sqnnfJDh/q3U/jOOL0jnjud6s+OEfOX+OQvmysd8p/JdxrvgSCuT7bN5jG8wXR8bK/1yb781s4OjZtO1d8lOzvV7m7ZFY8P6ekQzuZBh9raJR6jt0t3pd23q1+n9LbbnJR8p9rQrfFr0Dl6m8b/vTAd8xVr2zW+W41P86JD47tLMaqzGrPMTsvLnjb5uU10o3WKp1362oXvFE+77GvX/GnXnOgUv0G76u2QfR3Cd2pt6DJZkxGP4YzX5le79LZLT4f4OmRLu2TaFSc6NM86JWd6O0XrUt7SdvF0SkdnrO8XMB7DtwnXpjjbId5YXmm3bGlTfOgavF9+uQftqqtNch3mL9XZKXzj2P2KCfcpTj6ATrNP/KajTWuu1dFh9sh/HfJ7t8lYu8wG6bExYfh2zfUu0brll06lMYi/XbGkXfGgK5a5VzbcLfiF4C7FtTthcu2y2+rrlB87jF+2takdOpCNEEYFOFdCU1MdWmsc/HIOUZhDiHGUXB6JMEQi7aPOK8H3yzrtKMILBpXqKFPvdxAUYOAsLRdgV5nK/wAAEABJREFUaQWKyldhOn523ngMZ2kRUWBg5SoUJ/RUywdKjfdAdKPN5jlY2WSmIFI7GYwjUtvLYYAgLMsfY/LjiHwS6qQ/AIMIp110Ad73jrfiitOP1K45j1JYlE8DZBra0Fpfg7aGbPyraXWJElgeRaR+aPR9PT3mUPZLsN+ZR5BHVM7ruLkET8fHngt0OBQoX56AAD4NQvgx3fBBTKNqS+gsvbkuA/v9YCfdoPRMA59lpBIhmhtqUFeTQsKLJFuRd3AIXRGZbA2ySR+FnudR2v488jufQkGQE+R3Polcz1OIpDv0kjrOIqCPp/HkwWwxCKRTqeqKca4MX0deKZ0zNtVnVW9adPEYXm1gVEKNxlvCeGR/o9kv27JpT3xlgXgndFP1JFNEOgJ8gT7w6CHpB0iqXb5ebXhxe4tISX9SPoZXQFIQJpNgyzEY7XlW7XkapZ2C3U8g3PY8gu1Pqp1Pwn69qJRJq0kl+PJ9TaYWjQ0NqEmoDhfCLsrmpPyUkO4ESmjIEi0NSdivKCWgvkMBnvB+DEV4XgnZ2iTqG+qRSiYqPpe8hyKoNpsOT+8E29K1sL5L6ezPi9tQgsei+APE+nQUWF9Tg4b6OqQSZbWvJPmiaGU4jbV0ksobb1n4CEnZ73ljakcenjNaETZmUvKLjS1qvHhqEzWeEmaP8JRMQnalWEAWkvXGkZRWDXTdywLTb3qkU37wXKQTkhDxax21PWE6OEGLIP6coCRwgiCu35voS0+8lk/IByn1u6UGlk8lTDaIZcxWG6dJ49F4NXqCkdpUtcf4yvDVDhtjVT6TsfaavNXjq56EIqDpNh2WGk+FbjoCGP8kj8ar0U1ukkc2G0+GQCKhuJkuIuXVQEXJFhH7LgqQkB99tYGpAJ70+IkINjYTkdJQsjoaTihmpDzG/euLJ+ElkaD6yRUkX4KNb096Jus2f88BUN9Pb7PZbOXYv7J3Sr4Mz8aVxuUULkA1n0jIFtFTGgtJzTNfaSh/BckcKJts3Biees1q/swkoTarrSgirbmXSgRKA2RkeI3GVkKvV6m6IL9DfZ5QW3zxQv3kANVbRFJz38Y/xU+9eoRSqzepun2NI9/aqzngS95ePVOyFVxZPi/JT5ANRekqgbLdtzo0JolINdjY1NyAgx3f+6rblx7PQOPek23G72ncWppQ/ZZ60oO4TtMRSndFvyf5hNrMuD0RKFsp+5JuHNloFAnpM/9YO4EIiSgEvXGYzhhE94T3WNDYjRTDyqKFgJdXHZHypVhnQr73zMaYvyxaIH5BjLPUwPAGlp8N+8Mbn9EMAviaQ/MXLURtJoWjl85HfZpx/V4qKMlM4MRTzsFpxxyLk8+9CEcs6o4ZE2zA8mVH4/VXXYqLL70Qy+fNjwNkc0sjWlsb4PtJtLU0obFWk8IBGt/wfKWeB5LwpqW+FhGSsLSKTyQSMY+VDUjGZbKSGi/JGTJVnPEbkPy1yUy354D1+B7CRAYE0KCZ0dzYiMYm+SSb0kCIhAWihI9jTjheATWJ8089FikbQHJQurEdn/j9d+DaK6/ElVe+Fm9881vx2svOVQc5JFJZvO7dN+J1170WH/vAR3DOCUfGuuzmNGAtnQ0kY/+QZg3iq8rb2tqKP/zIR/GRj30cn/7jj+OjH3iXFqbamKd6W7BgAT72sY/hD//wD/GpT30K733ve1FbW+Exjb6CAT0foQWx8hBqNVmOXdyFqy86F8u7WlCrgZsqj4PaTMIGsyZzQgFu0bLFuOjiC9Dd3Rnbh/jSIFGaSqVw1lln4XWvex0uueQSXHPNNbj22mvR1NQkKmD2+xovli5atAjz589HV1dXLHPEEUegQYu0MZJmofhVn2+BQJM1pc3BmaediDe+6fV4wxvegMsvvxx1dXXGjjITsH/s5EUan6EXT+JEOI5MSaA2NCOHt53TinlZBYGwhIxwmWAMXkTUaEPxpre9AX/yJx/Fhz/0u/jzP/9THHviUTATNBogByCRqcMb3nYjPvknf4oPf+Qj8udnsGzZMfBULzXLrPU2xm5861vw55/8BP7oIx/Cpz/9p1iyZEksj/gikn4Gb3372/CxP/0wPv5HH8Zn/stnsHjJ0phqN/NLNpvFu9/9LvzxJz6Kj3/kg/iU7Fm0cAkiLwHQi31Imn+sZg9+TRIdLa2iJUH4gOZmbV0K4pTpEexy2jjIm7DEU7AzSScd3ZkA/+VsD39xfgKndotTAdUWb6pBofTU19croElSdTe01MqvgZhYqYdWQ1YbQdXrAVTZc568UakTuiiQtOqt4E444QTYuDj66KNxzDHH4AMf+ABuvPFGVPvR2I1+/PHH48QTT4SNiZNOOikeF2RFG8l4fL3//e/HRRddhKOOOgonn3zy5Ng2HSQ1B6/ERz/6UXzoQx/CBz/4Qdxwww2KbfKTMUzA296mvtAcMbrNk2uuuQrm/wmyEuLCy1+L0y64Cue85nU47txzcPLpZ6GpoVbthHxMOD/E73zkD/Dxv/0UPvb3H8JH/u4P8NobL0eyHqCnTZU2s+maLN4jey+97mJcdO0leM2VF+GUs85AQ1MjEGsi1FlxO80XNg9qNVctbW5uRvXy1CdnnHEGzI/ml+OOOy6eO21tbVWWODUdjRa7JsDaZGMrJurmK15Bi3CkPguYhPW1phoS5Szqk8Dxy1pRZxtRyi44MB7nRFd7E/7lr96LL/y3a/DP/+31+Ne/fQO+8LdvwZtedzWINKgNdltHG+prG1DTkEFDNqVNbqgaiUiq/EyjHkoi+a0srR7CuP4EIqdx6yC8Ex5wZpuNubqsuUX2OXiiQ2PXEgMPESD7ahoa0ZBJxrJNjXXobGtF2icI46J4ItE8wBO/5ofzQmV96XXwKDukg6q/Tn62zTccQZsH8jUd4vEvFjQ1NeOscy/BBa+5EC3dCxEpjkUyys/WoUttrtM8BH0zXpY56YjgkBA44ZQ3ZbJKBJXTyNQkACvHEAgdAZaP+fBrvZzaVAqIEzX/atJpBEEZIOUHdT5lZKc667mnnsSKDTsV2Jbj6te+FosXHYc3XH0tzjvtJDQ31KOxsQUnHXcK/vRPPoEP/OEnccbJJ+J9734nrrv6tUiaM6B2OTVWqQVDJbBg78mRkXbMllYHoeVDnVBYanykrEiYQ+Rw6TL8XDKGM52zZaw+kjC6yU6vx3CHImN8Vb0mP12mmo/rATUoSupY4rjTz8dn//UmfOXz/4LrLr0EvgaZU/eH6sSs56NYlKMV9GO8ucbPYs+m5/C9734H3/7u9/GT2+6C04mEWo1yMY/v/ewXuOItv4tu14Nnnn8prgMHuMhKm0lOcln7zc6PfeyjGNy9Bf/22b/GZ//X36NO/XfRRRdP8mW10HxEi9nWrVvxT//0f/DP//yPOProI3HxxReCsh8I1U6HSIMnoo+kNjEf+PCH8b/+9//GH33yk/jXz/0r3vXudyOlBdS3hdclUJvK4HduuBF/+zf/A3/8yT/G3//93+O6665BUjzVipcvXw7z9a5du/DCCy9gdHQUmzZtijcDVZ7pqfFt27YNpVIJPT09cfDzNUYmeZwPp0CiEYQLT12Gk49eiltvvQ233HIL7FeiXquxbPxkBNstpxSkkn4SilaANjll5csKGJoGSHcsgsukECWIQONRewnIAzju5FNxzevejFu/9RU8fOtX8eAD9+Njn/gTNDU0gZGTHuKY40/EmaefjB9//V9w27c+hyce/gX+7M8/o4WpHuZOJ02nnHwGTjnlLNz3y4dx1713Y9O2NXj3e38HvmwAfPkdOO/883HGSafhtsd+iV/ceQ+2btqCG99xg2hUPYjTq6++GkcduVx1/TPu+Pa/YN3aNXj7775DGjyoGtjlid1M85JpXP/GG3H5ZRejtUm2pFNoqq3HW7X4pZVPZnz4no9UqgbpbBoXXnKRFvU07HIgavwIx7cFOOeIdhx/wiloaG5AMhGBXqSqmvABLa4KD+joWoT/9nd/jfbWRmRMr5eUdAK1da3a+F6JVCqJpGxRN4BaXKwLPTlGH0CcDh7sqqmpgS1utoG18rp162A4klaMIZ1Oorm5Eeeddw66ujoUnBu00ZwaZzZ/bZNsC+iZZ56JefPmxYur+c3mBzRHnYL8rl07sXLly7DNrOk56aQT8M533oiMxoDxGNTUZLTJOALHHXdMnL7uddfj937vveLJxLZQdlOnTR0XL8S8y5eipW0x5h95It71+x9FVn62kBjK9hHWYCRVh/ZFC9C8eCHOvPwyXH7tNYAc4hgi8j1s7NmI0y9bhIveNB8Xv2UZTjznKFx59fWAPA3ZLDWanxfHYBuoSy+9FKeccgpsU0BSfABJ5PP5uL3mQ9sMWDw4Xpuq5MQ89OX8T3/6U/iHf/jfMfyf//NZfOQjfwjzK9UhTptuzwxHXKta6LSoFtBWU0RSG54FrUm89twutDZ64lC9klEGcJRfHI7p3IyasRew+umnUBxagWWNz2Bxexo2ns4640xt3l8ju8/E297zXpwovzZkM/HY8NIZnH7exTjp+KMUVyL49JHOZOBrfvrJDBIaV3Ap0TzZpA1GUwve9TtvRVoPHn4iiYT4qFqgS6bAzLLY8PZ3/S6OWjQPEdN405vehIvOPxO19Y2qMwk/6UlfCvAh+YTqS6G+vgVnnXkcMimqTb7wgNly5TVX48hFi0H92Hw2/doDqJ4ItXVpbRJPw9D2FzC05Rm87rUXYbEebrzIx6lnXoA3Xn+tYtwCeIpV5ufTzj4b7Q218BNpZNJJVZ5BUqksgUv4aFDbLnvNWTD7fcUiO11StYBuNl7wa7/Ux6kEyAhpbdwcqLZHsle7rlCTfagMdHR2Ydn8ZuzZ3Qfn+2jqbMSePVuxeu1qjAzltGQktatIYvOmdXjyuTVYsmg+hgf6seKlF+F0rAMpdZ6nhAi1AYAuS21BIBkvDKQqFt5pAPqqo0qzsvGKFMtW8dXU8MazP5kgCIwF5L71eLKpqsd0VOuZLWN8psR4yCk9VjZ5o1VlQqZgLXn2ySdxyw9/jNvvuBu33fsgSnRaWH3UaEEdHRzGkmWL0VvykKnPAnqCUiwQj3RL2MFDBB822CyfTtXjd9/8Rjx6960YbV6KM84+GaSzavcLZpfZbel0JnuyOEKLcd+ap/Dx8+pw1ZIyHrzrp1i6cDE8tc14m5qaYAHENglXXXUV3qAn79tuu02bxGVGRiQ+hxQoCz2Nk5T8mM0m8dxzz2JwcABbt26Ln7roEXYMWfZ8eJqog0O9eOzxh7Bx4wbs2LEDLS0tSGjQx0rV76VyCWvXrMZzzz4Ns50kzJZisRizTL9ZXx177LGwp0CSChY+2tvbtfDWonoREeJv4XoOHQ1FPHr/bSiXtftXXS88/xyef/bJuA1UGYkmnHTuBTjvNSdpQ5OCYwrzakK89fwlOO7Yk7FmW4jFC5bhhrOXYVFrAnBpnQaVcOSRR+H73/m2eHM475gabJ5xVZsAABAASURBVF7/LIqFYbSqbZB2qJtOOu4orHryXpx3ZD2uPqUFXq4Hba11aGppNjJ8+jj7nNPxwtoncMJF3TjushbUNPtoaq5HfV2TAg2R1AbmkssuxQtbHsPuM3ah67X1iNLjqK+vVfDNwK5EIgEL+LffditOXJzBWUfU4b6770RWr2RqUgmxaHDpbs2lpzEm2wYHh9C3uweJZDOuufIynHnueUj4kRbjk/HaK1+HU045GddddZkWwhNxyWWXYb4WXjUe1rRCSDw/AKwK5+EDf/ZZfOmLX8CFl14jsvkvQC6Xx+mnnoOFCp47d/fimKOPwxWXXYzzzj0Nx590Ki648Fw0NjTh0kuuwpV6Om5ra8Zxx5yAy6+4LB4bsMsiOjzLaVxtxU9+8hM8qbm1Z88evPzyy/jBD36AsbGxmF69DQ4OYv369fAVR1avXo21a9fG45kkSMa0e++9Fz/72c9ikZUrV2LNmjXxmDMESUvier7zne/gqaeewuc//3k88MAD2tCkYprdbAwODAzAxmdCvt+5syfui4w2Bka3+OD0EFQaGUHflq3YsnklnnrycaxctRoJ+V9uVsuSKIateHlVDt/5xztx749fwDdvvheDAyHU60AkW6IkXJRAORrDnqG1GC6th/X91h09Vg3ECCiGWFttztrGecuWLSgUCnHbSelA5ers7IQVV698SeMOsjcN22xV45fFlYaGhnjjbU+M5kPbmF155ZWxAoIas55AOW2m2rMO5x3bjWMWt+F1Z8yDvQb795+9jJ5BxvwyrJKqSK0UJfWn13wOrv/9z+PIs/4A5SCpGAEkk3Vob2nCj3/wfTz+2DOKhSnUN7ais30h3qiTxSuvuhqNjQ045bQzcfV1V+up9mRcduEFuFiL+sJFS3D1Ndeiq2Mprr/+tTjr9Etw4YUXqW1EfV0jLrzoEsWJ4+TzlKyHIJL9Thkir3jQs307yl4NQvmwLJ8tOepEvOWtb8HvvO0tuOzKq3DK0cvxujffgCuvuAYX6VXxpZecG29Ck4ppJ+oBwGlNW7dxE5KhdKp9UK9at9mDRKA19IiTj8RYOgdPrweb67LYuWMnTjr1FCT1MBYiC6dXx36iRjpfg9NPO1Vz8EKccvzRuOraK3GpTrsuuOxaXP/612kzcTlOP/M8nH3emWjJ1OjhrlZtuwgnn3SSNmheHCfUKPz6rwg92zdhk8bUS6vWqM+iuAqPiiRUg198/jksP0kNCnJ4Yf0GbN25F/M7snj2heewNxehd892bBWs374Gzz25EltXv4RHnnkeW3tH0Na9ADbooIVEr9UQyZmRJo2BTSBLDSxvE87yBjZgLZ2Os7LxWWpg+en0A8lU+WbLVPHV1PQaTOezfFW30aq81dRwBsZnOIQBnHbbUXkUd932A9z8nR9gKF9G5HxoZML+o9m3vvVdPKUF9Wvf+g4Gh0vykXZiYRk1LQtxmQLxlVoMLjnrBIyHaXjUgI6KuP+u2/Dd7/4Y//aPN2HNlkHVwbijqIFdycXFyRtJ8bg48JEVDudcHDgCdcZAVItfbA3x6PYQLV1LMTjYD6cfU2BBz4LD8PAwnnjiKQXJZ7BgwSL09w+KXBmMjJSqBI0RJxgeHsWzzz6L1Vrkt23fhlw+B9B4ZD88bSKBXGEc6xS8X3jheenqg/nLaV5BV1Imnn/mMfjvH78R733j+bJzDPffd1/cBgv6Ypnx2a6J/fzzz+PFF1/Exo0bce6558KeKi2gkVI2we3J74Eem3/58ii2D8knNv4Yos4nTl8CtCTLgNjDch6bpOfl1WsxXsjFE87znRZPD4lEGogAekQiJWbpswCgk0fktEDNm9+NvOrx9fqioa4VaS0SY+PjiMQv12B4aBBBuhmPrO7FU+sHsXsYKJQCLW7DqjqhNkbyRz+yqQxG5PN6vaYrjYUo5ovI5cbMxQhk9+6BPcgksuCog1+XhBsvyKfleJHCxDWuets7ulBQxVEqgc55yxTwA03sQHWZsyOocaDa4GusPvvYvUi2LMNFejJZunwR6jIJJNRfy447GZ0dtVi8dDlye7ZhrRbbLbv6MNjXK3sIX1FwV8HDPzxB/OvDAxguRFqI67Fr13a5KkJK71l39faic9GxmNeYxu7BIhYuWYD1zz+LmsY2dMzvxKYVq5FnAmeefSbaWhrhqS+2b9qCjRu2oH9gCGoCQCe7ZTMQL/odHR1o1esyG5sLFy7EIr12Iilq5eP7SY3lYezcuQuXXXaFXk9cJv+UKsSJu80DO4UyX9l8szFjC2qFrDFLX1kthDIglyvg0ksv1ynVSRqTJXCCBvnIwHSRhL3eaGlt1lFsEPenFAAEXDHE2Cpg4IVh/NEn/ggXXPAabQooHo0BjUEPJaR0+lIKPCQb2nHjm27AwiNO06KZjscPobGnd9G+5yE3HqGkh56m7AIs0OLpmZkuKRdFii+VzY8t+Jdccon6vISnn34atmGw+ARdlj744IN49uknsYQ9GNv4OB558H709myL5aHL5qPNyxFtbIrFAur1yiidTscnEE7+EAtCtdePfCj0IJsIsX3vCJ5Y04/7XtqO5zYOYbQAlF01mpgE5ApzBtRuH4lkCt16VVhX12wIkBGcxpOnsV2rE6tEOglfo6ixuRUN2RoM9O3C0NAo6oRfv2490rWNWLakEytXrEC6oQsnn3EKjlmyBK0NjRgdGcK8I+ZjozZihTDC+Mgg1q1ai1Ub1yEKHOyyO0HVbSWoJz2AJQwN7sFTTz8LaAHeuWENytpkbpCe1q4lqMkQ69a+hNpsPXZt34pd/TlcfsnFCIo5BH4eTrMmQig9kTQTztqknB8lMNI9ikdOfwJNf3Aiak45C1t27MGWtRuQSKRg3117+cXnsXn3IE7Uic7g3s3YubdH60IRJ5x0PJobatCi1xGbX16PrhNPQFdLPVY8+7LGYgEjo0OaKxuxdt1mlNRWRwfPOgW/3kut0Xwvo79vAIVyAE9zQDXBAz34ToNyfAj2FPnIY09oIIV4Wrv4235+K9Zpw3Db7XfhmWefwU4d9W7ZtgUvvPgSNmxcr6fE7bjrjttxv45OyyFlMeErKOH/hUuTo9JMh0iBMlRwj9R58YgkNaE1RPUa4ZFHHkNegTXS4gJNiPzYHnzrm9/GY08+jcefega/uO8B3P/wk1ocPAR6wt4kv0bqj9zYCHbumniCUEWeZKn0UD/21PXvX/13vPP3/gDHnPM6vPm9H8EN73o3dvTslr2yTYosAN96662wVw4WcCyQvuUtb4E9pYisDxHpXam1K4LTDryA/t69aG5sjgdpXU0t9vTsQqiFEHrV4MsH+bCIXTqJChQMnaopFIrxE51twEgi9JJYlBnHCR39uPGiBfj/PnAVjjpiOSxAWXBTpTM+hrPXDGU9CSQSiTiYtbS0oLa2FnYKETPHfocsdFosF+l49lpksrVIaSE59vhTUN9xBAphCowA3+UxsGsbBvfkJZBC5BW0mHv40QMb8fKLz+D4BSls3roBP3pwI3b1ltTOQMGBeOLph3GaXq9dcM0H0YvT8P6Pfhqjw+PaAIygcjEO1qfqCeiNv/shLD/rWrz/I5/CRj15FLSgw5whfzxwzy9x/PIzMb/2FER983H+OZfqFcqeeCMFeHDy4S3f/67sOBNvqH0j5u89Elde+kYt2v2whcrqMl9av1166VVYfMrb4M+/FH/2x3+Ckd5hjSM10piqIN9QQeyk407TCBrD43bCY3+meagfqzdswgtaSPYMDSnArka2Y55OKI7G+rWr0dY+T/7xYy2K6yhosdg7MIJ/+/y/4eavfx3ve9/70N7WgsiVdbK4Eb+8/3EFsdXYsuJ5PP7cCpxyzkXYuXmd2r8Bx5xwDGxjdvdddylAj6FU1oIqn2zYsHGyTXFFE7djjz0W9h2VJUuWxBhL7fsr1v8xQjdbFBcvXhwv1l/60pdiPb6CvUhx3nxlR+4ma4vhzTffHI8xksYSg40tmyd2JG/5z33uc3FQjonTbj2KexktKAU9fdppg3UlaXoM5CYh8uOjaNLCFyq4fud7P4A9KGXTCWlxGkPQ3IkwuHk1OljA0MgofnjLbUjY98H00ED1DDXnoyAEwwR6N4fY/LTDtpecNgnHY+G8pdJDOEYxqBC3+7HHHtNTdyPIih2GNyAJmzNhYQxd6TJObgtR1ANDpPElkrEICGuz+aezsxtJvYawU5unnnpaNMD63CYMtSDSA047oRNnnHoK3vzac/G+q47HVZdcgI++6XQc20EQTjIUQLlIoHEjoZHhndi65hns2vEiQtZKnY+wPIaXdaJz+eXX4dhjl2Hj6lXYsmUzRvLEkUcdiZp0iPVr1qK1cz526cT62RXrdOx/Bnq2rMOQHlA2bdog/w1p7dmN555/Bsccc6QW9c0IFYN3qZ9Gxgqq3+yB7KpYpgw8zavI93QqGGgTVsRZ516IqDiG3b192Lh+E4ZGx9CjU7B6xbaTTjxZp4+PYbRYE4+Hk087Ebu0GSWJhMB5PqB55dRnliZszRO+NFpGk6vDc7ln8PSKF7XhKqJ+Xh2CsIjx/p1YeOTx8uNReOzpJ9DQ3Imdig21TU147unnMDia03xZjX6djq18aS127d6Jc846A7sGhoEQ2KZXwnZiB/UhdLmJjZyyv7ZP5CVw9FmX4G16XfyON16Nhe31sPZ5kbNBHCKhye7JvaF2Dxo92uEZ3kwiKvYQpPIAnMBT3kMkk/XkonyEBDwxJmIchP91g+xRzRqvc+iu0iz9ddd76PqogQO1X2aab+GziLHxEQWtCBCNAPwwj8J4GeOjIxgdHcb4+BiKWkhFAjTorH0WMGj9IkVeDCKp7AQxH1hJpt2NZmAoUv0k3ocffghf+OJNCLwGrN20HX/5l5/G8ccdD3sVYbwWPO+8805YkPUVYO249pOf/CTsackWbTpPrfFVuS+f+yhqM3DrT2/FC1oItu7cgu/98Hv48c9uQTkqQV2PlE6QQm101ujJ8eWXnsMqPZX+5Cc/hZ1S2CJvtkVabL77wAo83qOnzr5x+OURHHv0UbATg6GhIWOZAWSlrVV79+7dqwCxA/39/TP4qgU7UjZdb9Zm54Yb3opFy5fjB3c+jtESZKOHgKk4dQq4pjkRefARmOtBBdLC6Bb4pZKCjpNKp3nhELos+ncN4i/+/P/DMwpqBT+NL3zpn/D4Y4/j9DNOF1/ls2dPL/7u7/5eQXAj8kEaX/zSTdikhfDMs85GpCfESIFz70Av/uf//lusX7tKG5VB/MNn/wWjI+M455xzQarfFHDsf3r8r3/8n9i6ZSN69uzGX/3Nf0d+PI+TTz65UpHuG3Ua8nd/99+wuW83do3l8Td//RcYzY9h2dIj4NRrUI8BBKwUBXjs0Ydx+89+ih09O3Hb7T/HAw8/iAcefBRr9JR2yy0/09H4KvzgjrvwzDNP4aH779EGYrNkfYGDc55SD6Oj47hDPD//+e3gKsIKAAAQAElEQVRYo5OYpYuXANpEPv/s89jVsx7rN2/DIw/cq6PvDfjujys6N65fh9tu+4k2EffjiSef0NH/3ei3wCeN9rF+tXQ67N69G0/p6N82AraQ3X777XjhhRfiDWKVz15B2GZpvp5Ua7VhtNcITQq4NqarPM899xxIYunSpbANhi32Ldpgmk7jsbo3bdpkWdhphY15G1f2Osv0kIxpDz/8sPzyDMbGxmEnEwa2Aanqoeb2Sy88hRoU0FKbwkj/HmxdvxIZRXe6SOPLIXLA43f+BNy9Aa3yWd/OrcjtXIcwKKqHVI0XaWEvyvf3odAH9K6L8PyDG/DT792qp9oMwLDCB8RtMvtsM/+iTtiqdmDisnZZNi8Lfra2gI1jNUhJ3mJ7lWbyf6Nx9dGPfhyf/OSf4O///n9i/fqN6muThMIVFc9ltNrgBx627R3Vq5KNeGHNRry4qR/PrlyFlUoHc1HFLlfxlUmUyh72jB8Nr3Yeenc8g/HBIQzjFOweCeF7JWzctB63/OQOvPD8k3j4nvvw9DPPoKd/Lx7TA+oD99yNl+XLH/34Fjz82LPYunkzbvnZrXhRMeX+e+7ETxV/du7egjVrNmhx34Bbb/0x7r3nIT2plwH5ms5HvMEB4jaYWdQGYu2qlWhoawN0knj/L+7HzzSGn3/yYazbtAVPPvYkdvX1xqej63SC8fOf/hTr9LD2I9vIpWvUJ3dgWIu4PVlnUx72Dg7DxYp9eNrU2YOUU9099+1B5ls1OGPXeTh+6Ykar1m89NRKnRSOY8O6FxQvb8EjDz+A53XK9tQzL+B5PYg//Nij+MWd9+IO+eGZxx7A9l27cPfP78GzOoG+9ec/wWPPvKCZXNlsOmfeReViVEl/nXdtpAaGR3DeJZdhXnujXnnl9VBVhhcoIHrqXw8ORCSDCE8D1tPAh0Y2SWRSKWTTyRhqlBpkUglklDdIp4xWKae1e04L/5uBFNLpKqSRyaTjcjX9zdSZVB2HBjWyLSNfpDM+Elp0ffnUJrePMih/mk+TCrhOYcNHqG2VJo0WqKTOs41X64j4IoETTKTSYbIWCAww6yKpAevUZ94kpTqYbExZ8PzWt7+Be+64A9s2bcS3v/lNbUzGZ/CuWrUK3/72t3H33XdrV78F39H72ZLGBTUepFxjQvZLfTHZgnFXi5fX7sQ3vvtzrFzfg5LKYaIRYFKbEQ9FL4UyPQz0KZA88xx2794jFU7tYZz6URlbtu7G//6nW/HpLzyE//rVJ/HT2+/EZgUDs9sAukjqrnnvXJySjDcG9j7W3lXbImmLREycdrPg94yCzo9//CP85Jaf4ic/+zFGtSmz0xC6EGltZCxwBzo+LXnqBa8OxWQ9Qr8B/V4tfvxoH3ryGYTJDPKpBgR+Gk4dE6mO0fFx3HXnT/Hdr38D61Zswc9+eiee0WQmK7aKJT4Cv/222/E9+Xzdqhfl72/guedeAMTiGCIU9GqD85Of/lyvlX6op6B1+Na3voWXXn4RkL8t9oTS19fTi1t/dBtu+c6t2L55J779ve9gw4YN4gHMRwZ79eTz8x/+BLd+/wfYtn0vvvWj7+uIdMskD6xS6FJAoeqllDuNOsgPlFs9bdgiL0RCR6W2afIjT6MN8BVlQyZABT7Do6oHlbrtifprX/sannvheTgFYF92I9JxudLI+ZIP4am+EtOwU0oykIaEpENxKKH0KLEPqYJlJoCkNhlr47FYHRNWn21mp7+OihTQ7Jj9iSeeiMeObXBtYzGs1zgTqmA+MrqNB9sMGM/zenVl+CqP6TF8lWfdunXqr+eQy+ViecBDsVjEj370I/zTP/0zvvCFL+Jzn/s8vv71b8abhqoe+2dEd956C1565jFsWPkc1rz4LO6/53Y9teZgrfakJyyO4+G7b8e6Zx/GhucexcuP3o+ntHkLQ8Z+obxfKo7g7jtu0xP2Gm3gXsBDv7wH3/3OV1WNkw89gbicU7nyMdsquak7ybhgvh+LavDU9jyK6muneenLmpio29DQEHr1qsg2T+anm266aTI2WE1OemyORJJ5dmMZq7fvxrotfbj/5R7s3jWEe57booV/yhaLU9azu/YO4hOf+Tr+6K9/gk/81bfx8b/6AT7wF9/DD35yj8gO1PhzjnGbfbUZyg+P7sHK1etklY2TMsQFyF4qB+cAtTwREaHGq/NsNnqwWFIhJ+BobTarjWZ5VC7pcHB4WqcuG7Zsg3Y+cASM3XQ70T3A0IgUm355/wM6dXTqLYeyT2xevxqPP7NSDwqqW+vh4w89iN3aJEhEn0h8BBTTlUEQlrBzbQ+e+OrjePSeR7FKG6lCrhjzQXHeVzsi+qorEs4XEGabr3kWySBPqc03H6aTiDRvnNYKZ2Vxxx+rK878+m+qEbvWvYC/+PSn8G/fuAUFrQFWv1fpWLXTjFcw9BmCchxAeHGZ8W53bGxYk2I2jGJU72rHx4aQGx2K6aM6dhsX768fRmSRQ0I2JRTcE0p92ZxQPpvJaDKOYVxH9L/+eoel99BgTMdhOfmiqGO+ZNIGu3W2QzKCJoYHaLJBwyLybeBY2dP4F1jLaEPBACpNAXRJi/ikRLIkdXfCVj4W5AzmWjCNw0lbxLKqVc6lMKinoVK5DFJ6NGiNZzaM6D2l6YQGtqcn70Dv45z83bzsDNQfeRZqjzgf6aXnxGnNEecpPQ++ryd0PSWkIrVNKUHZPFszEGrBCrShGFIQ3twziB49NQalQLwuZiYZj7u5gp9tAPr6+uKnuekLhrV9euC3fCGXRy5f1sR1CiYRVLPq9gQ2LVWMkkgFo0B+G+qXnYu65eegRu1KLL4I2SPOQXbZJcJdgGx9M/zyMMI4MKlVkosIlH0g0FNgTseUFV9J58THWmLfbQpUtneIOfmcCkC+/G3vEp0F7Mj63yFSwCyVC3pKH4l9QPkNCgSRgmHol2RviEj9UCjkNb/GpHHqY3ZIpXQkEQpdHM8jb79No7yvTar5RVl9Ijj53XRH8FVDJLD6EY9Lp7aZXR7tFUxSQYyI1A+gaXWARUDd7UPSErU9QKCgKc647Dz1u7RWylROdVidah9UgjYnzpNH6OKSEsx1OTWorPFpYH61svFZW6xs+SrYeLANxHQgVbegymMytuG18WR8llZ1Vnnm0mNyMd3p7qin/BLGtUkcH8/FqZ0kTNfj5KOCTqLy+RzK6iura1x9EUk2SoiqVKM8PvbPFwKUCrn4KLtcLEiSqsTAV6qxpVcWJl8q5lHSBqVYKGn+ima2xD0dsx30lhCv3KmNvKexFaqvI0SqbUpQdWqsIQaikC/C2k0KTweneek7xBI2dqmNoLN+FCZiAq7Sk1LnZB81JspxPtJGcSQ3ipGRIoZ1yjWq8W9pqBNTp7q8WDKE6YDyNjahzWY5DBBavRqjUgQdc4scqTaNGyeMxpPTCwPHstrjwbNFVfKRSE4yEpVF8pXuTv6G6opEszHpRZE4fQT0lAYTvvCVFwOiiRih+oslhIbS61No7AaKfZE20fF8kF4KF9EXh4OUoKxXRGXzhSN80eiccKV4Y2njI/AIxLaFcC6p9khOdumOiPJxbIGTZqOnRLfaI7XNj+lUG6F2U3qlKP443R2sZcr8Wj+EBgDGBvuRU/z0VXco2+MmYMJQq8/zfHhaECjDzC6qIWW9NytrsJaKkY6cSygVQoSlIsoa4KViAPt3tWUNqIKCXbkYIhJvQbsq+9JWXu/dyuW8JllRIFntTmzSvhqwyRyF0q/B5IIyQqXqezmf0l2poxzbVZJtAgWbUqksWklQRFlH4aW4/gLKMd5kRJd9RSvH9CIsb/SydNmCWhLNBkNJslM6JCd8UT4oqr1FDa6i5MuqMxCo12G+IwIEWhQt4MMGhw0oBUtHF3sdmgIGVIeY/2eDA4Wyu/FruGsyFeMglFOQOTgUFYyK+YIWj1wMBSsL8vnxWH52avQq5NWugt4h5ga3ofeZH2PwxVsx+MLPMPzCTzEksHTkxUp55KWfArk+jY0y7PVJXgGuOBeU8rAgmi/ntFMtoKRJWBBM5y2VCloQR9RnoitfpRneoFwuTtIsb20wnirNcGUt4GUbj+Itq1+CCSho/JTVP5H0BtrM9T/7c4yuuANDq27H+Mt3Kn+b4E6Mr/wZxlbeiuGVd4L5XkQ23jSWA80FgzAsINAYD1W2cRiIblAplxGqn8IwQih8qA1CtRzFY7akuVgUT1FjN4TJR3olEEkmUuoEkQa2U8x1kUOkseEmaJFSp2BUgUBjKBSUFTLKsDEUKWc0KA1kr+UtWLlIYweBeMSvgBaKbrTIQqLVIRrijUslSNHw0owYLCBVwGQg2Rhkhw1PF/M4jdMItr44zyl1GtkOqlDgwdNTkdDCR3GZ2gTF80PzINZV1TmRVmmvNK3qmi5nuOnlV5SXnWCkmCizZavJIm6v2jFhKyZSa7sxGg8lQ+P3JGuBVDKeyoiBIAB1g/wCQaBSVZ+yMI9G8T3uO9MvfbGska08C6xfZkNJAR7G56TLSVD9NZPHxk8FIhdonAk0vmw8hhqDZY3bSLaXNRbKGoyh5EPxudAhmEhD8UfiDcRbVLy0fKg5YbKGc1pEI825UBBo7AeihZZGJbiJ1Mqhxmo4wRPanBHYP3UKNcfKmkeByQkXal6HgepXanPc8IHe+QeSD2JcBEuDoKDFuqC8QUn5EkqKB+FEHCgpLlhMKMvmgvKlII+S4nlJa0GgGFUQX1QaQ1FpUbGiLJxBUfG+pHxRMmVtAnN6nRwonhZLORS0FpbzIUr5kmJbPoaSYnUcm7Q+FErjsDWzIH1F6Sgr7pUUY3OSLRUKis+SUcwsSCZfUHzWpi2vfEH6LZ5aWtBpVBzTxR+XRZueWiysgOyZRZvOt998XP84zO5xa6vs8DR0Jj9OA4KkygZKNExtYFK7t0XHnoATl3cjla7FCScvB+MZbzzi1Wh3NiCVpQ0kenr3HgkTVSZDfBfR2F81mDxlkYBEJKBK0ASIQXWk0tn4V6oyOllwAKw9SvRRSeKVsjKS87QZampuBFkpE9Triwxa9c7SfjWI2i1aEwHCeD2ltbV1yGRrVPYg7dKv9tEDSYFQCgCqSSQKfEFCyJRoZRzRVIO2DLTbDJC2mAACNvFlC3Q56VEyx0d8MY+L75EWjyAINPgPFcrTeEtatEpx2SakgemzdH8QaSJHmqTQJIw0USNN5DDGBbDUwFmgUD+EWmwCy8f0UPT9g+lxCi6RZCLJRmrXbAjjukIY3vrO0kMHkzOIEE7od6rP9CAuB4jkUU/BChbwBJDtTqlTGskep9QgtPFtdgoXaXw75SHQdFEiLdKnzlbfOTghK1DBO9GiGFzMa/kKr7FrBE/yO8mazFRa4YuMUVD9GH1fqFKhVk3lp+fcRMH0GTiQFCAGu5FUwQHySwWUjT+GizMzbvaEQVKiVaiSq/yEiAC8GKin0EqeKk99SIptJkxRsQ+NnMlL/qbL96SZdQAAEABJREFUM23w1HBydp3QVW03oJ5F9aJldNNnAj/FZyTzNUmQFbDyvlDpswr/vneyIktOpYjHgsntyz+FMVvmAkyMR8kbeXJMWMHAxmoFYlJ8E14fxPVaRnThI80ZCJzNA5WdxnwkHqf55AwXz6WoUp9VV+UVn9HDidTmjpWd8ZseQWQ64nkaaX7ZfFftsbxDJLzFmTiOWF7gFMtMxnQZ3Um3lSubHemQPisbzdKYLhudZKMJWqj4FlpsEi60upRW+FW/NlORcMbrxB/zTfIHiomRwNJQqYHKJi99kaVVGcWqSDizq6LDeA2my1p5Jli9Ff4gjvOvbK0wGVsvDELYpi6U7TZ7p8aLck5Oc3YcqtQWMStDm4RlJ5yON772YnS0zMNZF5wF+8LQgkXL0NhQj8VLlqKrqxXLFy9HbSqB+vYOHH3EkUjpiVkbaUDHT1L9K34oPYSfTKJr3nzMX7QI87pbNbE0qkSCJm5TS2u8GyxrEU2lU7AvNCUSCdTV1SHhJ1SuQ0ryVs7UZNHR3onaGi36ADzfQ3tHZ3yUmM1mkc1mVFci/tZvW1sbWrShqK+v10Bm/CUokzMe0pP+euEo+6RIA1drijIOFihSGjCnLvfxx29ehI+/fjnqGyK9s0+JTtBBPPbkZqIeDv2S4KEzz8lJqv5pMCfTQZBkRcdsNrKCJw+czpabXSan5GfTZpfJCu9s/P7KJPchkQS5L+zDKAQ5k0+oOT/kTD6S++XzPA8GJCftmIuZnKKTlfxcfFUcWeEhZ6ZV+v5SciY/ObO8P7npeNJkoPYYWN7A8gaWPzjgP+FFHtxu8uA8czWNPLgcyblEZ+BIyu8zYQbDHAVyJj/JObgqKJKx/kpp/3eywkdW0tmcZAVPzp3O5j/UMjlT3/7kyCm+2TyV9W8KS07xkpwiTMuRnPQLWcmTB0+rKkhWs684JRnXTfIVy+5PYI6ViaoEAsKuSl1a7nQ08siza3D80cci4SVw8hkX4nfe+lacc8EVuPrSi/HeD74PZ55+Ni65+Dzc+PYbcc2b3oCujjapqOhR5lf/SFWo3VWznvbPO/88NDY1SaeQuttncGAQdVrIGxobsGzZMnTP60a98gsXLkJXZye6u7pg34CurdXGwPORyqTRqQ1NRicPZCVA2/FPSUdQDQ2NaFI9piOjDYcvT5FEW2cXurq70NbWjM7ODqWdsF+hshMID2aLgRZxHa9S73jPOa4ZF50yD1+8Yz2eWt2Lt563CO112tiIJVKdkU4spFYnDGUc7DLNZHw/GOsB6aTpqLDYJDColA79Tk7pmC1l+uaC2Xyzy2RFJ0mQnE2es0zykHjJQ+Obs5JZSJKzMDOLJGObSM4kzFEiGfMaqeozy88GssJHcjZpnzLJWCdZSfdhmANBVnjJqXQOtjlR5JQMOTNfEbCNsD2lBNpkG8aDDNRnJi9J/KoXyTn1kgfH/6p1vxp5cl+7DlUPua8syQOKk5z0zwEZpxHJA8uQU3RyKj9NxYwsWeGZgXyVBbKii+RBNZCHxkMenO9AlR1oHhutoaEh/o0b+60bWzvS6bTmhRaEaUpJxv00DXVIWdNfZSRZzf5KqWbrlHxcgU4QnN5BKdHjrcj2Hl3vKyno3bERTcsWYWH7PLQ1+di0dSvEgZUvvYzB4SGsWrUOjfW1GBsdwbdv/jb6+voByXvS96ubq4XVntJ19LN65Qrc/vOfY/WajdDpkRqgTYwyvufFXwCzP7Zjxyw7e3rik4NR2eOJls/nEeh9dFBWwFJqX84YHx9DOpWC8Zf1/sxOGRrVibZRSAmfSWf0jr2gd0lFRHJKBNWl466RoaFYl6cNU29vH+yPFEFHaDJGH7VWfU7x5koJ3HTbZqzYCdy6sh9Prx1Au5eCfX3GeUksWH4kjj/2OCxobxa3hCT9m/qQskjwavWTFXmSh6yCJMgKHIoQyZiNrKRxYdaN5EF1klM8JCc1VDMkJ3WQlXyVNj0lKzRyKn0l9FfDS07VRVby0/VMz5MVOjmVTqdX8+QUndw3X+WbnpL78pH74qbLTM9bPLFN/dDQMLZu3YmN67di06Yd2LtnCPnxEuxo1PjJis7pebKCI19ZajpeLZCvrC7y1fEfzD7y0PTuTw95YPmqHHlofFV+S8m5ZYw2G8h9eafzkDPp02nT82SFz2I4WclPp1fzZIVGsoraJyU5Oe/3IU5DkL9evqpq3/dh/4vkjjvugP3Gjv2Fz9/5nd+BnXiTWlu0xlR5LSVpyasGkofU3gNVYGv8JJ2UQh3bx1+wAVE5D6dyEV544lFs6R/Ez2/5AW7+2tfx4GPPwH4X/tknH8DK9Rtx2y23YsvWjbj/kSdx/733YH5XN5iqiXXECyt+tUumScGEJi3S9o1x86cNHGjjQFKvlEvw9VrB/ijIzp07kUokYb8SNTo6ir17e+NfoRseGUEQOogdu3t2Y0Cbm9GxnHQ77Nm1C57vw+QHBwcwMjKKXbt64g1QoDqHBgfRt2cX9vbuxVguj77+fvT17UGg9/WJRMq2MLEe3QB6iFwKz23aixFtFIRAMsjg+W05rB3Oxbz2xaYF3fNw4zvfgXRNLX4TF6n+m4BfRT/JQxYnKf9W4GBCZIWP5AxWW2CmI0geVCd56DzTdc/Ok7+6HnJKB1nJz67HymSFRk6lhp8LyCkespL/VfiqsmRFF6lU21fSh7IiuwlQEn8sXFA5ii4aLVtJHSRjspbSIQqInp098a8zbtu+XfNwDKVyUpuDtObXCDZt2iPaNmzaOIht2wY0pwYxnhvVXKqcNpBUHZ4gEiAGi0fUvLJ54zGEOECVQQCyGcpT+Sp4Zk+MI8jfDuAQLvLQbDmYKnL/eg4kS86U2x8vOZOP5P5Y9/Hv/hhJTvLO5iGnaGQlP51nekwgK3SS01km8yT3W0+ViTw4j/GSvz6+Fp1OX3DBBfGmwHTb3wJ597vfjaOOOgrWvng9M8IEGI48tPpNhKQlcwLJ2CdzEg+A9KbTSE4WzdhqkVrSBvW0PFpyyA/txcYtO7Fx7TqsWrcevf17tYgOY/v2HRgbH0bP3gHs2rEDz730vBbSovRFgim9Kryqj20IIDvMJpJqrBeDfdmD2tiY0rJOB2xTYKmdGli+oNOD4eERFIrFGMIoVMAaQS43LsijVCpBBwiwNoZBGUPGWyhogY+0SRjBqDYVxjM8No74m615pYUiykGkchlhWJK+YeTyJXWyWWHgpE/Wys7IfpWmUkKo4Kkm6JOAo/jCAI8/8hD+8r/8JTZu3SGEIZX8mj7kr66PJEgeskXkofGSPCS9pPHxgPWTPKgu8sA8ZIVOcr91kYzrIblfnkMhkDwkPeQUH8k5VZOc1EVW8nMyCklW6OTMVKSpj43RuETdPYEPxgu/UkawBVriGtxJeBrbdEkwSoAooazxPDpWQs/uHdi4cRv6B4ZQLmtmRbaBDnXONooQezS3xhC4UPOngPHRFAb6PfTsGMWG9f1YvXYzNm7ahV27h7VpyEtem+3IRyTwbCMQf7/Jj+snPVTsMbvKUE2AbK2AB/sNIjEK99v7kAR5YDhUa8i59RyKPDlT9kAy5KvjPVSd++MjK/Xuj254ssJD0opzArl/mgmQnOwTK88F5MF5TI6kJQcFknGdVUaScfbUU0+NX4VbwR5GLe3Uq3D7nxm25lY3BZa3k+xkMgnL2+m4/RG82trauGxyVchms2htbY2/tG+vLkjCTixM3k4oTB4Tl+GN3/Qaysp1dXWxvOk3GbPBaFXwqhlL7fgv1Dt/A8sbs0FG7+ztS3v19Q34j4RUKgNrXDKZiFNzQDqTijujvr5RttUL/uNsbGhohEFtbZ2586Bg8diGjoMDqKCGX89FMvbJr6KNfGU6yEPjJw/OR1Z4SB6wCSQP2k5y/zwkYROIJA50kTxgPWSFTk6l0/WRnKyHJPZ3kYzrISvpbD6ygjebDUjOZonLJGfoIRnXj/1c5HR+SFZP6fSU+gIKofEJpXoyRwwRHMsoBQXYq4SeXXuxZeM4Nq0rYNvmpF4nRNoANGl9bgBQI8mMIKV8IJwPMK20IFygTcMWlYcEY9JcqxOIdoyNFdC7x2HThiLWrtuJDRu3YNv23diztw+jej1om3pZIJkyzB7PpSVLVDYMTqnlCe1ilJ8qk1T5Nwsy6KAf67vZQO5r1/4UkfvykjNxs2XJmXRyqjwX73T7ZtOrZXJKB1nJV2nTU7JCIyvpdJrlyQre6iRpqDmB5GT/zWYgp2gkZ5NjOUOSjPMkrTgnHKodcwrPQpJT9dji/Na3vhW2kNsaa3/AyzYNJPGa17wGtgEwcVt7L7roInzlK1/B//gf/wNvectb4vz3vvc93HzzzfG/QLfF3fTccMMN8V/MtX+A9sMf/hD2B7Euvvhi2GnFv/zLv8TyXV1dpjbeOPze7/0evvzlL8d/it9ONf7oj/4o/kN6P/rRj/D9738f//2//3csWrQo5q/evGrGUlJ78cojuxVjsMbYkznjoOGB/4FpUacBuVxOT+12CjCOfF55nQiM6Gk/NtZCxX+gfeYbyIZIryYKOo2wDVbFrrnuhB7BYJe5XM9Clv2VgZTeV6GlaitJkHxFGsi5+WcrIQ/ORx4aD7l/PpJxG0jONmGyTFZo1XZPEiYyJA9JB8kJiX0TkrEOo/w66zFdBqa3CmSlLpJV1Ix0Nr8RSU7aZ+UKUInNc6dUizpLcepQ0lN9GblcAX29RWzdPIo1a0exdVuPXrkBI+NEoVxG6HaK304Qc3AYl/5hOG9cp2wpEHWCWiR5lNJW0bPwvGbR0to0pCW7W/leyY8gjHTiEA0jLBdRGK/B2EATdvUMY+vGUaxbtUevK/p12jCo0768NiQFneg5ycp2vYYAAlROETyAAvz2LpIgp2Cumq0vZsNcfOTcesgKfi6ZKo5kNXvQlGRs83TG6faRFTpZSafzzc6Th8YzW87KVqelJC05IJAH5iE5o01V3dOVkpxenMxXeUnO0GEMVZrlyQqdpBX3C2SFftxxx+Gss86KdQ4PD8P+3LitZyZ45JFHwjYMtkExsNMF+2d211xzDf70T/9UD7/1MJzx2ELf1NSEk046CZ/+9Kdjub179Vpb6+AJJ5wA+z889hrD/ry+/Q8U02N222/p/e7v/i7OO+88bcTHYN+F+OAHP4h58+Zhl161mx0XX3xxrJes2Gy4Q5pBURTpuO8/Gei4MjL4T2Wbm/STOfdQgDqENT6HqU6x8isFkiD5SsUm+W1gkocuTzKuj+SkjrkyJA/KRx6Yh5yik9ynGpKTdZA8KJ08OM8+SoQg+YrqkciMDzlTnuRB6eRMHhMgOcMOkoaeE0juw0tWcNMFyAqO8aJKLbg23x3GxyLs2T2GLdoUbNzYi82bcgooeYwMJxGFWuB1vE+dBzjshcMAIpcD9GQfujH4XCg9OkmIzkSavwNiPpxOEQLxOCQBOtEtDeGxGUAzPHQplQyaECpDX2EAABAASURBVCEveijtu7Xsb0cUBQjduF4PenoNOIY9u8axbVMe6zZsx9oNW7Flywj27CliZKyIoKzNjTbrnjSS1bb9dlJMu8hXX+c0NSCn9FTx5BSOrOSrNEvJCo6cOzWe6UD+anwkJ9WRnGEzyUmaZUi+IrrJzAZypo7ZdCuTUzxWng3kgenGT07xkDTUPlCNn+TcdDv1tgW7elpgfwr/qaeegn2B0dZXO2V4z3veA0tNOcnYP0b73Oc+B/vegqX20G4nA/Z6Yfny5TG//bn2v//7v8cf/MEf4P3vfz++8IUv6PX/djz22GNI6nWF1WtvAyy1jUZfXx9++ctfxpsJkrB/p/6Xf/mXsPo/9KEP4Re/+IXmnTMzYthnk0BWjJOFMUP1ZjtzJ1o5G6BUX0aYDhD5TpOemoZO7ALLiQcKNB6JZCIBMP4o8UASFI+v4JCA8RN+2gExXjSlnmTtP3E1tzShsaUZLc2CJkFzE7LpNMQlfqAmFaC9oYSW+lDByMEXxWOkuzikQ6qU91CTrYE5SFh4iQjJrMRFtDKp+wyYoM3AzeY5tDIO4ZIbpnFxWv6VZUmC5CsTmuAmOUt2gnCAhOQBqFMk8sB8JF9x3VPaf305kgdURnK/dpIVGsl9dJCM5chKug+DEGSFRlKluT8kD6JnJp20spNMVR9hC7Ju+lTwjOfIxJwUv3ORFt9Qp3NFDAxo8d2+C2vX7MaWjUPYs7uE8ZF2FAq+eIDIFeCoBRzbAVdUeQC+a4CPBnichwSPALxm1dUKzVTQO1KLvPgwDLJOMo0gLPVEN7BTBEuT0qvU1YFsApGRvmXir5WOOvE6RChp07AXYEH1FlDWpqGkE4xCPq2NSwo9OwvYvLEHa1btxqaNW9CjVyGDA6PIF0oIAqfgB+kzsHoMqLKBP5FOxxHyluwQXSLK2P2gQBLk/uGgCiYYyLl1TJBnJOTcvCRn8E0vkJxh53Ta9Dx5YD5yJp3kdPHJPMnJ+iaR0zLk/unkFI3kNKlKluSkbpIV5Kw7yUmeWaS4SFbocWE/N5L7UEiNEzsOnqCQjOuZKMaJve+3J3or2Mn8T37yE4yPj+P++++HfbGeJM455xzYf0A1HgMnnfa9hdtuu01zciD+J2P2/TjbcNj3COz/kdgJwjHHHAN7DfHFL34RV1xxRfzawuqwk4qiTt9PP/30+PXD5Zdfbmrxs5/9DHbSYHWbDW94wxvi/x9jrzbstKO6UYmZdfMEMz7VHZEhzUjNHDgtvqFXRG75MMYuHsH4eWMYfu0Aho/WpPdDyCWIoqTiUKRgEcAX/4WnLMPvv+k1yKTNgQIpNH3J0OHMhI/TPU/8JSw6VseO0gEXwejptIc3v+n1OOPUk3Ga4MKzTtLxx+k494KLcOrpp8kcxnVcemoN/uFD7fjsHzThrRcEuOoMH2ceL5rslG9lswMUCC+66GKcccapCi5AuiGBecsblNdmQvVBTxoukm0Cy1OnEmbDrwNwCJfjFBNl1VTp0HIkQTJmNpvjzCHeSE7KHooIWeEnuV92krFOspLOxUhWaCTnIk/iSE7qmkTOypAVnlnoSTlyXzpZwZFT6Wx5K5P70skpHFnJG28VyAqOrKSGn6tfyAqdpLHsAyRntGE2Azmd7ovXm8VClQ080YzuQPvRfLD39rCneA2+SAt8Pl9A30C/gsYebNwwho0bi9i1M4PBgTJKpVqE9qVDljQ6dwHsg8NuzdsC4AbhoVYbgiNBLoePk8VTA3itWsRLINo0n0PQ8yXnRDN+LfQOgPQ5DCrNC8bEGyotizch3QGAFBzGBBlNy7LKSdXXArAGCXeEeOoVA5ah0g7JOsWOaFi27pDMAEKdVARBrV5FUKceRWzbGmHdumZBAzZubsfOHYuxfaegZz6298wTLBB0Y0fPQuzYORN6djehHHhIwANIgWy0RHlSGbzyi6RU7R8OppHcV9bGmYHJkhW65Q3ISpmkFfcLJGfYtT9Gciaf1VuFqgw5xVPFTU/JQ6eTFd655Ks4q7+at5SsyJC04j5AMm7rPgQhyAqNpEr7fkjGsiRj4uy6Y6RuJCf57Ijf/tOo8a5fvx72n0Utb//EzP5pndhhXxq89NJLYxkrk1oVIo1t52Kc8RsYzU4U7J+V2euCz372s/GpQbMeqN/3vvfF3ytoamqC/QM0+0+odnrx0Y9+FMcffzyGhobw05/+VHO7FH9/4Q//8A/xta99TXNjXfxfZj/zmc/gz/7sz+LvTZC0qmzkx+nkjWRskD3lesqD0AR3KCxwCI+MkHouicyjGWBnGoXXFJBvG0dZzNQ0cuJ3CgqXnL4MH3/DUrzu+CI+8bbL0FSflv4AniMyfoQzs2mcVlODlBcgVePgfAUCAqHk6aURKk488tBTePnxhzC080X88uE78NJzTyORqIHzyvATITo6AgTJQfjJAbz2Ah9veW2At1xUg842KoA4KfNQV5dBe0cbli5ZhNqGLLqXNaB5oY9UradgIh7ooqWygRDOE+I//0du2sfIV4Ig1dhXIEAenJ88OM/BqiQJsgL74yUrdJL7sJCM5fchCEHunyZy/CErPCTj8q/jRk7pIrlf+6wucv90skIjaazTIFLeQEn8iVQHBAlQSzc0e6FNu6X257ULuQBDg8PY1dOL9esHsWFDgB3bchgc9JHPJfS0nUcY5uFYArxBSQ9rsbcFOw+6ZkErEjwKQKv0z9OC7MNpUQ/Qr7I2CVEoWgg9ByCRGhCtCK3h4jhGeaOl4BwBIe2BYOnSNr1rTaKxIUQmVdB8HoPnBbCNhDXV6cQCqJEd4wCySsvS4yGiDzANn4sANMHjAkAWeM50p5Tdq1IOwADCqAkMP4eg8FWMDX8e/b3/B329/wt9e/8B/Xv/Cf17/lHwT+jb839UFq73s+iP4X+jf/d/Q8/exbB/kuZHHsACAKW624ckyEMD4z8UIPfVdzA5ckrmQLzkFB85lZ9Lhpyik5X8wfh+E/S5dFZxZMUuklXUPik5N43kZN/tIzSBICs8E8V9EpL74KYjSGodqsM73/nOeOG11wf29xHsOwkk4+8G2KJtT/62Abjwwgvjk4DpOqr56gO88Zkee+1g32V48MEH8dd//df4u7/7u3jxt9MI+/Khfd/h5ptvRj6fjzcItllYuXIltm7dGrf7lFNOiU/Zv/Od78A2B/Y6w04pbEPT2NgYV0ty2miH5q1zuk98LF8tGmMrkFiRRN2eeqTGa1G/qhYtv8jAy6Xh64k88sdVscNrzlyOD17RjZbSeqRLPThzeYgF3d2a2AmEmvwF8T6by2NNIaejwoQqTcCLfDBKSI8HOg/KYHkHcXQXsaTVxwmdabTVe7AnfejEIkkPp5xUjxOOa0RLdwMKiFBwJZx1dgYNDeKDky2UY45VuQHtbd3aKCyG5wfI1iT0ZKBAY0HGoxrrgHijAERqJ/6TXzZAzETSbLfcgaHKb1wkY79Y/mBAVnhJHoz1gDpJxnSyks6ljNw/zfjJCp2kFfcBknEd+xAmECQnclMJyViGnEqnqNiHRhLTL5L78LwSuvGSM3UYzoCciSdp6DmB5Cw7fPFFcK4MeAWUywWMDAV6Su7Hxk2DWL9Rpwbbh9Hbm0Jea6gLsuKNFAgiOG5XfhgRdGrgMoBLIcnl0tcFz1ssfQ3Kt6KMknjrxBcK51R/BHAQCW3a65t6sXBRiOVHhli0OKNFvFGbinmS2AAphIM2G6rNYyt8PRA0NzViwcJmLF/egaOP6cZRR7dj6dJ2dLRnUZN1SPqjoDekOpRKOsIwyFrVPQwggxAjSrXJRwJgHYB2Tec6EF3iziqtV1qPkAtl90LJVVKHBcIvVnkxQixCJHqoDUdg4JYgiGGpZE7AUN970DvYId2ERwICkkoIu0hO5q28PyArfOShpdP1kAeWmc5bzZOHLkPuy1vVMz0lK3zTcdPzZIVOTqWvhj5dppon99U5O75VeWen5JQsyZg8W5bkfvuRrNBIxrLTbyRjObKSTqdZ3o77jzvuOMtqMz6Ihx56CLbIk9R8c/F3Aux0gWT865GXXXZZzDvdvhihWxVn8m984xth30X45je/iZu1GfjUpz4Vb0TsFYSB2GGnDfbvzy1vpw/33HMPbNNg32n4q7/6K/zzP/9z/NsNX/rSl/Ce97xH89yDvcaw1xAmY+DZrQq2U6nmNRsQb8q1WTAmb4caVAyhGSgIkSikEYQeSo0eAs/Xuu7hyEXLcck5Z6AhUZZsiL6oA9+5vw9rtmyB3CccYP9Wc1zPFTlB4Ds4vwRMnCRAl+dCJPUU095ai+72OrQ0JrCgoxkNtVl4ms6AQ1lmDI8Djz/fj/ue7sUjT/Xh5XUDejLIo693TFwOMgmNjS06SrkZN3/jWzph6Eb/piQ2PyfbSkl1DhBaAyuWqWannFP62/y8srpejXUk40rIShoXfg03kiAr8GrVkQeXJ7lf9SRjG+ZiICs0kvuQyX1xVSaSr0qnyZMVWZJW3AdIxrrJSjqbgazgSc4mzSiTnNQDEBAEQah3nDb+B7Bl206sWbMVa9dtwdr1G7F5yw707fWQH6+DbQoip5MCFACMaHHsAZjXXBiHh3aQDUjwFOU7BEsRab6BKUSKA3BJ8aZhl+c5pDNDqK/Po6NzWJuCJI45thXLdTLQ0V6D+pqkNgFlyY1rPvZLxPTXxClYltai5mgZ9ABCvH4GqUQNanTK2NqSwaJFbTjmmEU45rhFOOKIbszrakJzk0NNTRGJREEyY7JPM8INw2ON9I0AiikRi7DnDBdbrk2N6xC+VmHDobO9gLraAGSE5voIDXURqJMPT7xU3KlABE/aqPbSSdRldbJyvk5b3oCe/hD2dFYuFWBBWlTpoiUxkIzL5IHTmPkQbuSUnoOxk1O8ZCX/SmSqvCSr2RltmUROZEhO0idQ+03IQ+etKiEPLENW6DPWLAmTFTxZSYWa80Pun07unzansllIkpMYkrDfOLA/7mevFuypf8uWLTC7qwu+fSfBvidgi7PxXXzxxRpzIYxvx44dCAIbs4zH3ladAhjYdw3si4933XUXTCaZTMJw999/P/7rf/2vsE0CSdhv2dn3GkjqleI22CbBxq5tAr71rW/FrynstwPT6TT6+/vj7ybYlxhtnFcboSlazdo8cjDDLSDY/DAKQRGAoL2MsevzGFqcF7qMXO0QwiNC+KW83hNGcJpRYYb43p2P4aFdNRhPHotvPTSInzy8ElEp0sQr68QggYROEkI/BzBA1+JG2HcSOpc2w47znCZv5EUo6FTh0bV5PLxyBCu25XHXi3oK2p1D2Y8AbSiiiNizp4xkNon1a3qR8jyM5coYLKVQKKVhp4JBVML99z+I8bE8BgaG8eij96LGq8Gxi05BAgB9D0cddwLOO/98nHfOWWhurFdLpR//WS++KsNIgpyCAykhGQ9ekjjQRVboZCWdzUtyss7ZNCuTjOvBfi6SMZ0kZl8kD6qb5GxcgDGPAAAQAElEQVSxSRly/zRP42gfQSFIxvLKTn7ICo6cSm3uTDIoQ07RSAoz80My1ktW0irV9JAVHLlvWuUDGPvJnhC2aiOwccMWvVPfjaGBAGGpEfmxLIJSQnM6D7ohRG618rvgIi3Srg8ORXjsAtAGnycA7AbQoA1DIF4fTpuCUGcAPlvhYUx1DWqR3oGurhEceUQCRx9Vj6OObMDCee1obvKRTnrwdVoXlXwMaLNeyBdloa/4QSRoryas3CG96RhPLwXAB+mBOmWE5raHNDzFEiKSLodsJiXdDZi/oFGbhTYcd+wROOa4duWb0dGRQDYbaNMwAnIEnlrEeLGvVZ0ePCrBOMAB0ct41/sjXHkNZUuAG95DnHNhEW0dBRxxdB5ZibS2R2huC5FIhXCywTECFUwi1MJFb8Pubedh08bdWLtmQ/wO14Lz+HgOUSQ+UnVUAAe5yAofeeB0uhry0HmrcuSUjI1tgyptdkpO8c6mWZmcopOVvOENyEqZnEoNPxeQFZ7pNLKCI6fSV0ufLmd5a3MVrDwbyLnrND5ybho5hSdprPsAyXg8GMHe+d9www1429vehr/927+NF27Dk1M839GR/9vf/vaYxxZ5+7Ki8X/iE5+IX0lYTLBNxrve9S68973vjV8Z2HcOPvOZz8S/+WB/f8HkP/axj+Hxxx+H8Ru0t7fDflXSYsSPf/zj+CTD/GGnCd/97ndh31W48cYb47/F8I53vAN/8zd/g+qvQ5qNBp7dZoNnxgtJ0u6gtuaJgQS8bUB5+RhypxcQnOWAASAxkITWbECvDLZs3Ip0tgEPrcrhX345iruf2ACnTUGkCQfpcHDi9YAwhbJU9+0Zx3DPmN77FVSPByKC2FGTzODEY4/GoiOPApqPwknHH6vjyKNA1aGKxJvApt1FzOtsx7lnzsNFr1mEd775ROTGfdjpBmUanR8ftUoIcIHyPhYtXYQ9vXvjOkKrLdGAd733A7j84tP1DBIigifdB//89jnkLNn7SuslTa4iZQPGoFLa905WeA/GQ1b4TMNcvOQU3XhmA1mh70+WPDB9tj4rkwRZASvPBpKTqGq91ZTcl1ZlJhnrrZYPlpKMWUgeUI48OD1WdIAbaTo0tPXEGwRl5AoeomghHGzRX4DAEWAWRDOAGtivHgJaCdkBsk24DLRcwrlxpSNw6EXk+gAm4DgET6d8ifROva4bQVv7Xixa7OGYY5tw7LELsGB+l/BJpNIeyCTgUXpSynsyyMeOPYPYsi3Ctq1DwkcAHkMY3Q2ioLwDOA6HEST9JCSK+FJ8gOasLcyROEE/Rk/dVGY6tiubzsC+pLV4cQeOP+FI2TVfm5UFmDefaG11Oi3II5lSXQzgWJJNGTjNbgZJtLU4NDWNoLGO8F2E4452eMsbStKTxxuuJ66/3iGVCGQBEV+xvLVPftEGJplO6kEkHwfu3bv2Ys3qtRgeHoxZqzeSIPeFKv1QU7Ki41D4yQovOZVOl7PxbkDOTa/yzuYhK/xV+vSU5PTijDzJSR/MIEwUyEOjT7AfckJW9FYFrD0GViZpyX6B3D+dPDCNnJtudduCbN9BsCf26U/oVUNIxqcAQ0NDGkvD8W872AmAyYyOjsZsJLWGlWO66bFF33TbdxlMv/GNjY3F30kwvAnZZuCqq66CbRTslOCXv/yl5qPmn4gkYZvbUqkEO1UwnZZW9Ypl8qNZPZmf7FSSsAow7cruqkXL/W2of7oJ3OYh+ayP2peakNSCT01wgrBgtWLFSjz2xLO45/5HUQwoowhIn4ODcjoNCLEhiLBGEOY8PHPPToRDDp6CnacgUSzmccftd8V/0rVvIId1m3ZjZCyPzZs34IUXXoKLUghdQnXk8am/68FXbw3wd18exMf/ugd//6XdKJQTQFyTarNAaUDp1/uH3r5emDNIgnriWLPiMXzq05/A//zs59E3mJeFHv5zXk5mRYKDf0i1bQIOzg2QFX4c4CKneEjuw0nygHrIV08nDy67j0FCkHPLkRW853mxzWKd/JAVGllJJwkTGbKCJzmBQayD5IwUc1zkFE+VTE7hyKl8lW4pOYUnp/IxTTfCg9N8sE26j3mA01Ovns6d0zxFOyKXEscyje06AAsFWtTRINwC8TajsolokI5hlYeV2vcRtqOhfgjLltThiOXtWLSgWRuFGmQz9eJPAywLQuXlQ2mSWSDNtgSGRkPN3RSA5aqzG0m8BhH0uoEplXOqIyOaFlxXhO/7ymNCVrpiHabnQFDlpzKI41Q2m4k3DfPnt2P5EQviTcPxJ3bhiKNqMX9+RicNUVxHGDr07grwkT+tg/29h2SSOOpED/mCkx4owIYoByUUc5SdUIzwZXMa9Io6Ab1TcecWjI4Mg9Cmw3WKtgDObwDgyws+SMYgxJwfskInDy2tKiEPzl/lnZ6S+8odjE5OyRyM1+jkFD85lTdaFcgpPFnJV2mWkhUcSSvOAJKxT8lKWiWSlTJZSav4akpW8CRjVHXhJDmpzwgkLZkEkjPokwRlyP3TRI7lpqeWrwLJanbOtBqPyAPzkYdOJ4mXX34Zn/zkJ+PfWLDXGdMrJzlp83T87Lw3HWGOtJ2Ege0yjEYS0CdiiFTgITWaRO3eOtQN12lhBxhSE8SDsUGXyYVhBHgJTCI1nWyt9rRzT6CIPEPkwxC+2FDShNMJgZ02WB2RGHft2omt2zZj87Zt2LJth2Abtm3bHv93SdMZeWWMjGexYaePTdsy2ChYvy2LXf0+VLFg4kOldHZDGIbYuHFj/P7G2pkQOhU5DA30IRckEOmRxtNTg7WDpKr57YMMneNjTpKxExSZphwF+37IufH7cmKyfdjPRXJOHvPddBGS04sz8iRjHTOQEwWyQiM5gVFcdtPbyTllyQqerKSTwsqQFRxJlaY+JGNdZCWdolRy5Nx4o5IVGkkrzgByX5wxkJxRH0lDx0BykhYjZt3IKTrJGVSSk7IkARvb9LSwB8oXEXKrUjt6Jzw2a3HOib9Dsw+6MgBrhUsBSIt3GGBG5T7RAzj6sYyvBZBa2keGA2zctBNr1mxSuhfbt+1Ff/+QTixGEWh+O9uYwGyw8SmQLfa3CHbsSCEKjpe+BtBbCM106V0mzsWqLyW8bFL9HmtgmwRSOjD3RRLkoYGNSw8JeLLd91NIJ7JoaWrD/HndaKzPykcOz70EPPW0j5dfSuCFZz1s2ZjAls0RNq+vw9iIj81bfWzfkUGyRj71nGyVX1FSnPslyrxJ7u5UDdcDOB8JvgUJXKdB26iyfMqy0sqHPDSbySm+iuTMOzlFJ/fNT+cm96WTnM4S50nu16cxw7QbOcU7DT2ZJafoJCfxliE5WY+VZwNZoe8PTx6cPl2WrPCTnI6O8yTntIXkJD3OzLqRnFPO2MgKzfLTgWRcJCtpXJi4kZzUR3ICW0ls/FZymOTBrMvmS01NDZLJZEwhiWw2G39ZkWQsZ/R0Oh3nTaf96Wf7HsSjjz4K+25DLDhxIxnnSMb8JGGbFcy6PHtynw6FQk7vTGZCsZBHXk/4uWIR4+VRjJWHUSqUUJuuQ0ZG5grjMb1YLAhfRLFQiHXkJVcs5fRedBz1tQNoyo4hUY4QFiOUgpx0jaFQHBHkkCsVdQowjqLeYxaKhh8VXnpUb0E6iqqvqHoMjJ4vSr4kPSVPesYxVs4jnyfsPWhRdlYgh6L4DAqz26V6SoUxlPIlFFV3vjSKUrGMgmwuzOb9LZU9D3rf9G58/OMfxSc+8bEK/JHSj38cH/noR9HS0gzbhM3qw7hIMk4PdiMZD4iD8R2MTh5YD8k5VZDcb/1khUZyv7JzEUgeUOeBZEjuQyYZ6yM5g0ZyEk9yBs0KJGO65WcDOTeNrODJSro/OZKzSSobzhYnp3wAwteiVdaCOKYFTu8CkYNnT/BOPGJx2hKALeLTQEMngBaArVrsjtYCWAenn8hZqtcTyCIIa5HLJzAwVMae3VpMt/Rj1aq9WLFyAzZs3oQ9e/o1XwLYQwGlpW/vEPJ65ee7I2TJMdKp8ersKH6BnsJLqrcBQF5QsduCngogOScY7VCBJOBFcPbdBm1NqEUeoH6S8F1W9uzFI78Ygv1xpVu+24/1G8axclUffnFPH26/ow+rVg/giYf78NgDe1HMDcJDr0CptxKR+x7odQuOQ6BXHuBpep2zEWU+Jf2j8FQnmQCp+mYBDvEi95UleUBpkjPqnIuZPDhPVY6s8FbL01OyQiM5HT0jTzK2ZwZSBbKCJ6nSzA/JWIbkTMJEiWRMnyjOSEjOKFcLJOeUIefGmxxZoZG04j5A7h9PvnKaVUDOLWc0A7JCt8W+rq4OH/7wh+O/pmjfI2hoaMDJJ5+Mf/iHf4D9EaQlS5bE3yv4/Oc/H39x0V4xLFy4MP6bCYZ785vfjEQiAZtzl1xySfwrmfYdBvufEalUCiZvf7Hx9a9//T6+8+ydxqFAVCoj0ALPgoOvxdhPaVKkAySSRCrtx8d05XJJ701C8RURaOENgiLCchF1qTK+8LFl+Nqfd+Iz70rio29K4J2X1yDlFyUXIgzySPgZ1Gay0GOINhCR9Ki+UoCwGMa6THcgPrMh1MYgCEqAK4qWUx1lhCUn0XEFNuGCMtLpFKigWFb9Jlsul2OdcSp6KSyiFJYkF0hOQTSKUC4SwXS+33LeOvAqvUOyf+jxZnXqJLzlTXjTm94Y/74t6Wn8OEHlQxIkK4WD3MmD85E8qD6Sc9ZEMpYluV/6nAQhyf3LkIz1im3GhzwwnuQMfiuQPKAuksY2A0jOKWNMZIVG0oqTQDKWsZ05yX3wJGP6JGEiQ1bwZCWdQE8mJGE6DUgf1AkYHOGiNOCG4bMWnksIkoAWS+c0TzimfB+ohZ+iReIjs3BGjzRfMASwKQan0wVCT8euVYt8o6BZcnpVIX5o2aRr1CZ/CUb623W6N6SFdgtWrtyC1Wu2obc/Jx3DCLlaM28dHPTojl7JN8iueTB7PLQKnxeESCRkPym8fZzdQFIAAVG9SMZlcnbqzcAD0qeTBAcvnutjY0PYvWcHxvOPo+z+SDZ9TPD7IP4Ezv0uwugdSn8fAT4MF31a6afg+C/i+Qs49z/gIIi+IDMawahW5VrAhdI+CrJJm4+0/JyApz5wrNgv5hkfkuI9OMwQmlawfp4OZEXXNJbJLFmhkVPpJHEiQ07RyKn8BDlOyCk8WcnHhIkbWcGRU+kEKU7IKTzJGFe9kZzhjyreUvLANPMDSWOdBJLyvxcDZl0kYzxZkbHFFrpITtqg4j4fkvvgDEEylrP8bCAPTJvNXy2T+5czHrJCr62tjb878O1vfxvnn39+/CeV7Z8zPfnkk/HpuG0U6uvr8dWvfhUdHR34kz/5E3zqU5+K58GPfvQj2J9iDnV6n9BG4YYbbsA111yDTCYD+2NMxmt/DfL666/HKaecsk8bPTPkUMHpNYEDkcqm8b73vweXXXQFLr3kMtz49ncgqwpjPYxAEgpZRQaNSAAAEABJREFUAIGyYOECH+uH9uKRtTms6PPQ0OJw/BEB5jVHmnQearIL8dbffRdufNsNOPrIhehsW4iGugwamprR0tqEuoYmNbwZTe2dalgaHa2NqG2sxdkXX4PlC+ajo6UFDTVJpFL1aGyohZ9pxO999I9x5snHoK2zC20dLWhsqkdHe5t4m5GqqUVbZwtqU0k0tbWibfExuOKcM9DU2oL2ljpNfmsldBFO7ZGRyv92PyT1lFaAHmPgKQ84/ehOsyO+gaykhpkLZk+KuXiqOJIH1EdW6CSrIjNScm68MZHcRzdJI8VATuVjxMSN3D+e3D9tQnxGQnIfG6oMJKvZGSnJA8qQnMFvBZIzZKp9UKVZuj8guT9SrJOs0E2nAaCy05jQNAJCRPS0uI0IPQ5gTBCImIZjEXovqPwYHHqUN7zTOA+VH5CWWoFOD6KCUr2H10aDWjIBez1QI1xWfBkATRqOdapnFBESAFqBaIlO4NoxMlJAGKYAt1PwvBbgX8JRdcFXPSOybiUcrP4h+NqI2HcnfN9JtwdbZO3Jn1R74MFsdZa395Ge4Qg6X7xKVTOdUisbGB/UegVAOz3s7x/Apo3b8fKK9Vi1apNek5RRKPpazHdJ/gVxblC6XWVtXrR5IsxfLfDYJlpZ+HHRs/CwCWQeRELgA6ITZSSjOoRuFRLshDMfybeelwIVJ0jZNQtwiBc5JTtdxPp5OlRp5BQ/ySp6n5SkbJuCfRgmEGSFZ6K4T0K+ejrJffRVEeSh08wPJkfOlDG8nbCSM/HGazRLScZ+sPx0IF8Z3mRJWjInkHPTSMb1k3xFcsZMMv6VRtsAvPjii/HC36CThLa2tvh/P9x3332w/+PwwAMP4Iknnoi/VGsPnIsWLYp/m8H+ToP5p7rJsnTLli2wzYPpO+GEE3DrrbdixYoVVl1sZ5yZuHkT6SEk1jg3wUfY728ODw/Huxv7vU0zaImOPBbMX4hFS47EWCpE4AcIu0K0LfSwUIv1jzedgEfLb8d3n2zB4iO6UN+UgNMRYcdRx2Bg3bNYtX4Xjjv9Inzwfe/A2976XrzzXW/D9W98I2586zvxphvehbe94Xq84Q034MMf+TA+/sH3o7uxBQtPPBdXXn4x2hediEuvuRRXXHgiIr3CeP759Wiefzze9qYbcN1V1+L97/0DXHflZXjNZa/Hh3//g7j4/ItUx/tw3aVnoTFdj+bO5Xj/hz+Es886AwlfbnERAGszdFVTZX9Ln+3bt+Pmm2+G/clO62CNk8maLU8e3CaSIDkpt78MeWAe8tXTyf3LktzHPrKC8zz1wRwGk9wHSzLWM1uGrOBJ7leGnKKRjPWQlXS6EFnBkZV0f7TpeMuTFX6SVpwEkjPqIjlJswzJGXTDVYGs0px4gHQmIajRArdA5WYtXlo0MQRPC6zjNjCSL53oesqmlmugAGjBc9STv965O4xKZlS4HIg6LZAZRBgSTvpdq/KaC1ocgSbRKXoTVKvAEy0UjMJjozYoOpFjCtAJh895gL264F7V9AzoNss+CKe63EaAtkj7qgPCCaKM5NWuuIYEPEudb3eB6J7APtItZYhYQK4wgt6+Xdi8aev/j73/AJAkvcp04feJzCzT1dXe+57u8d5KIy8hBwIkBMhghHSFQFr8sg6WXXb5L/y4u9zFr4HF2wUECCuQNJJGo/He9rT33pfNjPjfE1GRmVGZ1WYkBNz7R8WJc857zPdFVnwmvkjjdrJDTz91yBOEMzpxdMirHWudb6WEueuUqa6mxh16laQrHL9cA9lXu+xrVXPd08w2XekJQEs1XePJ0DHbltu/Lvkc0vSIpL1+9Z5WwqBzn7d+3KshQxpoDFruv4PP6RKoOxq++DFlfujNXdqCw0u3x4AM/eOhikdZJUHVBpQmAW1qgxagg0MhG277AqH2EMyNA3l8dxD0YmGHAgdCrRCQ5wEqeKnA3DiQx5a+3Xzp0qX5mxDjDYjxXoOwAYp+L8aIId+oxw88DQ4O6jd+4zd80zygU6e8mnbokL7/+79fS3wzDUX+17zmNfrlX/5lvfa1r82/njkm2ICva9+MZm73lgHFVja9kC+ZyoshPiccM5JYwo/ljPgCh+PHj+nwiV3ScKJzt4+rfhc6dLypE2N1DY9eoScfPaKH923U4eMNnRxLfZeR6uyxQxpdulq1kcXasn61HnjoXn3+wUfzFyvKaqWZ9u856GWVA5o3skQvPPeEPvqnf6bjx45q6vyE9uzepl079uiaq67SI595WM2krtHRIQ02hrVv53PavmObO6q6xk6O68z5cxoZma8zZ09rZOki7d29UydOHtex02f15AP3a+uWKxSzMMgkuXP0XYuFL+k+MTGhP/mTP9E111yT/5xo/KOjAjP/sxAvSkD++l3MEbiYy5x24JLK6E4AF44Bcvf4v+fCzAHoKQuqWHcMMBPZYUCeA+iAloAct1jZocCBCh4KkMcAoVYI6GuD/ngZDL126GBQyKW/ZN00MFBXw9c6midlMYAvNh/Q2nXztGGj7/eX1TQ8MqmksVckZx3R8OA35YFw0vKAalooeQgVh4ydUKbj1s+aJgT28WM97JVko8o4qUxTxkfcoTguHRBaoSx1QeZoo2JATnVe0oDrMSJAYp4JoZgMNCVL+/ed1LZtL+jgwWM6ffao75AmlaYtx9Qktz08sENLsZqXptOanJzyndE57d67X08/eVBPP31QL24777ss6dzZRK3pdWqlrqMsZ1POMahMC51phTvSW63fItisZuZ6m08zphrX+BHlY45YrISalBxXk23KOC1xXK3E/ZD8GrBX0mnnGleanVNTz0g0tSy+q2FeIjRPwAVJF9igf+wFQnxOLrdPXBkDvTlLWzeHjl83XsrQsUMhl7bgUGAxWIU+m4DZUOV16jEagMuLAfKcDm3vUGBAGwsByH2h4IFdjKDwBXpcoRcrnYC8rFIvOVCKfTlU7TFBiC85uuWWWzwhftYr6yvyRwhve9vbFD/cFG/K//qv//r8VyCff/55bfINe4zH8UbGWq2meNNiPG4oC4vvXPj4xz+eq+H3spe9TKtWrdK6desUcrw5EsjrnuRel3mIzhjQ5s2b88osWrRIZ8+eVXwGNH4w5szUuKbfkKi+NVP6qUkd2TOt0cnzumP6U1qSPqG33rRfC0dbmjwnKRvUoUMv6L7HntaxA8/pN3/9N3T05EmdO7VHf/YXn9UDn/ucPvaXH9UD939GDzz4kP78T/9Ajz61XdGZPPb0ozp9fJviHdhKTmv7E0/qwKlJN/BEu56/X488dp8efuAxPfP0Dn3yvns1PH9Ie7c9oJ/95V/VwWNH9Hv/6zf15PN7dfT0Lm3fu9OdzT79xV//rSanp5W5arH7ZQr2JaWBgYH8SzVithc/2DF//nxleYWQ/2u62Ab2u4gT4FTM6QXkdqCvD/TiQDsGCrk7GOhW2zLQjotrqzRAB78QdiEb9OYo/YMDwSoE5PWpgFagwAFrnR3I/aHgHYvmxDWzQREDzCC6rJiEaMKDHvjG1WK/Mg9caL7QgEbnj2jVqqVup2t1zTVXmNbpyquWat2GmhYuPu7HfE0lXskTBxUDoDScx6GWdSzXzM8q84CfccbcE4fsrMgaBfnOXPZFS207rViZyP9/XkHIl++zhR54V/nabTjPGqXZPPt44kD4j6g5tdYT9Ey795zS88+d0ZNPbtOz8WmK7QcU30Fw9vS4Tpw4qX17D7ljfFFPuR2/uO24Dux3X3N+hVrNJc67XJnPNfMgncZryKhqyR3GV6vOW5RkVwvucB3q1r9crWy/SJqqabla6QvKaNk+Ze4JgR5XkiWu85ji/U5JnF825tid1veZdglqSrReMF9DjWu1cqVXbxI3TsZdZu8Ofh1NYYFChl4e9n4Evb5QYPlr3ScICnsfk+td2KDDu/2gg0Mhd9tLGQobUEI5B/IycqXrAAUOBe8y5f5Q4FDwsEMhA6FWCGjHdRuggwNtE9DXPxygsIUcBIUOBQ+sm6AXh15sdky3HjJceswqD+DxPQixgnD11Vfng/nP/dzPKX67IVYOfvInf9KT6Mn8GxXjMcRVvmH+pV/6JcXYvHLlyvzNjae8qhAThfjRp7/5m7/R7/zO7+Q3o/E10G9+85vd1k7kY3iMO/V63de9r2tXNDFd9h5fwBDf3hTfQR2/ZvWnf/qnCqxIlKk2hbJHz6pxnzuHcyM6fbqmB7anmkjG9KarT+r2DRO69/NHPftPlZK5w5nUgRe36YnHHtG+w3v1+EPPaNe+w9q743GvGjytI4eO6NBhdxxeOTh69JCef+YJPbVjr04eP6wnnnnWk4pxNafP6+/v+bSbdapkuqVnn3zSS4/P6oBXCY6cPq7nHrpPf/DRP9XzLx7QiZMH9NSjT+rI2UM6fvqMapPT2v78c3r8kSf1wvbdarkbyPwPLM7nS3+MGXn8Y4PHDLKY1V1aPYALOgJ5Y5nLCea2Q2EDesKhFwsnIC8PCLWHoBcH8pjZzsBsqK1D1Qb05AAq/tDR24ZZApDnAdoW6C+XDkBPTGkLDv3tUODhM5ugsAEVU6bMektpMx4TrPdA1lAqL5XruBo1edCrK6mhwYGWV9DqWrxwqdatXqOrrl6p667bqOuuXasNG9Cy5S2NjsxTY/Cw/c+6/gPuJJwuPhmhCQtDxqZdlgdDzhZlcCzHkqxpfkqkqWossJyppRNuRYuV+m5d2aDjBiQGhRY5b+Z6LVRTxy0PSlrq/Iu9krDSfUWm40eb2rXrkJ55do8nDzvzScLZs2OanvIKQWuefT3ZkDsx9x3KVjh+mQaSr/Cq5Mttu14trRHJy9TyhCbTOcXqQabzShgWSl12za/aIctnrG1zzBnViDqcda7jnsxsU12DStMH7XNKwyO7/HpJg0OJ64tqulNkN6uVnHQ5dcuD9jOBoEqa2aCDz0AVBh07dOSK0ywFOn7QkWe55SoU9lyZdYDCBsyyFCrQPq8CqR6BKmANuGgMFD52v+gOzOkDc9v6BUF/f7h8HKoxQH7ec5UL9JiAi8Y888wzipWEf//v/73+43/8j/rd3/1dxWAfWHyLY/xGw0/91E/lP9QU9p/+6Z9WvKkxvkHxP/2n/5T/ImQ8kpj2DXBMHiI+5Pg2yJ/92Z/VD//wDyu+3fF7vud79BM/8ROKL2gqK5qUwkvhMSsJ6o7FSi2taWDvIg3snKe65Uk37l/66BF9ZtugntwxT//3/zqsX/7DUzo3OSA05UaLktRt1Q2zlaBGmllJ3AgzZRlusC3Z0ZgZ0350UBMpSmxrJS2b3GG4ozo3Pq40cyeZtdwJJO403CVkqRLnazWndX4yOruWcRemsBenT5ZJztLM1ThYd279M9kAQUEXqjIwpxnIc/RzgLlt4Q8E6yGYGwd6yoNeLJLChXEg3NoEVb37jguolAuFDh1eJgJKMedAOxY6chih0IFQKwQoJnxATzwUGKDuDbV3Y9AAABAASURBVMh9oeD9bInbimhIyNf9eQ94J0w1X9mrJI26DTSUkUhuM3K7sJdysn9CTY0BNH90UKtWr9CWK9bpmmvX6PrrV+rqq1dp44YFWrzEA+TwcdWSaRdxROKUSEaUachlzJfczuShPt4fkOmM7dH+TivJxkVWt94wRxkeTLNBy4vcnltKWOp8Cxy/1D7Fc//43oVM49ZbapH6PGS7cyjq33TchM8R403X4Xbnus4Od6ieXGP+Cq+knFBLZ2y7Rll6XLBB6KjLbimR6679mtYO++62z4hzH7Y8pSR13bwS0Ur/3jn3uozdyrLHHHdMSvZp+TJ0/VVbtHT5Yuc5Kzwxmk6eUY3VGkyucK5UCVIS/RDYXiUX0rND1QeqencAVG3Qq3f7hwxVn8BKgrlt4QMvzQ5zx8HctrnKhE5M+EQbhg4GBNwmoPLatw0WoLBZbO9QYEAbCwHI84TcTVDgQDecy9AfA/Jc0J/nwV0H6Ph1wXmO0KGwh1xSvC4hR/8SvNQBX8dZJTbsQVDYQg6Cal4g4Da5BbblSxZqfsZx22235UsdsfRxyy23KJYnIkHmQwzBUircbFvWb77zdv27H/uw3v39b9b7fvgd+vYffLte/dY7tWDhQlsTJbVhbb3lJt11561aOTqi5kBdiWcNiTs2krpaLq9OTUndlaeuRlJTnVQrV2/USKMhuYE2shFBooFaS3XHpqknGGLmT65N5rIwZe4MpCxHMut+wXyUdUJ1RK62eaH9cz4CAuY8BZjbNmfQjAH6x0IvDsxZD2AmY5XBpeNA3/xJkvTg0N+3LB0oxZxDVc9BH4Ce3IbbO5DL3Y0XCiw3zByAPA8UfAZuMyhwoI3FNRwTgMwTZLWGfV3XVOhjUu28ktq0YiMbmMldvg6pYUyxB09ze8NLD8NDQ1q4cFhr1i7TNdds0vU3bNZ111+p9VcMa9kyaeH8QTXqZ91+9itzXTKdUxaDe7RVl5OwwC0p7KeMeyDOPPDnE4amy/Bgz3kh+zAluU2T+Y5dU+7QrGqFkmyz5UX28STHcZkSSWsktnhgvktwm/OuldQQWq+Uo/bYZNk3CpxWRk0xuKfa5gH/oPFMWRqPCwZUk18P3xC09KRS7bPvfq82PG9+zr7HlBKfxjjimGnV6plWr5mvzVtXanBkyJMQqeWSxDLXcVzN9C81Nvm49u8/qalWKvkxhStV2QFBL1Wc+ihweTFAnywdCGjXo4MWEnRsQAF2HYF2LNBlKUToxcICtONC7yagW72oDCjasGZtQF7GLDhXgQoPBQos5G4CevIA3S4VGbhk/8WLF+trvuZrFB87fNe73pU/Rn7Pe96jy6GILf3f+9736kIUv78wF33jN36j5rKVePhs3bq1cn5J5ewvUan7ecUVV1yhU6dO6cSJE4qPY8SSeB6OhFKvBqTutBr+545r5YZBTczbqxWr5mvegmkt3Jzq5V9xp1ZvXqcmQ1q1/ipds36hnt/+nJasuVbf9V3fodfffZve8fXv1wfe/3592Zd/tb7re79b3/F/fFDX3Xi7PvCBD+rtX/EGfcU736lv/dB369u//f/Qq+9+ra7deq2+7m1frgFPEjISZa6J3LTdgvX/1A38gl/g5OCl2wEBfbMDfW0wN96d6EKDJhQ5gO6QXAZ6yo0OBMjt3QdAYVPXBvTEhxkKHAoeWBBU9cCC4MI4VO1Q1btzAKH2EJDXFajYgAL3oIUHZ5kShlVLvBQvlHkgriU1wYCpJvkZvJS1cwDGe6ntYAHCnmlwsOb2Pay1q1fqyq2rPHFYpSVLYqXiaglTtsGZPfgib1Nu+R5ose7BOMkW2zbusky2ZDoleUKRZlPGm679kPUhZZlX+GyHhcqcB080HG7bmNBawauU6dVKWe0Beovx82qxQ7VslVqtA4pPcKTsdTMfNO1wvzOmuuYp05j1o+Z7hfa7r/kj1fDkpfWsca86EPXyYxU1JaK/aglPXoYGRnSFV1Y2bfTERA2NnT2vA/sPKr6LJcv2ur7bRJIpTa/WqaOv1cS0YxWvNY7vUHmNa9YGHR/olWe55ypc2A869rjmg4A8tvsAVOrYbQsZLmyPvEFQ+PWLAQLOKV4DoF1mDvoAHQww0tmBtj/QNgBtvA1aAPJ2Dqh7A3L/fhjQDecyVDEgjwdy++wDVHGgx//MmTP667/+a33sYx9r05//+Z8rqB8WeFBpC3k2lbb42OJsCt/A4i0AsynwoLnw0rZ7d6ymdfqLlzRJANw4W7rxxhsVKwqDg4NuVFcoPqu5ccNGbdp6tUjQ2Ipzmry7pUNnT2nqWKJjJ85o75Hd2r13XH977wM6Pz2uejapgfmLNdYc0Ktf/3Z93Vd/uY4fOaLFq6/R1tU1nW82dfWGzYofjTly8qze+OrXa/FIppGFy7T72ed176ee0M7nHtP9L7zo1Yk3aP++Xfk7OYWU4cPs/+w/a93/uLz3LM4LCt7vlAAB/UxtDPrbgTljob8Nvnh4u4IzAhS5gRmkwwB32n5dOlBedyh8o5MqTVBgpV5y6MWBPE/pU3LoxaHAgNKtzYE587SdugQo/IEutCNCB4dMMVhlHpRbOqxmdsRlyYPvSr8mQ0rAun1IzINCp5OsjwTYl7YlyzwA0vLgLOM1nTo3pOMnbpWS1xu7UXVu02BtnTZsHtKWraNauWpaCxbNU3wvGsn2PCZTTZliItB0ozRPzkk6pzQ7aH5WwisAmnSdz5rGTWOu+zxlNIWWmeR+YpljUSIP7tmYYNQThe2S8+KJR5YdVc0DfJIdcnzk/qwGBzLNG9mrpcuOar1vVFatmVR9wCFJQ2KBsnSNEk8CyE6K7JjQkAYHh7Vi9QJNt6b04osn9fgzE3rsyVEd3PVV9r9b8qSllnyZ6/J60xVKNaxaIsdOmVTZAEEvVZz6KHBpMdDx606TZZmCAoOODxRy4CVBgUHBS7zkUOBADkXeoFzxAQrcYmUH8nNPEr84XRagS+uIQO7fQToS0FFmJKhiZZ2gioc7FBgUPLAgqOolBvTUBQhzTlCVoaPnDj4AeY54HB/P9+PHk+KN/SWF3k2Bh17ykINCDwq5pHgDY9BsPOyBBy9tpR5YKYetpBIPW1Do8UkIKOrvU3EbieNlErg5eVkyvojh4YcfzqPjIxXx+c29e/Zq177nNfnyRBNvRs1TY3r0ky/oV//L3+vjv/20hlprlE0Naf3oWk2dPCfU0q4XH9fyjdfpFbfdrOdfeE433HqdfU7r1PQSbVy9UDt27tbJY0d1+sRhPfHs0xpcsFaj82ICMaGv/IpX6dS585o6cVLnjh7W4089pZSaG73ciaWuW/UiNfDPdnfbz+vul19ALvc7wIVtwJzxQL+UOQb9bdCLA3OWEcmAYG0CNLtDkTegJw8UGGCP6g79MajiQJ4XaCcAerAwQi8OvdhsXyCgNgE9+aGDAW3fGaHtD+Ry4FDKvra9iqC04et9VMqKlYRUx5TUPZAmLbtnJkydHchzQS8PLwg8sY/bkduSoptwrslpae9e52utdFljyjSt6eyzmr94uzauW5O/t+GqLSt1/fXrfQOxVsMj5z1Y1R29OZ8QZNm4UF1Kx6UMF+WEPiobEgzmvmKfEefOavZpKdVux95vvkeZjthWU4bPL3WMpqwfNx12GTh+r2q1R7R40Wlt3nJW1920UDfftCR/j0WSTOjogYn8i5/IFijTWdW8wtJim7LkjHWXRcurAgu1b+9m7dh+o04c+RqNn32n6/F6pfUr1ZQnLl4xSDXp+uxwzNPmzzqP6+rXTCbArJdcyfYOvXboYG3HLgE6drh8uSvVBesHvbnLWKja5sKB0pRz6NWBdj1yp5kDdHBgBtWcvtFnALldMxsUOjCDqG2HDiZvQG4DrBU7FDKQ2wpUuQyo3wbk9tk2YDakkZER3XTTTTkt8zO8devWKT4pGKvzwYM2btyoNWs8iU2S3D++hyjiNm3apPBfvny54uY8zj/e3B54Gb9w4cI8X/nm9/CNr2gOHrm7KbCeCnYBgNuWLn+LTzLEBCFOYvXq1Tpw4ED+8YvMo1jqZtNqNdVsnNPQwSnVXxhVfTrT+RPnde/HH9X/+k9/pm1/s0/3/NFndOTgMU8RBpRNHtcf/Oov6z//yL/UH//pn+o//ND/qY/+9V/pN3/5v+qnf+YX9Dd/++e65+N/qY9/6rP6+0/+vX7iJ35Ev/prv6/77/2kfvxnfkwPP/Ks0mRSjz/5qMamEzfeRO4yLv/E/tlE9F54l1J1uHAczG2HXhsgoKdo6I8BuT9QiYFCj+unNAC5b+glDh0s8JKgwIESymOBnJcgFDpQQjkHKn456AP04tCL2TWPB0KsENDXBgVecbYCBQ4FN9TeYTbmSXAy5cHRPJuvhMUe0BIlWuoJ8rBQTQY8gagL3CaYHW/zzA6FDTDiiYBbZsTK2eSBPcsGdODQaY2NHVUzfcT5PSCTqjHY1Pp1S12HhmDSVPegiQYaNaFh1ZNXOsM1EvMENUlLFIO8NGl5Wpli4B+0fF7xUcwYwKMFS6eF65wwKrTaNVgkOCfJlJ1QxjMSD2jeUKJFS5/Wuo1NXXvDlG69dYVuuHGD1qxepNH5Da8qTmr7th3av2dcSWuLUtexeCOlVxvS05I2SOndInmn0HtF+k4pe6Px5X4FJnxeR5WmB037bXcdszHbTylhkelqDbHFvnUpMbvADgh6qV8IXJpfdyx0YrrxUoaL20vf2RyK2EvBofCFgpcxUOhACeU82jaQvzY5MHMAcgkKnis+ALkvYM3/Co85ueADFJjF9g7k/m3AAvRihnM/8MjRlTPwfgSdHFCVZ/sDbWjRokWKjyv+u3/37/ShD31I8WmF+JXGH/3RH82/AfHnf/7nFZ9OiC86Cmx4eFixWv8rv/IrevWrX63f/M3fVPjEJxSC4vcb3v/+9+sP/uAPFJ9yiNg3vvGN+v3f/339+q//uifIV+vDH/5w/oVJ8b6G+LTDb/zGb+Qff/yRH/kRfeVXfmV+3u0K9hEucmn3iTDUarUU3wQYX+NYUmA25Tuthhqfrav+2SHVmn7mqEwLapOaXx/XqZP79cijD+nU6dNugKk7m6ZavhtqNifVnGwpa7Y84Rh3455Wa7qp5rRn7Zl8x5Ip8+RDjKnlW5qp+ChC2rJPqqk0UeL4p55+wbP9Wl4HXz4utfPPmQH/H8L8gvQ5E2DOfzjQJ6KAgL5xUOBA4dh1hF4szFDFgUvODUSKHn+gBwtHqOJQ6ECY2wT0xEOBAT1+QMUfCh1o+4YA5H5AqB2yBOQ2i+0dCgzoi0EHLx2APA9QQm0d6kpMqS+Hls4o1Um3qcz8oGq1MYUdHJc0HWsnH2MHbCPEnEMh54AnFsQSPDUlCbZ7NYKWjp9u6sj+26XWa5SxytRyOc9q0xUtjY7Od5QHSk9UMtcHJW5+mTKvNLR0zm1yl2JSkDkicy7JkwfWOvewCF+mXG9PdHTeMdiX0lCBAAAQAElEQVTLfQPT5okH5wPKmHCOh0R2WK3GX2pk3gmvWkzp+hvQbbdfrRuu3+A7p9VaumSxhocXut6J6zOosbMTeuqpfTp4JNFUdlrT7Jeyafc5nhgkr7PfN6mWfEA1XuFa3K2a66/spFrpsy7rtH0bSlhvn7Wu8RZjA5IWuc6OZ9T1y5TpuOpJK7dBvF79SXNs0N8fqEQAgrmp2xl6/S7FDtW47phSho7PhbB+NiCHgfa5xJ1wDvoAHdxqe4cODlTwtjIjAO3cwAyqNqauDWjjQNsCtPEAoaoHVhLga9fXQda/fXX7AVqyZEk+cMeX5f3QD/2Q/vW//tc5hRwfSfy93/s9xXfjxLjaaDTy3LVaTSHHaxUUP+oUE4OYYMXvM8TKwcmTJ/OPP8bvOUTs4OCg28Rmxcca43t2Iv6P//iP9cEPflDx0cnnnnsun6TERyCjjkCwvpT0RS8CAopvcopZTlBUAmYK8WvVcHvP1NDA+HwNNjMNDUzpBz+0Wr/w7zbqu9+5SO9/44DeetugBmstpSQaqA9o0I8vUE3zBuv+B8kNtC4/iNRAMuQGOGFK3SAxr2lgYEhSKlzGtTddreGkoUnnSVy2Df+v3IE5zxsu3wa9MYCgoNmFQS8OzHbLdShwKHiAUMhQ8MCCoKqXGFRxqOrhFwRVHMjPIWzdBHSrbRmqOJDHA22fEIA2DgSUE9DGc8AH6MUMt3eo2qGjA20/uUW4e7LugU+j5srLSjRPSVI3hW5yuwJyG6ByA9oYFLJn21Iy7dQ1KSbfSjxRb/lO/Ew+SU9IjZz1QHvKHd5prVi6yHLqmHGRuJ2Cc0YJeICvu+Rl9l9rwHIWk4Km7SvVMqpsmfGo9zyhUSOrBCPmaxW6PDUQrofGXNakrr12WLfdvFm33bpJV125xtg81RouU5OuQya5bi2N+5HBee0/dETPPL1TY+PznG+ju5I3qq53KuEdqvN19r9CZC1l2U73JF4t0PNqJalS5vt1u8mPIJab/BKwW/EFTFPabf2YpDNKs2f9yu93/GnhMgHhumIrxNHCrB0QXBqVoTC3f+lTcqj6lnjJoWMvsW4OvXboYFDIF4sp7dDrHzYgWIWA9mvTbYAC78ZChg4OhQwFD3s3Ad1q33JKB6j6Bg4Xx4A8b/h3E1RxQIcPH85/J+F973uffuu3fitfSYjHCBEXgz70xgBhzqn0ifcUPPTQQ/n7AIc8dsajhfh+g/jOg3g0kaZp/o2ML3/5y3XnnXfmsXEAfM27rVgJH+jkho5sc3tP2tJlCIOepXzgAx/Qa17zGsV3P8dHMqKiRQrc0ORGKHcQk0o9EViypKblq2o6cvyo1q0d1Fvf1NBXvXFISxcOSJ6FX3Pja/Uvvv1btGzTHXrfN7xL8xYu0ZKFw1p/xY2687brNTJ/qRYtGtWCEdPSVbr+6is1unihFi5dqre89XVasijkBaq7LIpK/LM8QlF7KPjFTgLIL06gryuQ2/sZob8N5sb75QkMCFYh6I9BBy8veOiPQQeP5EDP+cDcGBBh7UYBhZ6DPgB5PsCa2gTMibedZgQofGfUNoO58bbTjACFL/TnM24VBuEr4eFKfn6fv5YasTYueWVOWV12sYMHcCWWgyKmSpq1RT57KCETbpup0IGDicbOvUpNmsrw4wJ5AB14Wus31NTwZAQP5CiR3OKlpoQH27SuLJ1QKz0sNF+wXKlcNZ32EZPvkvKYQcuuM2NKshV2WKr4zgS00tle47v7d6ihr9LSFQu1wjQyskC1et2Rmf2HRZZ5EpPozJnz2rv/hJ54/KgefHBM27at1fjU61Tjvcr0Kpdxt2ml5bNelXxOKQfVcpkZG40tE6xzrphQnFOW7pPSo9ZPqK6lqiXrXNYWKRu132LVWG/9KsublNTmKUs8kfGNigGXITN6SJexQSd+rjBgLlOOA5U65ODMAao2YMZSMKAdWyDFETo4UIAzRyCPmVHbDHpxKDCg7VcK0B+D/ngZV3Kgpx5AaW5zoMcvjECwCgFtXyC3AW0sB3yAXsxw2y/aaPxGwq/7MUCsBPzRH/2R3vSmN+XvPej2CzlWFeIGPChWH+LNhPGYP2yxKhCrB9ddd13+G0qRMyYfsSrx3d/93YqfS4gJwB/+4R8qfgNo7dq1EaYoPwjI9X4HoF3f0h4tu5Qvi0dFXnzxRe3Zs0fxpsX169dr48aNWrt2jTZu2Kh6OqjJRlOTqyekkVQ33ThfS1cNa9RLJ/PcsVx7xSI3vlhmbKhV97rDwHx909e+RWfGpvTGt365vv97v1tLPAnYsP5Kfc/3fZ++5/v/lb75m75Jt9ywVVuvu0Fve9tX69s+/O1aUF+or37Xu/TW192p+YPRSV7WafyTco5/YFA8uol/cjcFfjmVBeZ0h7lt/YKg1x/ILyagEgLkeDcIl4ZFTCynBe8muPR4oDs0lyMndHCgp47hCJeOQ68vFBgQ6XIC8rLmqgOQ+8UByH1D7kdQ2IEZczTfRGla86DnRw066/iW5ROque0lSc16YvLA7aFwJsg6c5OHZMmTd/tnSMdONN3peHKQTQoNuaN5Ug2e15YNo1owf1QiMaWmmu2JaUjy0ErSMk8Fx9TSc447phorjTkmjZWKccVvRSRZYp+6SzulFr5bx8/9Na5UB5VmU0o9+E7zkJL6efv5PJjSlB9Jnjh7Xjv3HtJTz5zUo49P6PEnVmnv9lfp7KnX+hHnB4Ru9qC+xnnOuJw9ammHB/Mxy/Pc71xv+0Yl2WKRHhTZXtMeZZxxmQOq1dYoYZNIlqiVHNbQ0EOat+B/SXpSmWpqMalU+0wvWt4vJZF3WkAPOSjfodcG/bE8YOYA/X3g4vhMipwlSbzO1ZjcMHOAqg3ILUDlnHJw5gCFbUbNGRQYdHgYoKMDAeUEtPPngA9QYBYre/c5lAbo7wtVHAodOjxyQKGHXFK/csIGBKsQXDoGKO74470DP/ADP5D/3PPBgwd16tQpRV8fk4DggO69915Pilco3pcQE4r4dcejR4/mZcfPO//3//7fFe8HjG9ZPH36tGLS8MM//MOKn4y+5ZZbFJOMeK9gvAchygg9D/Yh5Jh0QG/dbc536NiSHHkJB0Dxecr4YYko8Pjx44qTiO9N2H/qgJoLz+Y/8JS8vKZTZyY0PpHp+o0jWpmlOrp9UrsOTnspcEIZiWIAfPypp3XfJ/5KGlqiK9Yu0MHjp5VMnNGhU2M6d/qk/vB//4F27j6g3c9t15LVGzSYNN15xbPXzMuK23T7LXdp3nB0bsq3rHOOuX7xgwO89/Mr4ZL38/liYIDiHx4Tr9l09OgxqV0BBGiuDb74tu6yoH9+6MWhF+vO1S1D1Rfoe55AJ2xGAnp8AUWDV9cGdGmFCPSNhSoOhQ4UgT4CeSyQX8eG8h0KPFd8iGvcrO0bcklQ+ELBSzw4FBgQapsA55IHMzdhD5y1dIPQqAe7EdVYqkSDPvdwx3g9hAsS2C+nVCRTptQdTUMH9y0Q6XVup0tFFh9tXqT5S3dpxUqXlQzYL1OsBvogyKx7MkHLr0WizMNolsXgfkZRt1YWg/yonMh1HJZHcXvste8J21uqabW5c7DItrWKj1eiFcaXqTUpHTpwStueO6xHHj7gFYMl2rPzOp079n5NnH+rsvRu59qolGlNa5tSOa8OeyKw1rmuUo2Nlv04I5tWlu1Smr1on32u7yrlqyPJBvssV602ofrgk1q06DPauOnvdPONT+rW205rxZqjAt/wZCel9LBqWqx6tkkDrmtdw6plDfXbAMHcVMbA3D5A6VbhQDt3xTCjQMdeXn8zppxBxw7kWPcBerHZ7SnyAhetR3fekKGICbkkqGJQ1aOsbt9SDg6FLxBqm6Cqtw2zBCA/h4DLcoBQKwSXjkGvb/yY0i/8wi8ofs4g3iMQv8547Nix/NFAvC8hfuogJgrx40sf+chH8t9i+Jmf+Zn8zY67du3KH0/EGxZ/7Md+TPGLjw888ED++OIHf/AH8zcj/v7v/77i65j/7b/9t/rc5z6nxx57TN/7vd+r//yf/7NibI4Jwq/92q/pF3/xF/OvMYDeOpYnDOSviXuYErp0HicRL+Ttt9+ueOfl6Oioznb9wNPU+Lhar0W1LTVNfypVdqamPYemtGTxoJbcMk+bblomatJ0a0BusTq47XGf2Of0uUcf09///d/qk598WJ+/79Pa9uILOnxouz72N5/UUFLzZOBhHfGs6S//7E/0yJPP6alHP6/f/70/1qHjh/RHv/97OnbmjJzQHaTUIpPQzGZZQSWQGu/ohC2rKXPnRh6UuR/DPrEHt0fkC9XZreVeufpFPpSrCMG7KX7QCpcKPprmKhboawIE9NiAHAcqNmBOvOJoBQpfi+0derEwQhWHQgfC3Cao6mEA8jqFXBJUMSh0oHTJY4CclyAUOlBCuR3IeQlCoQMllNuBnLdBC9GBQhWHQoeC2y3fodCBXO8+AHluoBtuY1DiwZuKwbeVHbPvuDJNWj+hmh+9SbbH7msXEOCJQ6fJQ4GBr+gsU7FhljkHXso87nYtD6getLPDjt+nWuN5D57z1UjmyVH2xdyNOXKYcDuSZ+iTU65Ha6ES5CZ+zof5hoO77dFQS01jibGTmjdU07yRYWPnnMtYdtp80oO4n/2n9yhLn9f2HSfdHwzr4KFbNDX5DR6k36wsW6cpfPevo/bdZf2k44aUJKs8wbheiRYZP+ly9vt8dls+KlFz7Hrbt6rGKiUcU2Ngm5Yu/azWb/qkrr9pt265ZbduuAlt8mrJ0oV1NRp1Ja5dFnXWWtV0tVc4Bk3nXf8x4bv0zDctgKA/aY4NCv9uM8yNQWEDukP6ltvtAPT4dNtDBoJVCKjERb8PHay85ssgKGylXnIocCj4hXAofIDcDajUAeiL56APQO5vMd+h0IFcLw9AxS9w6GCzzzXsQVD4AKHmBLRzATkWByhkKHj06S+88EL+xUrxxUf79u1TjKfxHoPPfvazbnOeuNo3brzj9xr+5E/+RJ/61KcU32EQY+xnPvMZ3XPPPYpPF8YXNUUdY0U/fD75yU/mtvgqgphsxEpC5HniiSc8vt6f/75S+D/99NN6zJOHqEt3HUPuJijqnHSDlyrHskhU/sEHH1TMZOIboAKLePdHSqbqaj6RKnmwrqGTw5qaHtQv/fZZ/Yf/+7h+8jeO6+d+/7j+5x8e9jPDmhI33bOnTuj0iRMemFPfLezX40/er0cfeU5nzp/Qs89s1wsvPK5HHn1Ce/fu0+T4mHbu2qEnHn1Ijz36lJ7etkPPPPe4Hn5qm8upKVPcNbVUS32C7vgylyBZVmxZHEyJKbWvOzfbE3cASqaVOCbz8qd7FWUzL1BEtNyxxLPPkB2oLP8L6Z8WQXme1XrBPxwOvbmhF4saQRsPVVDVAwRyHAi1TVDV24YuAS7uE+7w0v2gfyz0x6O82QRVXyA/59l+oUNhA0LNCcj9IVF8gkHpM06OewAAEABJREFUsEiGlPkummyesFc9/whiSMr1OMKMbg6FrJkNCj3Plw3q5KmWju67QVm6XCJ1jpaUfEqbNqZaOLpAqo/luEE3l4bw5IDcK9Xho6c9oT+q5vSo8cWKLWNMCcMWJ1SLdpntFxz2jcM83XjTDV4utZ/rn/lOn5wfd6t8xDHL3UPc7I70nUqyL3P8kFIO+gZjuzKdFElNNVYLrVHCMhVt86Ca2XNKs+PGG0qS1fZZ6p5hsWqetSSN5zQ6/wGtWvtpXXP9fbrrDnTjdU1dsbmm5UsTjcxD9bqcW94GBO4hmvg8hyVOu/ydStNtSuWJWS1WShLbHKC5N0DQS3NHqO2vOTbo5OvnApdvh8uPibKhiAs5CAodCHVOikFrTqMN0D8eenGoYlDVna7nNQV6sNIveDcB3WouQxWDqh5OUGBQ8MCCoKoHNhdBry/QU3foxebK2Y0D3WpF9tVd0S9LiRlQORspAzPPElKamrdrvgZ3NlT3wNtK63pk25Q+/vCAPvqJpj76yTF9/olJTftZKtlMB0TNKTIND9V15x136tprrxNu1lmSuXNo2ubpRIYbpxTLmommLRh3/lrq00gb1j3Qu+zUnVxiLtWEbHNzBgSovfluBndGobdctjMrJgjhgicKPg25h1NmwX2aa+JO0kYUU4WuPPrH34DquXVVCejSChH4gv2hNwf0YlEi9OJAmNoEVOoUnQcUGND2CwHIfYFQK3IAwCVhF/MNe0lQ5Cz14FBgQKg5Ae2ygRyLA9DG++mBBUHHDwioTUCeow34ug459cCqdL7byVJfnS2hhSbkg/B1LrcBh6p7A2zrJampZivTnj0nNZ21pGRYaXbGGYa1cFGqNcsWKUkHlWnA6dy+kEhaSpJUrXRaO3ae0LYXTqs1tdJxXjEgVgXmKz56SFZX4sbU0gv2P6q1a1bqumuu13yvIqSthicPS6WkoZQRJx21nKnGLUIr5WSu2WFJ80S6TrXkBsFK1yPK3eO2u9cuh4UmRLbMcdcKTx6i/1Dtec1b9JBWb/h7XXf9Y3588LBuuiXV1VcPaOXyAa9kuJzatOMy4T5Jmc8ta7isTErGJa8wtuLj15GbmsiW+PXYrJq2qMagPO8Q7qcAwYVJszbo79/tBl+4D1RzdOcPGXrtUMWAcG0T0D7fEoQqNrsdA7krkMcmSZLr5QEKvNSDQ4EBobYJyHMAPVgJAD0+YQOC+brx/ziX1OMH5Ji6Nrg8DOiKVp4POhiQY+raoBcLMxCsTfHalgoUtn5Y6RMc6Ckv8CCo2spc1f9QeF4GxSQhqBqSuSNITJlqrZqabjxyU8YDfNODeWJSVpNiUFdRPHJDt5wJbdy4Tgf3HtHWqzbrxuuv17A7kLobpgOcpa6hkVHddsstuv66a/2ccL2GB2pqkLjLqiuLk1QmuX0ntXnavGWDBmtTgrqkmjk51Wo1LV+2Xu/4ylcqcQu/8rpb9LJbX6aFy5ZqxbKFUg01Eod4alBPalq1crlecectrmEa4D8pAuasD8xtmx0E5K/NbLyizyjAjHRxBr2+UMWgqkdWqGJAXj8gzG2Cqt42dAnQ3wf6412hPWUCPVj4Q4GHXBIUGFBCfWPbxj4C0BMDHcyi0lbLLWi/6aTie0RSHdHAwIDsJXkyDW4T1qzkO5Dz2QdAmdvl3r1nNXbmVt/JR1xDCedUH/q0Nm1coMYAIplQ4j9McnsLr/PjLT3//FG33bpa08Me0M9LOJ+zSFP29GRDB13Hg44Y8/L+Ul115dWKT0VlyAP8mD0PijSz4klHdlaJbwBa2uWYXcrYLcW5CP+dlrIdyrRXWXZSiR8biJWCZRKSOKqRkQe0cuXndOWVn9DLbz+u229uauvWaS1bPqh5o/NUH2wJoj03lJGYHJhYrzWFVxVJwp4J1RRbPknIhlzuIqvDUnLMk6JDIt5QmTgmf41tusgOCDo0lzt0fIC+bkA7V18Hg1D4WKzsUOBQ8IrRCnRwwMiFdyCvS7cX9GJhB4K1CchjgQtiYYSOT+hzEfT6QRUD8nJn5wByqBwkodBzcOYAl4bNuF+UwaXlA/rWea4CgL4m6I/3c076gZeKNRoN1TzgVv0RWV0tz75x8/ZCnVI3wlptWPWBulDLDbJpcoNUYj2iM6WWm/VMh48f05YrNnupckpnTx/RXbfdqsGB6PD8eMAntn7zldq6ZavOnzuvt371e/Whb/ugvvXD79fbv/ortWLtFr3tbW/Uu971Xr3nG9+j7/ru79Y3v/e9WubB/6vf8U5924e+Va961av0HR/+dr329a/RisXDGm4s01d9/Vdp7NxJbbnqNn34Qx/UV37V2/Xt3/pBXXvdjfr2b/uQ3viG12npAt/BZJnPLeqLD0Fm/4g79K8DIKBvzaAXh/4YUMkDVb0sAHpxuDwMKNNVygwQOrbQg4C+fkCY2wS9OlCJhUKHgkdw3OEAIbYpsLZiAcjzANaKHejBwgIFHnJJUGDQ4WGLckoKvSQo/EpdbjUSytIht57VkgZ9Nx53uUtVd9u0SVA37nY2EwtYl3FMgZdycOnk6bPav2/ag/YCkXjQ1VlPlRNtWr9AixbFQO/JuBGyiI+YVMdPnNOTT+7TsSMND5znhOshTxPklYhECyWdVsZxZTouR7muC1VrJFLNg3OC5EE5ziFWADJGrC9TxqjrMF/yakCizW53V5s2Wh9Q6v4kSbYqISjO+5Ckz7ns33bKv9C6dZ/XLbed0g3XLdL6tQs1b/6A6nWp5nrXkkmvbg5ZbijRkKJ4aDl+wDRsakjUBJjMk5qyLFWzKQm5Xp7kcFjy6miNxaonDeFVh5xAUKUkSRQEBa5ZGxR4+JQEBdbtCgUGHf6F2LtjQ4aL553tB0VM4CVBFQP6nn95rsHVtUE1Pos+dxYGVZ8IB9rlaGaDwg+YQVT5/2hmA9r4DJTr3XWDwqe0B4dLx8K/m4BuNZeBvNxcmTlALxam7rqFHgQE6yGgJ284AcF6CKq4W2qPzyUDLd/BxD9xdkDqGTpCHlKlLHEjyjQ9NaHFCxdp08ZN2uJHCdduuUZXbNqkDVvWKXMLbi6dVOvuVMemjuq5557W0f17dcXwea05/4xeecfNGh5e4A6wpQMH9+ng8TN6vQfu3due1SfvfUY7Xtyu+evXa9HoMt1x6106tv0p/d4f/KEeffgh7Tg0pnkji3Tl1Vt1fO8L2nP4tI4cPamtV14peWmx2Tqnv/+7z+rGu+4Sk6f12c8+qhtuuU1jU5N6zcvfoKmps1qwYIEvwLqUoWLDZ1dIX8pjvNZB8T8E+hYNPXjuBwjI5e4DfGEYVOOByy4nzikIemOB7urmuaGKhQNUMSD3DVtJQCm2OVQxII+L+rSdLICvZ3dYFvMdyHn3AQoMCh42IM8XckkwNwZFOVF+UMRAr3+OxwBG6kFs2gNqGpBaOmJ+XtTc+pDbnqTgIOiQ8g0p4knM5YGwpf17ljvX7VLctXvVL9MujSx+VMtWzpMYkJJYmauZZ2q6/e87eEjbnhvzpD11PQaUeXKQaVLSqMS40Dljp2w77vYzqIzFllHNdU+UKO7miZsKP+IQmaQJkZ4UmUdlJhSPJ8jOCB1QS9utNy2fV5p+3vRXSlu/qFS/77jPamj4RW3ZslRbt67wjUVN+AYG3+VLLdtRSlOZy0qZVKZ0hmyKeljDfgTP2zk2ZMo8gQBPBDQpuXo1Xeny1ztiie0t1WsSfv3yEEWMKlv8D4NKEHp9whY+JYUeBAgKCn02QWEDZptyPQYSIM+RA10H6I+HC1RtUa9+eGBBUPXvxsCvaJ92EzlLAiKkQlBgUPAwApVzgUIHwuz/bZZzKPRceQkH6MRDR45UQLsOUf8SC95N0PELHAodCDUnoJ0rB2YOwIzUYVDFomyoYuEN9M1Z2oJ3E9CttmWgnSdpoy9BiElCvHvyoqFI58cntXv7Du3Z+6J2PveCXvDAvnP3Hu3xZKB5a0vTbzqvsZNnlI6hg0eO69iJk76zv1p1dzpL5yWaNzyolvMsW75Kr3zF3cqak5qaOKcv+7LX6+ypY9q5Y7e+9mu/SoePHdMtd71c733729UYXqobrl2r9773PRpwp3T4+AktXLQgX4mYnhrX6XPjajTqev1rX63VK1f6juiEH2Ns1aHDx7R2zVJte3Gb1qxa684h07nxqegjZk7VFenSZsAvCYMou39R0N8GvTjQvgi6swHdai7DF4ZBNR7oKRvIyyoPwEV9whc6fkBAlTgg14HcFgeggkFV7/YpO9rASgJKMedAni9XZg5QYNGYZ6DcByjVnAM5niszByiwucqGwi6PTLiFpJ7s4rt3GFJ0k6kOe1KdONuAc9dVDJSp9WKHmfjgaqjmu+IsG9TOvSd18nTqAdp38h4G8YA9PDCma65anA+6iQfxfFB3mmZzWtu3H/YE4bSmJhdIXgFI3VblATVzLZLUZVtvZTslnRea75p6NYD5tmaqedWQxPVwOe7djY0r9SMG305YPqqUk5IH6KYnPan9Up9bTWvV0qft/nllyYP2e87yAUmTGhleoBtvuMmPKzeqFpODOLecJDOTyyLkxHLwICyXFHpQqc9wufn79Z3yTYOYUqqzphfV1OOuy14l8V4GmpJXKDrlIPjCyUW3d+jN1zZagMuzOyTfoRqXgzMHqNqA3AK0zy8HZg4wNz7jkjNA5bUNKDagJyf0YqVv8CAg2JyxudEHYE4fwB7FDoUMBQ8UyGNDLgnIz0EzG/T6hAkIdkEC+uYHKnHAJflFEBCsh6AXh16sOzDpVi5XbnhJs+5VgIvGuTOrqabJpKVpdyItoWnP8FNNazobV2vhpLITdS15ZoEGphMlZHpx32H93ZOHdGrRdfr884d07OQpR6Xas+05/Zef+jH95u/+ke677zP6pf/6Y3rg4Sf16b/5S/3UT/6ofvl//KZ+/pf+e/5jGb/2q/9Nv/DfflU/83/9ZG6774En9NjDD+pnfvrH9V9/5qf0vz/2aZ0fO6Wf+8n/ov/6cz+rfTt36Jd/9Vf16//zl/WTP/Nf9OlP/51+4id/Rr/6v35Nn7r38+6UlFN5vOh5fyEOfWI7/8qOVLpBLxY26I+HbTbBpfteSiz05oOLY3BhH0BQUFkPIBeh4KFARy51qGKBdxOQ5y6xLIthVzkGVRtUdXkDfOzsszvD0gLkOUu95EApegCcu+xwClfcVtJszAPXaftPqcaoYjAlG3H+lt1MsRxOYp2cDBa7Bz2yRHJbPHHyvA4fuNo51trnpO1NpckDWrdeGh12Lt+By+1YnoycPnNeTz61S4f2N+y/Qi3OSNQ9uWi4aTTdfltK2aZM8RhgVImukrRQLY3ZPl9iRIn95XxxDnKNlQa2RFJDiTY411LTYk8sNpkvM9WU6aSSrGafo8pa+41NqJZIq1et0G2336TFixfYJgH6Ym1+eUXiyUFrxCkHXeaA0CrVuME1vUaNejyiSAR1E22y82+HtsIAABAASURBVJw7dPygI88OgI4NOnLpB71YaSs5FD6lXnK4PHyuOCjyAKVLzoH8tcgVH6DQAWu+DGbaVShQYCEHAZXYbgwINbcDvv6KNpKDPkBht5jvUNUDhJeGAXm5kaMkoBRzDlU9QKhiQE+efn6Xg4XvbAJmQ7kOvTjQUycosCSPeomH6ECh9x/VN12Wyuv5Un1KA2kmR5mmrA5r8JMLNPAZrxRIxlryJeTGmGr7nn36y0/cqz27d1l3p0Wilju15pQ7xWn7eUmyNTWlqUyqpWn+SKPVamratjFzTU9o0pP8qckxNZstd1KJSCc1OZmp5YeMqevhfkqp7xIipkVq/6ay6SlN2CdNJzTlXM3paZeRKPO5unL57iJz/iU9dJXfXS7QrbZl6MUBAW2fUoAqBuR+QOnS1qGDhRF6dbgwBrTzRY4gKLCQS4IOBpRwmwN5njZgAfpjNlV2qPoBFXsoQDs/FDIUPOxBUOhAqDkB7bgAoNCh4IGVBAUG5BCQx0LBA4RChg6PdiKlStNpd5YegD3oy+1DTKgxkDpHZpIJ9dsS1SSbmo7fveeMpqdGrS5XK3W79GR+dMGYVq8ZFrXI5RbLpI4eP6annz6j0yeW+246yoyJwbCrMe7Bva7EKTMdlLwCoMyDanKD0syDt8vJOO42dELKzntw92CbuH6uA+AyT/tMZiYnHBC44fo8vF7h+GclDilNTJxTppPKdFa1Wl2br9is666/RsPzYpAu6ilvgHN84SS5nqqp5TrHuFbTOqH5EifV1C6pHjcvNWVejVHXBnOX3eXWFqHXv22cJUDh2w1DgUHBu20hQ4FDh18qHn6zCap5wg4XxoBwE1ChAKGDhR4EvViJBw+CXh+oYlDo4V8SFBhQQu06tQEL0LFbzXeoYkAemxt9AHys7tAfgyoOVT2ywMUxoFKHiAsCgvUQ9Md7HA0kpsveAY2MjGh4eDin0dHRngpWq5ApI9X0/Eyt16PzC6eElyMT351kXsrLPBjP12Itn79ESX1AmRtlkk0rckz7XiL01F2QuxKtWb5YK5YtVZYMSo6dqrVU893FlJf7BhuDqnviEIM5WSvPM0BLo4uWaXBoQK0U+zbdGbnD83GaeWo0UN2ThcjvhI5JXW7ijsl3SY6VkQzXm5pii9zBAy945fglVyBepd5ioReHXiwioYpDVe/nU2JQ9YVeHXqxiO8mqPqEDToYFDIUPOyzCRAwG+7BgL5YdyD0+nTbQ4ZeH+iPhX83QeEHtGGgp15hBIL1EGB/X6etxUpY7Uty2BNhT6CzCdXq2D8ortvMfvSS203qiF17pLHTd9j/tOmsc2VqDH9G1125VINuUy2302Yr1Y4dJ/TCU6nG/egw1VBeXpadFRmqEW9qPKAsPaGaVwznDQ2Zb7ZPfBRxUNKEVwGW5gQ11WqZsUTCLlnmVjZgwX7ZfMEy67ZlC5VoqUiulrTFsauUZQeMTeaTgutvuFZXbFnviQmug+tjix0rO9jWRRXjJSiQui9oeQLVkNwfND0BSrXPmF8nLVCjNuL6ynVomdMmXWCDjh8Ucj93KGxAP3O7LOi1Axe0R0Lo+IReEhT4bB2q+Gx7qQcHgvUQ9OJQxaCqRxKoYkB+fmErCSjFNocOBh257WABqjhcWHdIT9mzMSD3AcKUE5BjuXKBA9BjhS8Mg5ce75bYU5+LAvGxpfIHnuJHnt797ncrsDzQdzKAGq2aG66UJtMe+Gu68bYbtGDFYrVWpBocrevKq7aqngyq5k4qGVmpd33zN+s9X/+Vuu7qK7XAg3pjcFCjgwvzz1A35s3X6PCoBuct0LW33alX3vkqLV80rEULRtxIM40smK+RocV63ZvfoivXrtTwgiEtHhl0p4KuuvEVev83fLPe/MZXaJ7vNmqNEQ0NL9KChUNeprxBr3z5y9QYHdLCkXlqDI7kOQedd2igofmjI5o3ICF1dT+ptejgMP/H3aG3DoCAnopBLxZOUMWhqvfzuVQMqrmAnrrBxTEgimwTkOcBKlhbmRGA3K9c8YJCnzHnNuiPlT7BofCJPN16yCVB4VPqweGlYVDEQcEjV0lQYIChxINpTc3shFL5rtYT44RlqrHY49mQz8/XKYni8Z3sKXt5PLfkZg+qWz99ekr79qVqpoOqaZXQUcGE1qyracGCpZIHfC+k6bnnDmjXzpZX1hbKoHOct19dyr+86aQwIk578D+rK65Yo7XrVhtb5zIWeGB/0YTEkPmE8Un7RR0kgUgmlLr8REskTZkGTJY98UiYr0TnrB9wWTuF67x4yajuvOMurV69XAkNU00+YeFzBefrIs3aoGqHC+uZ7YnzSnVnGhBc4X7lSmt+DKL5Gqi3JGoi9SRCnQ3mztvxqkrQG1N6QK8NCix8oJDh0njEdBN04kocOhhQwn4NaFMbtAAFbjHfodCh4DnoAxQ6YK3YgUpOqOrhBQUWcklQxaDQgdLlonnDETr+pQ4dDMjzhK0k6I+V9pIDpZhz6NWhiiVJ0re8PEHXAejrB3R5FSL0x6CKA5WcSRF+ecc0TRU/8BS/YR1fF7lz506tW7dO8SNPazxIr924SuODTbXcgJqrPBOPpc9moi3zNurrlr5DV49s0aqVC+VFUrWSujZtuV5Hn75X//1XfkcDy9brTa+5Q1/9lV+vb/rQN+obvvEb9YH3foPuuv1Wfd3Xfq02bN6kjVuu0rd913fpy97yFXr9y16pr/369+k//NC/0No163TzTS/X933nv9J3/Itv06LFI360cF579+3RgcMTeuc7367XveYNeu93flDveufXaf2y5bpq6w36lz/0H/UD//r79M3f/CF9ywc+7EnF1+tdX/tefeeHv103bt0iogN0f6t/5K0zSEmAZm/Qi4UPXB4eMSVBNRboKRv6Y2WOfhz6xwAVd7i4Dr0+0MGiwXUnBS75HIA8FFDkgUKXNyDPA1grdqCCQaFfSmxkAIK1CWjnA3IcyDGPTIpHC/E8v5Z5UMZtLYtvATymeKsQSgq/bMA85LoRU8RLGvcS+a6dHuCa10qcVVPbPQQ/o4WLH9SaVct81U/r2LFxPf7YDh05MiW0TNJ5U8PylAftadW8GpdxWi1e0OiCRLfcfJs2btqirFV3rnHn9ODuCDGl+KRAxpjSLPVKR00J0x5wE/suUJqeU8puJZqU0kPO77jMvml8/8OE9VWq15Zo/eZVuuHG2z3hn++smUmC4vWALzZ3bt/kZFmiaT+6VNb0OZx2PXd5UrVNTXa4bElJU9gPsN6f7NXeob8PVPEIgCoGHT3sQdDBoCOHrSSo4tDRgdIt50DlPHLQB+jgVvMdOhgwJxYGIM9byt085JKAUsw50I4LAAodCDUnoOITIFQxuDQdiPCcgEpeqOrhBFUMCLhCUMWASt5wBoLl1OnrO1gYgJ64Eg/eTUC3msvQi+WGCxySC9jmNEFR0MGDB7Vnzx4/728qfuAp6OSJUzp29IyyAenc7eeV3F3XpCcLzxxtqTm6RdfVrtGm02d06r7H3Laa7iSaOuvnnPNXb9WipUu1dfUK7dj5ooZGFqhRzzQ5kfnuo6nndu4SbqjHTh5XWmtoevy0nnjsSU8w7tD02HGdbdY1ef6s9h0/oe1PPanf/f0/0tkzYxo/c0oPPvmUrtmyTjtPDetKL6E+fs/fuYEPaHzihI4dP6fWxJh+/Xd+S0cOHdCOHbu1a/dunT9zVk89s01XrF8rFX3RnK/HP2UD0Ld6gF/X6olB1RcurPdNPAcI1VxzuOUwkDcEINfLA1T1Ei85kMeVenAgWF8Ccn+gYgdyvALOUoBZiHpioOPT3eihg8sbkMcC1jp74ruJjlZI0PHBQ6r8KKDlx27xn8w87YZBD9wLlNRSxcAlMvOmlIdh1bha+TW9c89hnTw1rma20+YhNXSbhrx6d83V6zQwIB04eFTPPH1OZ87OVyub8uB4ThlTzpGYlkg6qTR7XnBSixcu0E033qBlyxe67EzxvgaX7HKGlegq8wW+3qLshY4bVT0ZlmujzNrk9BllrUX2WaiMESlZq1RLJRa47quVeIVDGtLwyLCuvvI6zRseEtAm/QNsEPkTZ274HKfleY3laaGYsMTqxmrVWevJmCdZtuBa6gIbRL5eukCIoOPf7QcdHAq5234hGQp/oOIG5OVVwBkFem3Qi8249zCggkG17wF6ygYqMaHAhTGgJ0+/OKj6AeFWIahiQCU3UPEPBToYUPGfbQ89CAjWJqjqYYAvLhY5ZxP0llH6RCso5UvmsZKQZZmX+1bnNDo6qlhRGBsb88A7rrPpaaVvGhNbE01/ItW8bJnW3/JqnTwxpqOHjilptfSaJfO1oJYo7i6O79+ux57Zoa1XbNL9935egwtG9am//XP91V99Xk8+dp/+4m8+ruNHj+reR57W8V3P6W//8s/0sT//mA4e3qe///jf6rltO/RxY/fc80mdnzinF/ds1+JFS1Vz/mYz9V3RYn3qs/do7ORRPfn4Izp1tqmnHntQO3Y+qW3bn9Uf/e/f18jCRXrmyYf18CMP6JEnntYTTz2uAyeizCeUae4X8JJftH9AR0BATwnQH4MCB/I4KHh3AqBbzf26ASDHgDYMzImVTlD4zNaBEqpwYM6cQNsXqjKQx5UOUOhADkHBc8UHIPcHrKktA7ksb1DIgDXlONDm8gZz64A9ih2oxAUKHQyKjhQKrLSXHAKXfFQz2ptOSJ6Zk9UNtiwPzpDzSPYz4Ss5aQnQqVOpjhy40kPbHSJZrizbqxZ/onXrxz1BaGjbC8e17flEk1N12+Y71zyhyJm5PZx0soOmM0rqp7V581rdcutNGvUjO3zXjTK13O7i/QPxzYQZhxwrb1OmadO4ar5xkKclJ04d0ROP73Q5pwWpyzlrOu2bh5b5uMs+qFQ7lbHf9Tyhmn0SNe3rc8Fn/w9ErmRnzxrKUpelUQ3oGtdrgW1Taumg6g3X2XWQ6q6TfSzDhbmD2zvM7dt2sgAdP6s9OxT2bgMUGHT4xezQ3zfioLCFXBIUGPTns/1m60AJVV6/AIELYuETBIVfjEndOhBqTkCeK1dmDsCMpNwGHV3egBy32HeHXjtQ8YVeHXqx7iCo2sMGXzwM6Hte0IsD7iN0+dvU1JQ++tGP6qGHHsrpL/7iLxRYmSmZSqTH0cADNSVnkMbP6uA9v6XTO+/xQP85ffLkGf3u4aM654aXerLh2wjtfOYR3fvgg9q1d7se+Oyj2nfokHY8+7ieeOJx7TmwX2NTY9r33JP6/AMP6oXnXtRTz+/UubPntOPw03rUcQ99/mkd2L9Xjz/5uB579HHd/9Qzmpwe17HDe/XQffdrz74TeuGxe/XAg89q27bH9NAjj2va5/HE04/puWee0yMPPqydu3br4L79OnJwr3ZYjri9R44pK0/snyAHv7596gVVHBDQx7MXgqofVPXeCPXkBnowzdqACgJcNKYSYAWqMYDRC+9Q9YHFk7tFAAAQAElEQVSq3i8aqj5Q1SMGCgwKHlg/gsIOBQ8f6MilDh0MOnLYC8qEm3DWXKw6m5QwzwPqKZGMeRBWvgH2qSnLYoBvGEvcLjJf36e8SucBODviAXmjaslmzV/Y0oLFDT3+xB7t3XvMk4/zM9f+lPAKRZZNqqZ45DDocg5peKim66+7Xlu3Xq34uub8dxJcnjz4xxJ9TVcLFQOqBa8+LHL5UzllXv3Yv/+YJ+3HdOaMbxaMZrESokHX1eUSjxvkmBGfl89Nm1zHJcrwuXioViTUP/xWTFwyRd3ckWk63auU55XqsJIkMTUEmSsSrzPmF98BxxR0IW8ofIC+bkBPHujFysGzTAKU4gU5kOef7QT98dl+/XSgB4YCg4KHA3Tk0PsRXNxndhxQOSeg4gJVPYzQwYBK/Gz7XDoQpjbBxXW4sE8kg6rPF4pF/GxKZgOXogNuyJlaXhFoNmNW313RTPVWotqeQc3bNqJ6OqQF9TP6D98wpP/0/qVaNfy0Nq4d19JVNak+qcQNfjrJ3FG13OCayogaZEKpWr7radpjsJW6s2hoOsFaS2JKzZo7vbiraNWUkigasLKa/VJFdN3PRJuJZ/e2pJmTunMZHzuv5rTjrWfuyORnjLiknHwHZNha6jsF3zkw7bIsOs4p/knuQE+9AAEVHKp6GIEevxIPXhJQijkHeuKA3FYeoKoHDlTigIDbBIVedmhAxT8coYoBAbcJOjqQx0MvbwdYAHzs7EAeFwgUMhBqm6BXhwKDDodCjkAgzwuEmsshAD0yEKY2AbkPFDwMEHJd8nXaap3xXe1RZZyz3zLVkvki8XWcNIW8WY5HD0ky6aXzTHv3TOvcyZuU1LY4pulHA/epPvBpLV86rBeePalTJ5e6fS+z75Tjm05wUpAob5MeIOGsFi4c0Y03XaM1a1YqSWpK8GCpuiBR6sE+vo0xBlJ5WpEw6hxnckqyhQI8Sdmnp5/dranJJdbrSmSeLVFKTUpWu17rJRYpS4bdCM8q035RO2Jf18f9AmD5S0F193N+HZIFrsNCJVpnusb91Tqf2RLLPmevNMivtXCVL1IvzdoAQS/NcruoD1RzRDwUWOLJDBRy4EFQ6FDwwIKg0IFQcwIq5eegD9DBreY7dDDolcMJOnjoQUCwvJxc8AHIdcCa2jIUurwBOW4x51DoQEAVLAdmDlDYQwVyv5CDoKrPhQVeElCKOQcqOQOEKgYE3CbgkmKAdkwIQN+4sHUT0K3mMtA3FsjtcUjicLkE6KabbtKWLVtyuv7661WruXGXiTJ5sJa3llL/LVk2oFuvyfTKKyf179+1Sj/6kZX6/v9jqZYtSd2ttJR48F9/7W2Kr1ReuWCB0saQUpeRUFfDNUwbddXqpvhYJAPK6jU10tRxdQ0tWq21G1Zo5YrlSmo150PTDdSoZ27ELVFDdlfNE4JMrg24bpliS4kjws0/y4+pgcyamY+BhfRPj1xnn8cXs17QmxOoFAFVPYxQxaBXh14sYkuCjh0QUJpyDvTFcuPMAZiRLp1BJwboKaM7E5CrUPBQgAvGhE8QEKxNUNXDAP0xqOJAV5mJB/OaWlk8avAgHI8a5AEt92kItwAIfwlavqJrOns284rbhKayvUrTc6pnS9WINuUcu3ed1PnzS5yzYRoW2WrhSbwyt5DsuAfrk25jp7Vq9ZBuu/V6LVniQTOpyQZT0XYcZLWmZnNSmaJO5OVkmWHOejJzwHhTZ06uUNpa5RY5lsem2qeMY26n0yI96EG46TqcUpbuUZrFo4jFojYgksjjENcsjv/QhBJlrcx1mJLiNcT10mnX+4BStimJH4SyD8TroItuEP+PDs0VAIXPXPbAofABQq0Q9GIVh1kKIKCCAj1YOEAvDoTpogRVP6CnDKAnD1QxuLDek8AAXDgGeu1QxZwm34G83kCuxwE6cuhB0IsFXhL02qEXK/0vh0NvHujFLpbTTe5iLrm9chgYGNC1116r8fFxjY2NacWKFQqsdMqrkQ0pGlXiu/6tW+saXTWkJw5J245NaWDJsG68fkCrl8v3HJlWr75BN16xTgf27tfijVfp+77jQ3r9a9+sj3znh/WhD35Ib/ryt+rDH/l2vfkNr9PXvuub9K53fq2uuf4mffBb3683fc036Lu//SN69Z0v07u/6T36um/8Rn3de96tj3zw2/SKu16nD33kg7rl2q2qu3vyFMEN272VMuV11D/Pba7/M/SeFVwcg4v79HuloBoHF9dhbh9AQLsooKKHAaoYVPXSJ3gQ9LcDYc4JOnIAQKVcIOC+WG7wAajYDeU6EGJOQI7lig9Q6IC1YgdU3vmpawP6xMbAPC211thzsUlCQ7Krap4cq2vDA9lUU3rxxWm1pm91GWvcCibU1KOazp71o7dlHtjPK8v8uIJJiRiYkYdHy1H2cdUbJ7V1y2Zdd/1mDQ9FOSg2wGXOkMuRUnnxz9JVNnuywagSRoQ1/NhCijcoerBlwsi0y5xWolW2DyglU5aMKqMmWGFa57quF1qqhMT+DWFbkqB4nboJELx06s5VyM6VxOQqUSZPZjI8WTglyZMVjSjeuFiLKnniINn3EsrWrA36x5VuUNiTJGmfL1Ca2xwQFFSCUOhQ8MChkKHggXUTFDjQhoGe3GEs6xRyEPT6QS9W+gYvCap+QGlqc6hiQKVeQNs3BCC3h1wSUIo5h14derHc2QfggjnhwnanuGB82IOAYG2CC+vhCFWfflis1MLF/bpj4xIP/bJpenpasYJw2223qdFo6Morr8xp8xVX6IprrxL1psaWTUl3NXXCjySOn2np1KkpvfjseW3bdlov7BnX9FjdnUJd8z1pmBw7pmNHjmvzpo36s4/9b23eeoMG05Pac3Jc12zYrL/9m4/r+rvfqKvWLNTg8AJ9xVveqD/77d/Uffc9qM8/+Yyu2HK9ju/bpfroel25ZER/9clP6Yorr9fEmbNeLkyFb2UAN/Z4gTKfb5DZP7Mdov6dSkOhQ8E7FvVcjPIGVT+o6nbpiQPyDkpdG1Tj4PL0SAXVmMAuRNDxB/rWE2ingI4cIFCJgape+gQPgv52IMxtgo4O5GUAFTt09DBArw4FFg05fIKAPF/IQdCtpxLSdPOseQxmZ5TqsP9XLRVbIrADidK04ccMYzpxsuVJwUGP49Me5OYr0QLJg67S+eaL3D4SSTXTGWWcMA/ap5GRRDfeeJWu2LRZA27vysIH26t7tLNAWilK8GMLHRMaU6rTioE2BnvkwV8NrxrUPEE4IMn1ty4PvIrVkGxCGfFRy2nbz7ruRzzpeFG12iE13GwTt+V4jWaTE31B++x8LkaZcPmeiGmh8GSnxhohT2I04ZftrJKaJwzUBf5fXELpgH07NFcIFD6lvbtugUFhB0KtEJCXUQGtQIED1oodyH2BAug6ArmtC6roZZ2gvx/QHdqOBXIZCl5xsgL4qLaPujYgx7ugXATaHAo5B3yAQocOh0K2Oc8HHb3EgpcEl2cv40oOlx8PX3hMlA+dPFDIUHApPAqCKgbkr030CIXHZR7j2xafeOIJPfbYY3nkiy++6LuUF7V7x07t3PWMJu5saepN0rmxaR09kGjBvIYWDja1at08N/iW4ktcTk9MqJG2tGvbc1q55U59z7/8DsVjgm96z3t18sReHThwTmdOntCxY0c0dm7CuZ93d9LQPE9AHnl2u977wf9Di3RS13j1Yd+hHbrq+pu1cOistm0/qPFzqU6dn9LGjZs0PDKklmfiyhIlvhtQvmX58Z/7IRoqUDkNIP/ndoNQxaCql75AKVZ4lFMCUPWBuXWgpy6RBwjWJujoQCUGevV24IwAzEjKY6HQocrlDch9LLZ3qGJAboOChwJVGajkAcKtL5YbfAAqdkMVHQo7oLhTkzfoYFa79roH+3nKPMBnfhQnzfP1PaxYRYjL3WGKax5HnDt3Xof2D9m+SfIdfKr73Q53KpPvkH13n+qMlA/Sg0ID9lvmvEctH/VjhSHddtutWrVquahFtoaUpAKZqJDwBMXtrNlsKc3OOf8pTxBchiaVaIkyt78sqxv3xCHbLUdLGrd+TlEvZN/spEizwubHhEmyRA22qpZ4QhNoYpsLB0d/CSjNJ0QxWTqjZvacz2uP63tK8T4PqLneXqLRpddFXRvMHRducGF7+ARB4RdySVBg0OH9bP0woIQF5FQCUOhQ8H74bGwuPXCo5imx4EFQ2IFQcwIqdQoQCJYTULEDOd59AHp8oIMB3e4V3zAAFQwIOCcgtwG5Hgcgx0IOggvrl+ID1Rz9YkoseDcB3WouQy+W5JbLPMQnGWKCEI8Zli5d6sH8gCYnJ90BZMpcxqQbeDrvvOrHUs1/tqEzRyd0fnJQ19+6Wms2z9ey5aMaHl2mU+OJEncYUxPH9Du/9qv62V/4Bf3FRz+mH/+pX9Jf/Onv6Y8/+jf67Cc+od/7k9/X4YO79Ud/+L/1Cz//c/rV3/xdfepv/ly/8Ev/Q7teeEY/9TM/Zp+P6pd++X/ol37hl/Wxv/xr7Tu8XX/5p7+un/iJ/0v3P/qMWq4YyuTqmeJ4mSf9T9QdvnjnAtVcgIDKmcPl6WUwFHHABXMCZUjO4eI6dHygI+cJfIBezHC+A5X6QFUPJ+hg0JHDFgQXxqCwA+HeJqBSdtswI8TEDJjRqgxwbKpWOqbMy90JyzwhqAsNFpML7E8iQFN+zrBtuzQ+MeAB+6QHYIRaSjypsJfIPPjigd9T8IQBZTqklMNeMWhp44a1uvWW27ySECsNjvMdM3neLEJ7COqOn1bamlJ8p0LCWvt44qBp81TiiGm7bbvNx7R40TytW7tJebkejDOWSckVgoWSVpp8155lauqUavVJx0mKNwqaXWgHnOPS6EJ5wpZlqdCQy12qmlapxmbXd40nLgtdp7DZy68f9JZnS3uHC9vbjjMCdPxnoAqDXjv0Yt1BUNi/WFjkgYvnhMv3gf4xUWZJUPUBSlPO4cJ6OEHVJ/P1FngQVG2AgDBdMsGF/aFqh6reryCo+kBVv5SY8IGLxyXheLkU35Pw1FNP6cknn1RMFoK3WtERuB05WdKqaeDTQ6rdW1etOawT5wb1Dd/7tL7+O57X9/7nnfre/88u/csfe06nzzXkbk4tGn4kMK7UE43Udw5jEy1NtxK1/Jiilhpv+UTcEYbedIc3OT2tzJ3Q9JT93IBbxuL3nJrTk/mnF6bjn5w2FXWanJpUTBAk53BpmaKOIQdZ+We8Q+85wMUxuHwfQEDl1YJL1zP/T6DXHzoYVGXo6FEwvHQdyOsPRKqcoCpDRw8HuLgOF/eJXCUBfesBBV76BQeC5QS044Ack/Bdbeqr+qTpoNWWWjoskkkPYnVb7edB/cBedOrYzUq0WZnO2++sJ/Tj9j0qefDOsimhQcup7cdNJzU4eF7X3rBJ11x7pYaGGyJSOYOdZnaM9VJqa5YOKW06V3bAjS1xWc0Zvt/yQeEhH5e+zmEGjAAAEABJREFUfPky3XLrnRpdFOdxSsrGbWt50tKS0nNKeVHiaddnh/FUNTWkpKbEqxWAYG7SZWwwd57EeTK/Rkr9enrVIHH5aXber/tepXK9ksz18flhxz470K5nH3PbBoVfP5/AoLADoVYI6MkDVawSYAV67dDB7JLvcGEMyP3iAOT1CLkkqGJAboKChwIdudShg0EhQ4dDIYd/EHR0oFIPuLB+ufHh301AWwXysoE2FgJ0dCD3CbwkoBRzDhfWwwku7ANVe7+YfhhQqV+0gfB7SdSv43eL9sSgrqTZUH1sRI1WpqF587T+mhv0sje/WVff9QYNLV6nyal57gg8EUjqatQaGhz2TJ1EQwN1RSdno1I3ypbqWrZ6vRp+DlpzY0XufMhc3y+o6o7/570DPScAl4bNDoRqHFT12f6hQ9UHvng6VHPNLg+oXMQXswPh0iagJ75ttAC9dsCWzg69OvRinQj1lAnMiQGKDejx6cZbzcSrcXHHvciD63zVkjWq1UbcDJvCA/GZs5Pac+Csl8n/Tk19TmKPYErSComG/dyWOCZ03PFIOqaFCzMP3tdr3ZrVqtUpfGyJHRAUFPpsws0SxtX0JB9dbd9EeHhPTFKUO6UkkbZecZXuuO0Ojc5vqDk1aOtaicStOyYpxxRbIq8oaIsSrrK6QEm9pixpKgPrTuJj9w4IXjp15+rIDcUNiNRSJr+O6V6JM0IbVE+W+7VO/LoNWzfvKlsX2KBTx9lu0LFBR+72gw4OdJvmlAFBQf2cgB4YqhiQ5+hxnAVArx/Q9oJChoKHAejJDYQpJyhkKHiA0JHn0qHjAx15Lv/AS4K5/YFKfaGqRw4gWJvgi6tHYri8nP1i5sICD0ri8FIJqhUs87RqqWpMq6ZJTXsS8MpX3K0v+/I3aOG6hq65c62+5ptep7e/6yu0aMESv9Cprrn51foX3/YtWrzhdn3gvV+rxryG5g0PSo0hLZg/outvu1vLl6/QYN2zdt+Rpnmx+UH/b9rA5xx78FknDjbMYDF5CxE6WOhBUMWgV4deLGJLgrntgP+nlK65DB29bZgRgNxnRu1hcHl2oJID5taBvGygHQNVGch9Sge4NB0oQ/L4JEkqOpDjAUIhA6G2Cap6GIB2nLxKMNUc9+A1YawuMeY73AnzpgfWpgffhl54ZlpT4ytFNuDp9oBIvXyfpvbxJN135olGRLbMOQ6J5JhWrVqgO+68ScuWLpcUdU6EIwEBxqo7kOMwwzOUeiUx04AarHN9jinjuFK8euF8dlNjcFoLFs1TK5320Duppk6ajogkUz1bJ7TRNOKCBkyTStNj9ntM9fp51chUyyTMYabMGa4vcINqPgjdk5IsUSZc+w0uf5NgmURd1MaUJEheuRFNdW+A/eam0hcu7hO+0OsXeBB0bKGXBC8NL+ODQ28OqGJQ1SMuCAjWJiB/TQIAguU6FHIA0JFLHXqxsAUBeY6Qg6Cql1jwICBYm6BXB9o5gbZvCPAPq3f3E3OVBxeuQ8R1E9A+nxIHSrHNoYoBeVzS9ngJQpzQ4sWLtXr1asWPO61bt87yKm1cs953N8OabmRqrpzQZP2cntt2j5YsWqapifM6O3ZaS1aNatWaJV5+TNR0Q2s0RvRN7/xytRpL9R9/6Ef0b//19+ud7/h6ve+b361r1i7XK17xWn3lV365G6kbpycK7k9cY0z//332KwDk/9xuHPpj3T6l3D3JAEo45zC3DnPbIhjI6wWEmsu5MHMAKhgwYykYMKcdqraIAIK1CTo6dORwAObM3c9eYsGDoBrfD4P+PuFbEhQ+QA4Beb2g4Dk4c4jBO2sNWZtyOzptHvs5Neoe1LIR7dm/UydOvahW9owSFqrFtDIGTR7QslNKNOS4/Q7ao8GBmrZeuUE33XSNV/NGhK2QqdhqgqJ8qPLCri57TWnmcuIGQTvcXhd7ErLcdIUzblVMACbH1uqxRw/qk/c8pnvvfU6HD3p1QUslTy5aOuL67XZdDyvTcSeeEsxXnatUry2Qspqkugx6r9YFvti6JE/E0jTqcN71Oe9zO2zyaoJOKKlNuT7zRDbgumSm3vI1xwZV335u0PG5VDv0j4EODoUcOaGQoeBzYbPx0IOAYG0C8tehBKDQgRKq2EsQqnbo6OEDVOKAgNsEXLIden2Bdq7ZAnDJuSMWLu4ffiUBpej2WFxHbcACdOxW8x2qGHR06Mi588wBqjhU9XCDXiwJw0uleG/CmTNndPLkSR09elTHjh3TiROndOTkYU0OndP5WyfVeFWi46dPafGCrTp29LCOHDuqw4dPaOehp9RqjYnEVWhJTz71rB785F/p3IQ0dWKvfuN//ZqefeoJtYYWa6iGPn//A4VvXlmEeZBbaVuy4L1AlXvIGzMSljNTsYdWlTpIFS+0djl2826wOGomu/4RNyjrUlQCqnqBVo/Q6wO9WHcUkF/EJQYX9i/9gkPVF+bWAQERNidBxw4duQyADgZU8gGlW87h8nXoxEBHjoTARcsDwrVCUMWgqoczkOcGrGZKfTdOusoDVQyg8uR8mWpJojNnz2vPnjNKtF5oSi0d9SDnyYHGfLe+QDEByLRDWXJAQ/MmdMMN1+jKK69So1G3jTy3aFpOTaEb6rMDFTu0fI3E3XfDTWaB0mxcGZHTqxUkSjXgLGuUpgu90rFGp0/O19j5SWMe/F3vzDVWNiqC5Lpna51/SGk8IrFLlqRSbVqEn2LDh5KifYcc3HB7D6ytXIaAEk+qWn50SrbUZY5IDKvGetWyKxWTFmrjknyu+XlZnLUDgirNcslVqPoAOV4egHaeEuvmQLeay8BLismDuw5Q5OmC8rylDv3tQOmSc+jVoYMBl5Q3T+YDFP6Atd4dqOQLDyBYTtCRA4BL14EL5o583QR0qxeNhcvva6FTBnTkSsGzFOj1gyqWzIq5LDXuOOP7EiYmJlTS1OSEzjcnNfWWKSVbpfFPTenZ+1/QPX96vw4+P64V89dpxcgmTZ+Yp2NHxqR0Ukd3PKfPP/g5fe7xp3XPJ/5Kf/x3D2jVitWamB7Xw/d9Sn/x1x/zBOS47n/oKTXdcSX58l+mvCuonI9fWCUqoDgWRJa6k/Gp+a4gEM34ZL4jwasSmSOw2T2TvFpqzTmymuXMKNZRK8nMpZZzKFPsthV75s4vYqtoYftiHuP1dnUrKYGK3k+Bqg/06tDBAAGVVFDoUOWlExR4Px3mtoU/VO2BlQTkdQFKKNdLBTp4YMBF7eEXBL2+QJhyAnpyAbktDsAXxQ6dPFDIQBSRE5CXA1R1X8fNdMzX5CHF9wpkeGleh3T8+Ek99vApt8lhpYqYRT42fIkO+xI9rZYOm4fljFb4scIdt71cq1avNNYUYMpM5vngl7hM++a4sVncxsqeebDMmpmxISW0lGmf5eNKsz3Of1yJ5hk7WfBswvI521u2HzGfdLkLzGMiMeXJhu/atdd8t2rpcR0/tk9HDh7V2bPuN7Km/aJemWOCu25JS7jOeCKBS3BVVaVAE1sS4/a3ES7MU9cw06SPLo+a4+qS69JKdiipn1KS1pS6b0jUtG3uXOraoNevy9wWoepXGqCKA7kJ6KlDbvABCpvFyg4FDgUPIxQyEGqboFcH8jLDCQoZCDUnoG0PAAodCDUnoMcnN8wcoNcOzFirDMhzAW0DdOQAoaNDRy5t0MGgI5f24CVB1V7iwYG8LiEHQa8eeElAKeY8VupzYeYAVTtU9Rm3NoNeO/Ri7YBZQow3ASVxeKlUr9cVBJ2CY+hOvAqXPJ5o6P6Gho4NuKPKtP/0IX3y8w/pT/7g4/qzj31Sf3fPvTpx+qxt6OzJnTp5/IyXRVMd3P+8nnnyfn324ae1c8cTuv++R7Rt54saGzujPbv3ucOI2qIMl2TCjRS5KbtDSjzC4y4ws0tqQoVPSl21AG0PJuMt15nwRcr95M3GkGV7fKwMTxTk3EGZu5aaJxvxRS6tpO6OITHSVIbLzuIOCetOoC/dBq58V3GAgC5EF9V1CRtcek6gUibQLgGo2MIABMsJqNiBHC8PQMVe4sGhaoOqXvoEDwKCtQmqetswI0DVDpenz6S5IINqznCGXizwnGxLm3FtxzPyASEPsAzp3LmWJicGpMyTBE7btS75jhgP4EniQTo5rHr9pDZsXKVbb7tJCxctEC6m6JQsqLMBttEB+khA7gNuPW6H02lLSo4q1bOqcVo4pua2mumcJwN7pCQG/pgUbHcdgzeUsMZte8R6TGC8wqEpgVcR5McUbFWSrdH+fUd0/+e369OfedD9x6f19HMv6MDhgzpz7qympiZm3guRurREwrubI27DrpWkmnPX5S7AZIORS9kTUCt1O89aamX71cyec/wpT7g2qJG4vm7/+YpLFHiBhICgoH5uUNiAfuYcA/IcuXKJB6DiCeQ5gAo+lwJVP6jqZRz0xy9kh7ljoNcG5HXvlxOqtvABguUE/IPERnIgWE5ApZwAgWB9Cao2qOqzg6BqByrlAZUQqOphhCoGVX22j1tTQC+N4iOG8cihGl0UOLDHdxK7Ep+A59hbpjT27rM6+d6j2veOfdr1tu06/3Xn1Fx7Th5fJbfZTCiRt0yilRhqKksRZO5sBqxPiwQ1fCvdRPbFDRW1an4+kbrxy10BMt6UQpY7KvvKjTizbqucyrksWajZ1kpSdz4o7gQMKa+LM5CmmibxsqxzSMp8BzHgZd2m6gqeKXOc735o5Dl9hp6EpM6dn4Ej/qF3BFy0ELh8H6jGwNw6UKkHUKkTVPWK0QrMbYeqDTo6kJcLOItyWV0bFHhAQG4HQs0JqjJ09HAA8pjZcj+9xIIHQSe2WwdCzfMCOc8BH6C/Dtiq3Bdo83KGD2i62fTV2PR16DaSTQhfv8qW+L72rDLblXlSoPM5nuqA4muXhwcauv66jbr22q0aGEgUbUxdG3TK6oJzETo2QMXEQs6BYoOWsjRzo3G9sgc8KXhWbrVujeelZFLihPCgm5qLJcrcpuQJQaaTwgOxWKGYHCRa6jOpKX5mOtVOt8dtQvONXaGpyfk6f3qNXny+qYfuP657P/OIPvvZB3T/A4/p2eee0YGDhz1ROu1BPXWZrgtxjpJcN0hFrDhgFQRzk7xlbtXuDuyXqaarlGRbXYcNUpKoVkO4/tgiagLrXaQ5NriwH1y6vSwC5o6Bjq30Dw69OFwcg16f2fmg1wcKLHxLgg4GKGi2rRsLW7ceclDgQd1yPz2wksI3qFsv5eDdttn6hWyzfUMvKeJK6sZKOXjYgweFHBRySbP1Ei/5bHvoQaW9H+9nL7GkX8DFsFqtphtvvFFXXHFF/gNP8TsOgUWc/+WqpR48PXAPTA8qBvTp1U2NvGxUi+8c1fy7TS+bp5G7hjW9uOUG19J0MqQrr71Fd9x8o9ZdcbVe+4ZXa+Gg74RqA6ojDc1fqDtuvUVLFi7S2g2r1cCTAtc8cQPO5i3U7XfcrjtuuUWbr7lOt6mBL6QAABAASURBVFx/tepuvAP1umr1xI06US3J1KKmWq2u4ZGFetVrXqmRAdRwQ3cF3DkloiaLDZHU87iXvfat+hff+g3Wa7rtFa/VB971NRpZukpvfMtXat2iAa1cu0WvfMWrddN1V+h9H/h2ven1d7mrcIekf9gNcGd08TKAizpB1QcuT79QAXB5uaDjDx05yoCqHthLIcCvHe1Q6MgBAnPaoWq7mH9pD14SUIo5ByrlBQgEaxNU9TAARZwfvaXZlCG3hwzFFxWl2QFzT9CzVZJavrYHTZky4+ikRkdrXj24Vhs2bFS97jbmq96OeT4g56HPJuhviwkLoLhZaHrCMjk2qVOnz3iSMOgUg8q0wGXH8/xb3RZf77osUnwZEbraJV8lMWpK7N+UjGSxtJ94gqMxD/K77D9tW8P9wCbnSpTanmiFc9btP19JusqPVUZ05swSHTkkPf/cEa82bNOnP/2I6TE98eST2n/woE6cPKFJPwptNRPFmz3TmMg4w4V2wK+HX1vftKTyIw7GJU65Djtdl6eVNM5ad5sPP6OatQGO79Asc1uFjg/QxksBmDMPkLtBwXPFB6BvDBS4XSo79OJAxScUqGJAXk7Y5iKgYgIuGAMXtkcyIFhfgqoNOjpw0bK7kwLdakWGqg3m1qGwRXupJJlRoLDPqBesY+nTzeHy4qHqH7mgFwvcrTPY5VE8Yrjuuuu0d+9e7du3T/HphoGBgeLEiEbTVBSX+k59qjGt+fX5+vab/oX+Pzf/sH769p8x/8/6yA0f1lB9SElrWI3RlXr/hz+gVcsWehJwpf7Pn/hxfd3bvlzf/IEP6V993/fpVa94pf7jD/+Q3v2e9+jtb3ur3vG1X6fv/hcf1lVXbNANt3y5vvZdb9eIJxWve9Pb9J/+o/3e/U36V9/7HfrAB75D3/Ced+hDH/yg7rj75fqe7/oOfduHv1P/35/8MX3LN32LfuTffFhv//pv1ptffZu+9SPfrW/9lm/S+973fn3nd3xEqzdepXUrR1UbGNHdr3qt7vnUJ3Xd7XfrI9/7b/S2N75GN9z5Fr3lda9QrEh84r6H9CaXvWBQ/ygbIKBdNnTkEgR6fIDSXLEFCB3b5erQiQX65i4bC1TtQBSXE1CJhaoeTkCwnIAe/9zgA+BjZ4e5dWDOPJEBqvYSKznMbQ+fICBYTkBeHhQ8B30AfOzsQNsv0MxL6S0/bkizVOK8h9g1pg0ewDzIclrygArHJM6J5KRWrVqoO++6SkuXjioekzmb89VMiSTUvQGCDhW2jm6TB2oP6ZOTOnzkiJ599gXdf/+j+sxntuuFF095UP9K1+VuTwjeISXXKUvWKJMHd08KWpqwPO34MfssktI1Lmu5MiaEzgjfYEierLNV4IlEtsSTkHFX4ajwOWW0lDCkTEfV1AnF6kOm0Idt92uQrfHjh4U6c2pY27ef1kMPHNDn7n3Ck4Z7XccH9PCDD+vpp5/zasM5520JMDkNQVhOTPLmvszH1KuORH5PxLKs6bKXq6Zb1UgWyt7KVyd8l5EkiRcYIhZH9e6AfXtptid0fGbbQi/LCTkICFbJnQNdByC3d0G5DnRDPfUHevxgNqYen6gjoHIDenyA0ty2QS8WTkDuE3JJQCnmNqjqbaMF6Nis5v7Bg4CL6uEXBL2+gZcEc9uB0i3nQE+5uWHmAMxIyv2gqmvWBrhNFddsmKDjfyG97Itn+wB5uUkYLpcAN8KpfDXhjjvuUK1W01VXXaWrr75am726cNW117gBJRpfMqnszmmdHT6nJ488oY/v/TvtOPuC9k0c1B9u/2Odb513Q5/S1Pgx3fvZR/RV3/wRvf6Om3T27Ck9/OQzWrhsqW67+1XauHBQe3e/qPsfeV63vexletNrb9cf/u7v6eiJk9r51CPaf6qpf/Vv/r1WLlmgF154TGeb83TNxpVqDS/ULTfdqJvvukvv/pp36Mn7P66/+9t7dPrsUT3w+Da9ySsKN3hFZOvmtbrl2rV6cdteLRhdoBtuv00bV40oyRLV6sMaqWc6MoHuvPMuffwv/1xX33yrdjz+GT118KQnK9/m+p9WfXC+Bgfrl/tSvkR/2nHQkdvgLAGqPlDo5cUBhV6GwUvXoRpb5iw5FHYoeIkHh14s8H4E5BdwaQNKMcehqreNFqBjs5r7B+9HcGFf4KLxQDs1cEH/+J9A4QPkcUBPDBhT6rtiJDywUlNmLEuaUjatxH/SeXsc1MDAOa/4rdXNt1yr4XkL7F8TiTsTh9pZxZbIXYxJSkgM+VoGBYAPmScik5Mtxa++Hjt+Urt27fJg+6wnBffr/s8f0YsvLtKJ41erOfEGpa0tLneRMq1Wmh1yvvkuZkINDUjxaCE7au4VD3u5V7N81tIel1I3rbDvEsfK2CnTbtOLpkO2LTA/KrJ9th/O42rZtPGYQDSMTUjJgH2axmLS4PPIPCFqjWh6er3Ojy3TkSNXa9/Bddr+4pQ+ec+D+uznHtCjjzyr3bt36fjxYxo/P67mdEvKULxGCZnS/Nsjo+7LjM93lVOf1zHVauftlro+UXZmvCBXTOD4WRR4P4KO72w7dGxAbs48aQkC2uXkhq4D0KX1itCxA3me8Iq8waGDAQG1fXJljgMUvt15+rlC4QdcNC/QTgEdOUCo6oGVBFUbXJ5e5gkO1djASgIueA5A6XpBv3CCjm/oFyLo9YVerDsHVO3AnHUq/4duRd0pLl2eN2+etm/frqeeekqJZ9Dbtm3zAP2Cdu7Yqaf3PKNzd51X6y1jap6rqTne1N8c+bj++tTH9Uvb/5t+d8dv6dnzzyhl2o1MGh4Y0pLRUe3auU3PPPu4nn/+kF7xmi/Tdddt0enTx3T4xHFNtup6+ctv147nd+vZ7Qf0Ld/yLVq9coXWb1qr5th5PffsE3risUc8sdhsfFRPP/m0HnjkIS1bfoUa0+P67H336hVv+TrdfdtW7XvxiG68+XptPzmt9SsX6fSpKT333PPatX+fNm5Yo1MnT+nsiVM6cvKsJqfGdXqiqQ1Ll2q4dVx/+se/q6NjNb32Na/SlZs26r5H79eixcs1ee6Yzo6nl/4CfhE8gZ4sUMXgC9O7CwAqFxRU9W7fkIFgbYKODvTkKh2h1waU5kpcgHBptn6+UMQCeV4o+Gzf2Tp0/EobEGJOQJ4vV3yAqm4otwMh5nIIUOghB0GvDjOYVxKU1X1Xu86D10IPUudNp4TOexDb7fBjGhqa0k03Xe0J/GYNNBLVHIvc7B2LB8CckiklpMLkEU8t40o84HpAT6eaviM/o+ef2657P3O/n/0/6EnBk3riCbfLwys0dn6xJ9OvkLhC0jJNc9b8ankYdVkLXJ9Y0djv+j2jaX1C6JwSLXExw0q1X/EbEconD7EMV1OmU6aDEnX7zlNNa5ToGiVsNOZBGk84tFCwVNJKpc6aZT7X7AWXcVxJetL4aeOpMi0W3GbZObjL+FaJUWVJzVim6akRnTi6TDt2ntEjj5zUvfdu0yc/8zl97r4H9JgfU+zde1BnPWmIPkCMKU1ecOwLfm09KXOf16gPOr/rSSY8OQOsV0ldG1RtQNtadshAO0fb2CVAfzsUeJdrOw90bFDIgIJm+3frIZc+3byUS3voQaEHhVxStx5yUNiCd1M3FnLQbHuJBQ8q7bPl2XrpFzxsJZV68JLC1i3P1ueyBT6Xbz/bbN/ZesQEBR4UclDIQSEHdcuXoofPbLpYDvcWs0Murk9PT7uTeELLly9X/MjT/v37/bxvUmm8w8fhtUnPqIfrSk/WNPw0Gjg3pOkj4zp3bFzHDh3Vnv2HNHR8QLXJYcXSYev8Cf3hb/6KfvzHf1x/9jd/pX/93f9K/+PX/6f+5Qe/I1/6/6tPfkL/9gd+SP/jl35RP/5TP6mf/7mf0//187+k5154UdueeVC/+ss/px/8zz+iv/zzj+o7vvvf6lf+23/Rz/7P39ET992jD3/k2/Wd3/s9+thH/1w/6vy/+du/qe/9ru/Vb/76r+l9H/iIvuu7PqI/+vO/1C/+8v/Sjt3b9AM/+IP6gX/zr/Xbv/o/neO3lU6P6RN/93Fd6RWSX/i/f1J7DxzWT//UT+u3f+u/6Sd/9Ef067/+l9q4aZ3+4qN/rPHpls/+H2+f/c/+QmsS+YIuNc+FfF+qbXbZs/PM1rv9u20hB5X2brnESh4d9mx7t94tlzHdfLa9n96NlXI3L+Uyb+hBpZ5zUjWzM2rpkAfj80qyJUrkyYIHYmrntGHjGr3szld60rzeg62X4rOG2ygO9aAWA5vwX8MD9rwcy7JEsVpw9vQZ7dq1X48/clD3fO5pfeZzu/TCtj06N9bU5NgKtZrLlHqS0dIJZR7MW3rC5e+QOOpcp5XomGmf63aPsWeUpo9J2mna4/JqOYmmYMD+I0o8cCdedbDic4gJwAKLQ/YfUsq4aZ/P0fHZOaHFwv5ZJiVqKNM8iYVW5inhDvuuUoOvEbrJtFUkMbFoKJVU41ofB6V0yvmbqmmZ4w3l+ZZqurnA57dex46NaMeLp/XQQ7v0qU99WkeOxcSnoSR1vmyrEq1x7hF5riExLRmRXw8LPTsgKKjHaAAKW9xoWa3sUNig4BWjlYgBLHV2YM7yoLCFd1zjwaGDdetAqBWCDgbk5XQ7AN1qLkMHg44cRujVoYMBFywDiDQ5ARVfIMfjAFRsgZUEvTagNPdwmNs22xku3beM7f6/lNjFOFTLgcvT++WHTo6kn8PFsPhUQ/yo04MPPqigkAOLuMzNueUmWbtXmv+pUTWawxp6tKY1v7JMG391rUb/63yN/uyIBn9+RMPb3WDdVFvUNem7/WzyjDubmiYYVDOdrwl3as3pJWpmdbWmJtWcmtK4nwnSPK/xKZeSJl5ZnfAdgTsS61mraXlKE81MzWaiWjrmvNOanErcUTVtm9T0dKYpT3KaraYmps6bpvN2Pu5GnqTTmp6a0FQz9RLjdJ6nlrW07YmH9DFPVMam5E6lpmzaeZpSOnlO59xZ/f2f/5HufXSbbfEKfGkIOv/EuUqEqg9U9bni+uFw4Vio2qGjQ0eO3NDRoSP3s0HHDh35cn3DvySYO0/4QGEH8s4FCDgn6MgBALlPyEFAsJyAii1AIFhOwCXZgdw/DkAeA7itxHWd+bobs2nC+Lh8cVoeVpKt8gpZU3v2HvHEdpfOjZ/WdDopJS3F4CK3u3yCno5rfGJMez1xf/SJp/TZe5/0isFOPfn4Ge3bv1jnz3yZWq3XOOd6lyO37vPmTQ+yHiizheYDwiiaUJbus22HWtnn1Eofdkzc4U+6LktUy5ZIWebdA26yX42Bs6rXXW+Oubc4ZDru2HG1iMcQ9lPIzxs773ifT+obCrnsbNK+LeNnnGtUjdpdqvFa1+MVPq/Xucxlaqkm4cbKpDKfX4JVWU/PuA4nVPegDgtc75g6jLtuS5XFY4tskfmIc7tfyny+rQ2antjgl3St4+I8sf24y99eMSbSAAAQAElEQVSuVrZPSX1C/jeYMCWm4GiuDWj7QCF3+0KBQcG7bSFD4B3qHlCgwMOvJOjFwgYFDoSaE5DXLVdmDjA3BuReQCUOqno4AcFyAi7JH8j94wAdOfRugqoNaOeHjhwxQLA2Qfw/s1wH2nEBAMFygo4cAHR06Mizbf30wEqC3ljoYNBfjnjo2L5YOvTPmUQBX1TyYFvzo4HByZpq44lSWkqm6ho4Nar5pxZr4dEFGj4xT/NPjmhgquHGnamWtsxTN86aBoY36k1v+Wa99s3v1ste8Ta99i3fottve7kajYZaNJVmg142nedHFM4dzd3/44xMSZpIntovX7dBozX/85HiI45u3RqoN1QzkSVKiHJaGpq/QEvmz4vuRGO1ump+5jo0ON/lDLkDa2iwER1V4npJpJkmXMdahs8nFeZZ5MnqqqdS2po0Hv4NfSm2Wf/L/OIGn3BX4XBxHTo+QJ6nTAGUYl8OHTt05HCGjg5VGap6+JcEHVuJlRyqNih0oFLv8AeCtQmqemkAKrFQ1Uu/kgOlmHPo6EBPrtxp5gBfmH0mTYW1WtOaGJ9QQxtcdqaWdinTOaEFvkbX6PTpTLt2T/sx3Dndc89efe7e3Xrskd164YW9OnzosA4fOKHPf/4R3fOZT3rVYFx7djU1fv5uNVtv9mB4ndJ0hXlMPAYEKyUNCpdmQaKlVFOSS5SxLJsSLLY6pEQrLK+zbYWULHG9ptWK9gLGG9py5Xq97jWvNr1cN99yjeqJ6+uWSDbi2EWOi9WIUdV1tdvlZpcwJDGuJFtjvlCxYoC2qMaXqaWVrkdmnwll6WGX7zrgyYBclhb4OKbMNxswoqael1znaT2iVDt887HP+nGl2iU46ryewOi4Eg0oc3mZHyFkJGo5Ukzbz48yzNFq13mDy18g2dvOkvsmzWyA8xU0A83JoPADenyAC+aBwt4dCAUGtGGgJw/QtncL0ItDLzY7BsjLKHGgFHMOF9Zzp1kH6MRAVYaqPit0zroAc9oiBxAsJ6jKUNVzJx+AS8oJhR/gqGKHjhwIzK3D3LaLxYZ9NkE132x76EBc4foib5k7qEQ+Kk1SN2ynd0GK+nggbiWZC02U+q6imdTVSBM1PKkw8+y8puH5Z3TFmkkNDG7XU7v/WiPLd2rxkiHN94AOOHdNL3vr2/WON75C9caA5s0b0YAnEIPzLQ8P6eaXvVqrFy9R5oE/8PnD87Vq1TotWbFE80dGNUiqwaH1es/736OPfP37NH/BYs1bMKKRJev09e9+h+56+Wv0mjtv04q1azQ6b1hDQ+53GoNaOLJAA5bnz1vqcvF5xYRBPq1pRScpTxzk7sTKP/oOVOoA/7B6d2FQLavb1i1Df7+4OwIEtN2hIwcIVT2wkqBqg44OVPKWMcGBYDkBFT+4uJ4H+gBVX0MXzHWpdqjmBTTllbXzYyc92D2uTNvcrlKnm7aceljz4K5RZWnDNKjW9LDOnB7Vvn3n9NyzLT3w0B49+PAeHT1+3hONecqyZarJd83ZWWUcc561qrFJqbbHFEBKj0vZWHEuHswzeUAl7qRH7TMuXHoml01TWQyymnRbXSalCyU8WWCd+WYpu1I7dpzWIw9v1959+zwhMeQ6Jhpx3LTzDLhthf88G064n3hC0jb3DfsV70tIfIefJvFeh6X2P+wy9knpeSXyCkJ2SkmSWF4sZcOOawia1qeU8Izlx53vcSX544bAxnzerjsnhM4ozfY75pgx58xOKIlzNI+JgrJFSrjKfj4nas7viUwyLZGoFlyDAnJS1wYFBh3eZa6I0PEBKrY4L6AnfzjB3HjYuwmqvlDoQO4G5GVAwXPQByh0wFqxA7lvtNkCUa5rZoPCPqPmNqBUKzpQ0UsnoBR77DC3LYKgag+sJHhptjI+OHRyzNZhblv4dhNUfbtts2W4dN9+sVCNh6reHQOFLekGv3hy5lQuIB84LVqtJ7X2exjWr1undevWas2KpVqyboWmBhP5Jl9ad0YMNXVy0SFtG3lKpxcf1Lah53R2yTF3EqiW1lSrD2rD8uW68qbb9BVve5Pe/KY36e1f/Q697Z3v07//ge/X0nlDerWx173yLn3NO79F3/s9/0JveMPr9DVvfac+8P5v0NVXbPbFluro0RN67JkX9PavfZd+4F/+S73+rrt05ZWbtfGqa3XLrS/X29/xbr3vm75RH/jQR/Sur/0ave0d36bv+s7v04c/+I269cpNSrLokPVPbgO/7l/EWkE1H8ytQ8cG+HWmXRPoL5cOUNih4LPxUu/mcGFf6NihI0cOqOqB9SOo+kFHByrnODseqnZgtssF48MZ+scAnsAOaGR4SKLm63Gd0lhe52SuK78+ByynxjMPqEEtZZmf8yvx6teIsnSJyNappuvV0nb7nVCW7TAWd9zPuM09KOmQ773/TBn7XFePjTru6AmJQ/arK3O08nYeg7YHXI0qU8v2RFleH08sPGWRJw1KPfC7rs3WPJ08MajnXzimZ54+aO9xkychHtBbOuJ6HFKmc0p9THSF0LVKWKsUn48x0tMiWW59r+s7IBhWXWtUS6I+LdUbh7Vg4SGtXbtd195wXK943bRe+4b5evnLr9f116/X2vUrtXDRqP1SxzQ9OZhyHp+TJpx9zOR+SC7fE6MkO+/z9LnqjH1elLTb/KjiEyWej0jy/yermWUqN0BQUIl1cyhsQDfcIwN5njDMHoihYwt7EMyNAeHSJiDPDVSw7nLCAOR+Ic9FQMUEVGKgqlecrQA+dna4sN7xVKUceYO5Y6Fqs3t7h6oNqnrpCFUcqnrpFxzmtoV9LoJqHMytw9y2yA9Ve2AXIuj1Ty4U8MW0xZsaz5w5o9OnT+vIkSM6fvy4zp84qROnjul8bUKTN55V89XzdEgn9OD+h7T2zBUaeX6+tp6+Ws8dPaTxqXGlZFq0cYs2XrlUwws2aNOapbrnE59WMrpe6xe3tHPXPo36HB/Zvk9f9mWv14uPPaYHn3xGGzZu8tLqbh0+OabVnpTUGtIj992vK267QwsG6/qVX/xF3ffQwzq8Z492bX9Bu/bsVjOVnn7kQZ2fRqNDw3r4sft1ZP8ePfbULq1cv0FyOfonsEGnItCRy6pBFYNL1+HSfcvygkMnDhAQcF8CKnag7QcdOUCg4htYSYA772pHXdpmc6ANAZWcwCXb2o4WgDnz2FyxhR4EBMttQM5zYOYAzEgdBh0M6kqSeULzPLCZZ1d4FF/tQW1adS3IcbLlDo5Bu6GMs0pYoBjg5ME98+CdyXfD+V13zXHDRpcqMYZOOf6YMePyBCPzAJpNSjqjlvYYP+NJynHVa7tVS86bnFupEg05bswT+tWS/dF8xxjPBpTEIwpOGh9Vynn/v5DSK+y/xj6LpGy+Em00X2FslZJ0s2DQfmeV6ozEYvMJ+T+tRIsln+VAbZ5IUtUa27Vo2TZde/N+TwpOuP0v1d0vW6rrr16t1ctWafGiYa1fu1XX33CV7n7Fnba/QW95y1v0spffqSuuWK/RBcPOMy2YMk0o05jQeZc3rsyTl0zDyhLXk01CV6rGSk8y/NqASFwVNeLQQ7ECEAT2m6FuJ+jgUMjd9pDnigcUtiB1bVDkAbpQCchJszagjQC5D9CDlQAUNih44EAeF3JJQCnmHAodyH2BHI8DdOSL6XDpvrNzQScWyOsRPkFAsB4CLugHtGOgIwcIHR36y7P9Sr17wgaXFxs55iLo5OrnA1V7fnn3c/xiYzFJiB+BmpycVFDIZ6dSTeicam9uavq6ROlfj2v98YV6P6/QVQvW6t13362Nwwv1nuGrND+ru8Gmys6e0K/85M/qx37qJ3Xv5x/wUumYPvepv9KnH9nuZ63P6jP33aOjh47oxeef0IETpzV29pT+4KO/px17DmjP/m165IlnNDF9Rhs3btJDn/u4/vbjf6vNV/m5qM7rMw9v04FdL+jQseP63D1/pxd37NY9nzQ/ckbv+5a368zJE0od+9Bjj7ou1RdS/wgbVOvQfVFFdaBqh8vTI0dJ8NJiL1anMn9wqJYRWD8C+jZaIHeHgocC9PUtbcGDoL9fWX8g3HKCjhwAdHSgpzwg3HICcjuQ67MPQI8dqhiQh2VZS9NT+Fr0uErdmAcqprVx0wItX31O80fPqjFwTAnjSlSXlw88uHvQTpse5IalbNr4oFoct7zAeXxXzaRa9s005JWEluuy0LaV9ttiea35JiV4kj60QqtWLtF116/WzTev1o03D2rrlsVavuqUBgaaHlCPyIHC2TKd8UCfKfNAS7bSdVjh8t9g+0rVdI3x48Za1k9J2QHh+sp1SnlOzWyv9QnhOqFRiQnFr0AODW3TmtXntfWqXXr5K8f1+jei179qvW7culIrFi1Uo+bJRS1VDPCJS6l5oIfMeWoua1j12pDmzZuv9es36fbbY9LwJk8avlyvetVrdNNNN2vDhnVasmSBhgYTx5wxOTaTt9POuV0t7ZL8WvvgOvuYjAnoIfXZYG6/uN6gau9O0W0PuSToHwMF3p0DCgxow9CRSxDIzyfKCAwKvZRLDoSYE3TkAODSdSAvL+KCgGBtgo4O9PgCfX0DhKoNOnrYS4IODh057NDRgZ7ywycICNYm6OhQlWFuffbkr0wY/w/oxAUOc+tQtc32h157+EQ5wZM4fCmoXq+r0XAn1lVYzQ03mxxR/emWkocHNHymodHTR/XEr/26/uy3fkfn/ubv9bf//ee1/08+qcaZmNGj4yd26tCJsxo7dUiPPPaUxlvT2rvzOT143yf06c98Xs9tf1qH9u/XH/zRn3mysEOf+cw9evrpJ/Xk00/p85/+jI6dOKfpc+O697Of0ucffVwvvviiPmP5yNHDevzRB7Rr527dd98nvWLwqA4dP6Md257VI5/9uH7ek5K/+PjH9clP3ae9+Ueiuk7kH0GE3n8sdDDoyP2qB1U7zK3D3LbIDR07dOTLsYVvSUBPAwRyMxQ8V3yAC+t2yXegJ2du8AHwsbPD3Dp0bEAlZydDfwmoGIALxkOvHWjnyLzMj1YJrTU2ooQhTwpSXXXVZt1192q95jVX6FWvWqfrr1up1avGtXBBavsxJbUpQeSZEFrg2BOCROKEMp0VHsylaeHl/RgXU6aMe7XCd/qZ1nvAX6mJyUXau6emxx/fqSefPO5HBy9oonlOGzfN08jotJJ8UJ/wUv4pJclVIlmmAV4ldJ2khcpoSHiCIq8saMRy6ohRZT5minotVsJW1dgsaZ0g9SOER7V50zG98pXn9Ma3TutVr1jlc1usdWsWanS0pnrD55BMK4tKJy15NjBDLeetWQ4sNZ82WZZlU5LUPLEZ1AI/gli9dpWuueYa3X33y/X6N7xOX/b6L9PwoOvrm4g0ixWU1PVapJpXFeo1lyf8J08UBn2YewfmNnZZ4MJ+0LEDArqiOyJUcajq4Qnk8UCoFTkHZg5Q2MtBAwp9xpwz6GDQkcMIvTp0mnfdIgAAEABJREFUMOjIs/1hblv4Xojg0mKB/NzLXNDRgRLOOVT1HJw5QMcG9OSccethQA9WAtCxQUcOO1T1wOYiuLAvVO3Q0eMqnyvvFxWPlYSg7qTTbsgNr+sP72hoeFtDSWtI+wbma/u112rTHS/Xizdco32jy/Txup+MmgbSln1qbqRy046Gn7jDMmYtlXF3mtH5pM3zmppsqeXGnwrVU/u5LGWJUlwDN+56lrrzykJRM2kosa7Uqu2pVy2k6MAyJe5ezpw9paNHT2m6VRe1aTVcD3v+I+6u5KzSoRfrdoGOHTpyt08pQ8cOHTns0NEBAQHnBB05AOjo0JH72aCwQ8HDJwg6OnTk2bbZOlCpW9hLAnzdxP9ePT6Ayg2o2IHS1MOBim84AMFygo4cAPTq0MGgKgOV/IDTpL7TPm0+bdsZn9MZX6+J8FFpQ416TQsXzNfWK9fqjpdt1Ctfda1e+WrLd2zRNdcOa+06D64LT7sdnHNMU9E+lA04ui6pqXySgO+Q5UES301j2HjxyZ5hrzSkEgNeoFimsbGF2r97QA9//qROHfeqX3bOthjsUZaOOfewprVD0innH/bkwXZdIxtMg0JDavmYaNRtcamyrKZUh9TieWXapmUrxvSa19b1sjuv1JqVoxpqZCJxqNtjnsOTiIxMwpVMEvnocmrmdSmJc6kLQm8IMBWuFi1nBXl2gbz5AKher6s+r6HpbNig68U1UrLOcsNFnnZMooSmMudNXD5grCA79exQ2KDg3Q5QYNDhc9m78ZBh7piwlwSFX6mXg37oQLCcgJ7zAJT4ddXMBoXPjJozIOdxgI5c6lDFAi8Jqjbo6EBen25fIFeBOW3hAARrE3R06MjhAFU9sCCo4tDRoSP38w1sNgGVOvezd2NAW4WOHCB0dOjIs21fiJ5E8JeCYoJQfpdCWV7ijgyRN8JMiZrJtG5+2d267oabdPDoMS3acrNe95avNl7PG2LLPguXb9Bdd92um2+4USuXLFXDfy3ffTTcQWQ1PCEwJQ3d/prXaoU7yNEFK3TLrXdoy4YVkicNLdxZ+I6jhe+60mnVktS563I1bDZP3DFkTS1ZtMDLliPuzBo2JcqUSjnFEcv/ePusa+GiFYEvTn3h0vPApfvOdQIwdw6o2qCjQ0eO3FDVSwyqOFT18CsJqjao6t1+gIASqsgBQsd2KXr4dBMU8VkWvOYBdUJZGnzKZU0p+vJwAds9eEVs4ut+aGhACxcOa93aFbrq6uW6885r9GqvNrzudbfqlluWat36ES1cPKWBwXHV603fiPuaTwfc6oYsy9PwYbeA85ZH8vaQRWLmG5uSsoZ5wxOHIaMxqM5zPZZbdpvSadueV5qatFcZfhSROY9aqmlUMK40O6dMx9Vij1o6qJST1ic9YVhtn82a11iuId9AKEEGHVOTDzmh+EvyowHzqBmSXH9ryimw0IOHrZs0s2HPoBnVjLgx8ApJ4kcLpMd9DnuVZjtt8eSq5lz+H2RKJN+AGGzv4DymNtBHgMIH6GOVYG4c5rapa4PCDwoeJiDPDYR6QYKqD1y6DvSUA7TLg44cIPTq0MGgI4d/N0HVBh0dOnLEQEeHjhy2boK5bd1+XwwZvjRlwYXLgV67r+4vxilePEetVlP5uAHwxSPF964nQs16y3fnqYd6dHbstD7z6U/opld/ubjuqzQ1sFDuLYSfv6ZJXVuvv0U3XnOVFixZ5U7uFXrvu96pO17+Mt1y7cv1/g+8T7ffeL2+7uveqS973es1kDR01fU3au3SEQ0vXqPrrtyiq6+6Wd/47q/TBz/0rXrtq96gb/rgB/Wt3/xuvf51b9SHPvQ+vepVr9Z7v+Hr9dZ3vk/f/A1fowUD7oyiAhc/xX9wD79sAlxOkNnMDnPrULXNhLQZMJOzgIBC8BE6stUL7tDxhaoMF9bLxNDxK7GSQ8cGHTnsUNUDKwk6NqB9rkDpknPo6EDbL4xAsJyAHhuQ2/odoGMDLhoLtNMAFf8wAMFyStNMtBaoxgrJK2VogQYGGkpqSSUOqOh5sA+JB9yBgQEtXjRfmzav0F2eNLzmNVt9x75eL/fjihtvHvSz+brmjx5Wo9GSOCt0yuVZ1oTlEbfLxZJSCU9SNJ23lNSDZuoVh9RwRst+Q5JqgvAPv2P2e8HY014JedF8yLaGYqBFi4RWO8Na1ViqiEt1UkljwvYs1y2YX3gHBBenC2eRplqewLg2qc8xSwaVsNnnfJ0ayWrVkwHhmwySplxS31Rgyyzq5wgdv247FHiSJN1wLkNhA3K9PACCggIDguVYLnQdoLAFBMzpA4RLTlCVoaOHA1T12RjQLgc68my/0IOAYHkMFHIA0JH76YGVBP19gTzvXH6Bx4oLzO0HhFuboKNDVYaq3g6yAJdvAy5Yf8CZ595hbjuQ5+698ubO9wVZ4oWOX4vcsmWLbrjhBl133fXadM1WbbnmSg0p0+TiSU28ckJT9XEtWrpc1IddXqITxw4q8QQhcaeTCWNoenJSE1PTqg/VdHLeEt193XW64y1v1OKh+brzVa/Vsb3b9MjDT7lZN7Vj505NNhbota98jTYsX6kl69bp6muv1X2fuk/vePs7deTFJ3V4epleeefN+sRnH9Qr7nyF9m3fpqefeVyPfPZenZ1uusx/GnuWlfVoC4J4TUpcuQ5VTF0bzG3rcusR4dLi4NL8ogCY2xc6Nugvz84B5OcfeBAQLCfoL4cROrbQuwku3QZVX+jo0JG784cM5PUGQu1LQO5TGgGLMRQf8nV+wnJScIprI9qbwb47MJPLvr4Tlmoe/DANarA+ogXz52vliuV+TLFUL3vZVr3uDdfoVa++SjfdvFgbNy3QoqXnNDJvSo2BCUHTuaYVWxK5ktPC+WIgz9xm5al/5pU5skFJ44pVA2nMbRphO/IqSHbUPcC4Eq01PmrekrzS0Mp8btlO284r/3bDRMLnh/OD4y9AusQNLpynWP0ccLZRl113XfyY0yshTR0UNc+C0iEpVmtikkZvLvXZoOPXx+xyeu3x/4QCnytmLhxom4A8fxuwAFUMqrpdenYofKJeYQSCtQnoKadt7CMAbRQ6chu00K8s6O9r957yodf3YjmBnjyRezYBs6G2Dpdug44vdOR2shkBCltZ/xk4Z1DYcuUlHKCIL3O72b2ELC8hJArcs2ePdnrQjh+FevaZZ7XnuYN6fveLmry5qYk3TWrs7KRefGqnDp88pfN7ntCJj/2oWi/8ha5bjuYP1oU7m+bpo7r/oYf1yEMPeJaPRnRa+44f17P3P6bUdy3bX3xGV1x/m67bvEpT7lA2rlylzVs35pONzTfc7ZWGzRoeGtRb3vxa/cXfPqQ7X/16rRs6p2d3HNDb3vhq7dzxgg6dPKtTR09r0y23a36+kvASTvhLEALFP7MsCgo9XusS6+ZQ2EsMOjogoDRV5DY4IwAVOzBjqTKo4tDRoSNHFFT1wGYTVH2go0NVhqo+O1epQ9UPqnq3H/S3hQ8UNiB/bYCAc4KOHACQ+5Ry8JKgsAEl1PYNAFDcVYKf9XtQJlum+O4DNOyhc6Xv+AfadqAdC4UcsZrZMg/wmQc4TPKjPuW6Jw61ScclpnDMNNCoa+nSedpy5TLdcdt1erUnDPGI4hWvWKXbbluktWvrmjdvQvWBGPxT4TA06cF+yIN9S1ky5cG1aXRQqScN0rD1xPVOzWW/DaYRZRxWCy/nKx5FLHB796SBzaqxQQP1+c4bg7XrZ8nJviR72vRrIZ9LNq003eWSJ/K6NmoLlYBcSZ9jXYrJgno3QECvwQiQ2wBr/XegxwcKbHYEFDgw25Tn6Aahvw90cKASB1U98v3/2PsLAEmy60wU/r6IhOKuZmYeZubRSBoxj2gs2ZK9tmzLApOed71v/2f2gt9b25IlW9bKFjMMM3PjNDNzdTFkZsT9vxPZ0RkZlVlV3dM9GtsTHSfvge+ce+PGpbiRWU3SkohIVuFNSVZ0ZIVP22LZUiOSlpwkklWxSVbZYoFkXZxhSFoSEVnhI0WdD7KCI3kyPlnhzZWkJRGRFd4UZEUmK3zaZnI9Iuv7kSPbyIqdrPCWF1ktmy5JXlI4mzzJaPAKtQdpk1joQj1H9Gm7cQDFKaHtZGLiqnHgYICOI4fw4pP3YX64A1fMyGD+lBYUSyHUE/HyqueweetOBOq89971E3zvX36An/zsp3jq6fvwd1/5Rzz48FP45699HX/7lb9D17EurFn7HP7PP/wDvvf97+HL//S3+MqXvoJHHn1CmH/CMy88je9///v4+lf/GT/80Xfwd1/8Mn784+9h49Y92L9lNf7l2z9A/1BJ+f7bPMnKzScrvF0NWS2bLiay2kZWyzHOUrK+zewxkfVxZLWNrMhkhY9jWUrW1pstSWQ1jqzIZIVP+hhPjs1G8uSgYX5pIlmlIisyWeENRFbL9XTWf4ysL0FP6D7Gw4WaiFkAnB/1M7ISi6zw5mdxjYgMCE289CQaRhOwsA72TypkAbPRcB484f0MtRDx0dycxdTJLVi0cIJeTSzBm950Pm68eQEuuXwOGhq0M8AuOL2nZzTB5kAOgvABaCEB7R16A3DUYsE7DiddqEkYrkX2aYA3UbocwD44HkCAXfBz2nFAEYhiBEqHnyRBnj4Ni0iVdsgpf1vcNIPeAoDz4JCHp50DjxIZSh+IrGyoe5AcVraqe5Gw1wpClv2TNnK4LraTjNm6KVkbQ1bryWo5HZAc2T4anqz4k2Xe6oYs80l/sqIja/NJvPFkBWdyPSIrOLLCG56slk0XE1nbRlbryYpMVvg4TpySFRtZ4WN7rZRk1L5q2WrpSFapyWo5abTRISmfNZ7ksItwGnwyhSy8xzJofLwBDH0EnmR1wrxeI7y0z+HHqztx76ZOFAMHX09OoStpceEhVOd0YSnSh9K4QJ9DRTgtHoJigEKRCKhBT5ihQglBAJSKBRQH+3DfXXehq68P3V17sH7DNgwqZih7sVBEUa82XOgQ6F9JcUIQrx+1a4CsrhuyIpMVPu1NVmxkhTccWZHJ2rzhkkS+chxZPwZZ31avHKYnq/3Iimz2JJHVNpIgeRJCcphsxgAH1VIPii0hdPvhZYoRzjm1fWlJ6rNykozspFKp1UvAKPVAiox3OZT1VArYZAj1JQdPVgfSh9wB4U3nkchlGzBx/DjMnDEJGV+LFSyCz6VljDM5o8m1Q349gDh1VPjq55YCx6DeKcooB/Vh14VQOuekd55w2iHJtMGz9//IAJqglaVisYoU4BWdZHU8SfBtYHC2wFG+rhNhuA2h2wnnHYRHp/yoxVAG+gQpjzok4LCTrOCTRnK4Pnk/ybI99iHLMslYFaXkcJkkSEZ2+yB5stwmx0QyZqOUrMgka/pEQH2Qw+0kZamcZLVcsaAqNjkcRw7XQQdZ0ZMVXqYopqVGZMVGVvjRbGYfjcj68UbyJav9kliyYiMrfBITt4+kjqyNTWLq8QlMuj0AABAASURBVGTF16sHOtP6UDsIRsm4jgF87Shk+7PI9DaipEFg9tTJuO3NN2HB/HmYfeXVmHXxVQi1eHCOsJ8tItekd6KtmNjSCrsMnxoUQy0a5OukCXVxTk9UnvChnoTstSGUTzJfK4eRc6E6uEua/s3ypNVGpfhktVyxAGS1jayWkTjIio3kMN8YSjJmh6VkxUZW+DSQrG9LYskKjqzwaQxZsZG1efMha9tIVl0vSYNHRLKuzQAkLYmIrPCmIDlm3xhvaUwkIzYMqbl7gmJlRM3IYCZymbwmU0+ybCdwEVgfJPVZfZLDdYYgh+vJ4TrDJsnznCb4Fk2glyJku5YDgfgsiEYR0TZuCBdd1oCly8Zj6tQhvfprVL+eJUwTnHdI/bFTOB8ZzgE5FcR4hbcYoVLrq5ZmxFN09s/BoRBkqIw0VoDw/Fkq2zLV8yTYtUoDwMpjGLF1TnLk8pK17SRBsmZUksNsJKuwJCMMyZr6KmVKIMfuQ7JuPnFYkjEbpWRFJiu8GcmKTFZ4syWJrLaRFZms8OZDVmSyNj9WHMnoeg2fJpJp1UmZrNjICn8ScIIhq21kRSarebJaPhFiWEJWcGYkq2XTJYks272k8tXgnXMaCFxUwRl4KGhQod6BgiUNKCEmT5qCXTt2o2G+BpgbQ0y6aRKGchkU/DyKKu2Fl92Ej3zgg7jumiuQb2zStmeDOmwDmpsyyOayyLe0oSmXR3NzG7KKbT7QgiF9bWS5AtL617JMlstMEiRPFpWs8KYkR5YNU4/Iii9Z4evhR9OT9WOQw23WPkjWvT6SNbMkWeWTBJFMiid5klU+JE/a0gxZsZEV3nAkT8YhK3xsszQmkjFbMyWr7WR92aGIUnhccew5Vk/f3iGEevIGhvuQI+us3qGDJEiKK59kmSfLaVlb/iQZYclyGmkDH2FAeG6GyrIPHnsQcHvU56GjQYv8BfOn4pKLluL6G5Zh1uw2lHAUGhHghbadPwFgC0Icl/82BG6H+CPI5W0S9sDolwQ5AER8kAR5dqiobEMtcBymA7Q/9pTT9ewX7QW0OIjKE5Upc7IMMtQ8yeFlTAJJauHhRXGQOkgippRpGN5waYzJtfRJnfFGho3J5JiSuiRvdpPjNmR8kmK76ZJ8WjabkemN0nxaNoyR6Y2MN6rHmy1JY8XV80nrk/HStqRcjzd/o1r2enVbC5vU1YuXxMR8PawXA852al+YmjRpEqZMmYJZs2Zh+vTpmDJR/KS5epLwEehdZzAjxGBjCfsO7cXRtr14ruVRHAwOIKcnfh8ldUzCyzahNNCNzt4i3vqOd+L9H/0EfvM3fx2333ID3vHWt+LWG2/AL//6b+H3/uB3ccmyOdqpIIBX7TKV12vrrHfj41KOZo9x6bSen+mN0niT6+nNFlMak5ZjnKX1bPX0p+JTL0ZaH8u1OnFss3yNaslJXZpPyrX8SyWbmFrgMASiBXBZNDQQpKFrE0nZOcxo/ZMcrh8GlIJkzRgyqY8WEIaDKOFl+DaphipjOF1lVPG0qPF8gLDHAw9+xp7OATADoADHY3AYhKV2PZ6bCx+z4HMGMpksGOEIe6BQESQzIpzFIyj0gmGPRpB+pUdF9lcXcyp7PpE3VQIjJTpJRjaSkkY+yWpM3I5IRjFqeZMcpiardSRr+pMck+8wUEpBVschWTO/2I1kzA7DkRXbSdAJhqxvOwGpmZAVP7I2n3Ykx4ZL+pEVn7SerG+LsWRtjNnJio2s8GmbyWMl8tTjvKqzZ3d3N7q6unDs2DEc6ziGI30dONZ9EAPeEPou6AFucti7bxsuu+pyXDjrclyBmxA8fBRL2gJMaQo14XugK+LF55/AE8+tgzYhsXL1Vowbl8dTDz2BYjHAI0p7+47iK3/711i/eTv8wAFCAuXKiT6jD1Qdw1WUh/nGMIox2VKxr9GTHLl8ZH07WbGRFd4ulazIZIVP20yOiazgyApvdrK2TFb0ZIWv5WM6I7KCIyt82mZyTGQFR1Z4s5MVmSRImnpUIis4ssKbI1lfJlmVB0lzqSKyoiMZ4V0YgmgBOU5P6uL1BJ7NZuVn7RTSl3E4cZA8wVUSktHTK1IHycg/pa6pMwxpeA9B6CN0eS0D5qnXHRZ+OuC1Km2D0z8/48R7AAGjoJRVn1b55eGgCdn1A4rhYRJC5hFEOxFb4GWGgGiXxCm1RYUFQN2DJMjRqW6AyEAMFXJw1K4mJyr7GQCXqbxatHgNqjdKJjwl8FQuDD9IDitHGkVWMEkbSeXhRYTUQTKlQVU+OHGQjPQnxCghyzqSkWwfZIWPZXJkHcmq2CTNNdKRjNJIceKD5AkOo9rI2liyth46yLItudCSOjrJsi0SEh9ktZ6slg1KVuvI+jJZbTN/I7JaT1ZkssIbNklkxUZW+CTGeJLD6tT0tYhkLXVNHUmot+JVOez3xvYfOxUKBdh/7jQ0OITS4CCGXIDwLYS/zGHwgSH07h/E0w89iRe/+yz2/dVavLetD9fMbMLQoJ46GGL3pjXYs78DKHVhxaq1mNIwiG9983s4PhRgzcatuPzy87HqxZex8NwL0N7WplcUWYCBOjbV2QkihC0uPBtw6KSzzu2rj4u36pAO0UHpQkAeThUloLiyjF/QETf+ZPYkk+KIPFkfS9a3jRSUrPiRFX6sPoYjR/cjqzFktWxx0kRWY8hqOY0fTSYr/iRB8qQLWeFPKuswZH0sOdxGVnRkhS8F6jthnybNAsB+Tc4HNaFQ5fJERHyQrJJNT1Z0yXZFVvSGMyLLOpImVhHJRGynhbyViXAYULkOCturBcwx9b9O9acCoj9ApH4MyuS0oAiPwHGzsAV4bAQ4XryD9hMB7BY/qJ2E2cggJxf1Vfl56sFUShJkbZLzmE6ytj/JyD8M+lT+IsBBILSdjnUIuV31fAT0AV0xGMqMcp2TrCoTahxkBZM2kxWb3ZeYyLI+iSeH62I7yZiNUrJajpSpD5JR2ZNqkklxVJ4cGU9W7GSFt8BktWy6WkRWcGSFNyzJYddg+iSRTIp1ebKCIyt8XYcaBrLiR1b4GtCTKvKV4UhW1QHJk7FrMWTFTrLK1/CefbwaZE84uVyuKitqkMgM5lDYMgSu8JHraEMmyMAbGsLuHWvQ19+Fl48N4dmdg+gvZhHC4diB3ejotIGxhF2b1+Chhx7Dxq07o//oade2DXjsySexbtVLePjRx7C/o0cXHMhLvVmfoTqyA+FrCAq1cMiEJXihB8cSCp6vAQ7q9Z4QSmQPbBSIJOjTFhE+PC1qZMVr8SBZVSyyIpMV3kAkQdLYUYmsjSNr6y0gWd9m9pjICo6s8LHdUrJaT1ZkssIbNiayWk9WZLLCx3hLSVbVCUlTnzKRFT+SdWOS9W1xpiRjdlgaBoTHZjXHPAAP9DJ63dAKgBjpIGvbyeF6crjOYpMESWOrqFhUf3Lq55rwPczTwqUknO0UZAGMh+9nwBNP3eQQXDAJ1GsFuw66cboWTcigrmY+AO1CYCJ8PwvPD8p+ypJayCuR/eydpOXgEJZUfpUHOKbMiGyoBYtbjAytrCqu03VprNAgIvupn6TlU9uPHG4ja+vI2vpkZJIgmVRFMjlclwSRw+1kRUdWePMjKzLJKA/Tx0QyZsdsIys+5kxWZLLCp20mx0RWcGQ1T1bkGG8pWdGT1TxZkQ0bE1lbb3ayto2srU/7kByxzgxfi0hWqclqucqYEryUfNZE20kwOpmBCqluj0CvGpo3N6NpcwsaghDt4wbx2U9Mwx/eORPnzQ2xuaOAwQaAGV2Uoyoo1BSvjumFGly0ANAAknFDCD0NTtH2KxFo8ZF1HgoUTsONL73AYOhg/7wo9VH0tPBQDfhOsbQEkQcoP1s0AC7S6DECUIxQuRJUeeUgG6X993qS9a+OrG0jK3qywlsdkRWZHJ1P+5gcE1nb3+xkxWZyTGRFT1Z4s5PVsumMyIqeJEiaOiKywpuCrMhkhTdbkshTs5EVPMlhZQiCAbX1IwB71ULHgeF4eMwgPshqH9OTtKSKSILkmHVkNdYcSSoGUCr1SjyOAGuUHoWnXuRcST0mFHdYk736mmGlIZpRCgqgupRzBS0otPvgaSeBBKhdBOwBsQuO++F7HggHIKMumY04CWftjJ/gh0Llyhw8bzHA6Sj6IQLuhZ8ZhO97oB4wCB+glQ3DDpLCVGgYQAqybBc77CSH28iyjmSEt7IaQ/JkXiYbkWWd8TGRtXWx3VKSlpwkklHskwoxJPVZPklW2UmWDSc+yWr5hLpmQlawZG0+7UhWcEkbWVtvGLK2jazWkxWZrPAWIyayWk9WZLLCx3hLyWo9WZHJCm/YekSqfbpK2yMrfmSFr+cf68lqLFmRvRh0NlKS6lweli5dGlH8J5kzmQysCL4mfUTdXTh7KtKQ0tQQYMFUD8umEL/0xsn41Q+14qNvn4DxLYN6iifsVw4LFe+KSy7BzBnT5a3XFn4ek5dcg4995D3qrg6eT+Qbx+PiCxahva0d82bPhPN95KlFhQYb5zchKz4UGvRw7Zvfh3ffdhOy46bh6msuRqv9OqJ9Kq6+/GLMmTUDH//VX8c5C2dpp8HByuvMT9wv+iStFs9uKchKHmSFH2uu5KvvQ44tT7KCI2vz6eskKzizkRWZrPCvxDaar9mNgpKnljhBbFYTbCdCHkM2V26jUg47yeryDQOcUJBjw52Ag4zxHkKViWhXuRZoMtcWPbRo4JAwLRH5XpO6kA8IEWIARS0qgvAQHLvgoEWE0ysKVxImA2KKcHORwXxQC37ntEBgAHgF6SsnSdmNzixZDhmVheEAwqBfZdoChKtArxOZ7Il6pqVeVf7mV4/Ichlr2UnWUkc6sraNZJR3BBrhg+QwK1mtI0eWhwUYRUFWx6sHJ8eGM39y7FjDG5EVH7LCmy1JZMVGVvgkZiSePHWfkeK9Vmze2SyIrXBtQTBv3jzs378f+/bti37V0NTUVM5W246+On4myCIQ358fwOKlbRjMN+HnffPxfAhMm9KKyy5uwaxpnpYQPhrHT8anfus3MXPKFDQ2teA//fZn8Ku/8kuYNnEc5i+/CJ/+zU/i7R+4E+9791vw//vjP8K73/9uvPP22/DO97wXv/mZ38NN11+L3/+9z+M3P/WrmNPs0DR+Lj76gbdgxZo1uPLWd+MP//Mf49ZrLsAnfv1zuOXqS7WYKOKllzfhHTdfBl+NwNPrBlvbOJUGv8CDPP0GSVZ8SVYNMiR/gVc1PGuyUh6ywieRZEVPVnjDkNWy6YzIip6szRsuSWQFZ3qyWjZdTGTFRlZ4s5PVsumSRI5uJ6mn8KJ2EvrkWtQ9bFb7HIds9MVFSK6OQQ6XSVbhyGoZOsiyjqSk6pNklT80zQ8FmlBdgxYtsnmzAc4EMEGWAVEYTa5kKD+po47UJn6BBEunaBwYB7AJ0KsGwgO0cAi9PfAyBdArSWOLh5x8PJHyIIU5O6f9LZXBYgB4TaDftqgwAAAQAElEQVTXqPwWKP/L4Ln5sNcjUmgDIaPM9fABKi2fJEGWqawZ/knWtpNlPclhTiSjuGkDybTqtHFkdSzylcnJgpGVWGSFNwxZLZsuJrK2jazWkxWZZFUdkIzDVaXkcD05XJd0Ist2m9+S+rHyZNnf8GSFN/l0iKwfg6zYyApv+ZDVsulqkVdLeSZ1JGFfVrz88stx9dVXR6GXL1+O8847H0sXL8eS5YsQalU+2F5CePUQhnJFrO6cjI3hdC0ImrFvUzcO7u2B07affY+g2HUMjz21Eu/6+K/jd7/weVw5pwl+y2S88apzkG+diFtuuRFXXHYZJjT52LNvG1as3IwLrr4Gt994NbZ39OHOOz+K6y+dg1zLBJw3fzLyLS3IBcfQpyegd95+M1av3Yxb3v4OLJ83DWhoxSc/+k50H+/ArDlzkfWLCNGgQcKBCEQa7KSBhr/own5BHyRBsip3siKTHGavAicEkiclsj5P1rfFAchqDFkt18PV0se6OCVrx4rttVKy4lPLbrp0xydH9onxZG0cWVtveRmR1XayIpNM3DcK7p2UbYexVArV8kQMZAtFRWTsnb/8JERYklFqckwkYzZKSQ7DmIGkJTWJrG0rFIrqDkdVrr1aKGyXr175Ob1GYJd4vX6gr7xysjtRCUHYC7pO2Tw41yFf7T4IH7otkg+DGNLipwkZ+YW2uNDrQLwKfY48cX2qaPsViefGqSyDKud+lMKt2rGxxZmuRVdB7UbKUPMkCbJMtQAka6kjHcnI14S4nRlP0pIqIseuI6ux5MhyVUYSSJ4sl8Qq3uQkkfWx5Mi2dJxY9jwvZkfM+yRIDEl9lk+ywpc1lU+ysn1PVnAkT+ZFMnIgeVIXKfRBUp/lk6zNm5Ws2EyOiazoyWqerJZjn3RKVnCj2cgKlqzw5keW5Uptm/YsUWNjI9auXYuVK1fCvry4YcMGrF+/Dpu2bcT6nRsRnqt3q7cModjp4fiBEFcucrhiykYsa8pjUp+HUmcGXX0ORAkt9keT9ESx9vlVeO6hp9ARTsSklgyee+ll7Nm+DbsOF9De2owDh4+ir9/HJZdcgO1btmDTzgO4eOkcPPnkM9i5YxcOHTuK/kIJ/ce70M92nHvOeeg9vBHf/+530Cm/l158Xq8sWrFyww5MmjQBGzbvRiF0KoMGZKeGpLpy8DREWBVS0mvnJIeXJx5kyOG2ZMljXFL3WuPJyjWQuhfO1SwiWY2rBSKrMWS1HPuQFb3pyLJMEiRNFRHJKjlSJj5InpTICm9Kslo2XYVYFZckwlIGxFQ9zbZoQu1TW+xGPpeXSzVWiugka+sjY+qDZEoDkDxJqHGQ6qFBQZP6PJVpgqhNZeoH0RTxHjPwMyFgE736UFDSfQsymvJLsufgY4YW4A0gW+B50wSbC8dpoJeVzpdfDmABhPxQOchKucjT5ysRlZXalE4Ui8rLC/VIcFDlPK6cQ/ichVxGiwYWEe2KyJEs6XPkkyyXLY0iy3qSaVMkk1Q+jPj4g+Rp6ywGSUtOEllfJjksr5OONRiyjCd50krW5g1A1raRrJlveowiaWEiIlnXh2SEsQ+ymicrstljIofrLX+yoicrfOwXp2TFRlb42G4pWVs/ms3srwbZDHdW8ykUCrD/+dH+kNLkyZOxZ88e9Pf3w77EWArV+TTnDs50YL9D69o8Oo8EmNfWj3fOHIDr7gUXNaBpQRO6B6lO2oSB7j789Pvfwf/3v/8EX/3u/8Hn/vgL+O9/8d/xwqMP4ktf/Fv81u/8Bj796V/FD++6C//1P/8/+Jevfwl/+df/Hf/z//3/8Ff/7Qv4l3/5V/zuH/0VvvG1r+GFjYdQ7N6PL37zh2hwRfzJ//0nWLXyJfw3pf/6j1/B//MXf4of3vMY5sycgfsffQoFvRqhFirQPaU+3LBFgjurdVkJzgo7ApduzCNAIxM5trgR+MQHeeZ8yPqxyIqNLPNkOT1RFJAVmazNG5Ys28hyarrTJbJ+DLLaRlbLI+VJVmPLYphwUUsMe9UnDmjiKsDjVHiYpEnYIGNvh2R1PuZdi8g0roIiebLuhwYdAtsR8IoAc6ALVb4uEFnANSHj56RX+SiSNgy1M8c2YYoINek6tgLCOvVHuk757AO4GznfMzQAXwSQrEk4jYMcHsvCWP8JAl/X0Khcl4rmqo716oQ92kkoqsyG8lRGXRtyJ8tj2pGIrOSXxpFMqyKZZBQ/EhIfJBNSmSXHpiujK58ktdh0JxVkdRyyvkxW204GOYMMWcmDrPCWBVktm86IrK8na9vM72wSOXK+5Mj2WmUjT91nrHHUwmtBz5zOOprtHDz//PN47rnnsEbv/kul8qo7FwbIFYjGh9QJn7IvX+VxqNPhP/2XDfhvf9OP//GVnfiv/3gY//kvt6Gjy0OGg1rRFzFUGkA44NBYymNeYwETWzuRlc0rDCDTPwQMFhCEJQwVQxTsP3oqAigNYUB8GBSVOlgRQj3NhChi5RP34LEnnpYu1IDgYP9BVEnbnPYfPg3pneSPv/8t7Nx3KOqkIXMKBhDCqjQYw0GyqvONwaU+RI83ClffnrCQIzccsr6drNjICp8IP4wlKzhydN4CkBWcyTGRFT1ZzVubIis68yGrZdPVIvLUcWTFhyRIRqHJchoJ+iCrZalOnmTFRvJkDAOQw2XTx0RSbHnwJhn5Wh0EQVbttV02zVM4CnjdIKQTJlImPkgmJIBkREgcZFlHMqHFMBxOHCSH2QL7kh8K0rcINaCJ1PhW9ZYO8f1aJOSlV9+Rr5O2GB5ByAMAh2TXgsDtAKHFAfqUagEBvebjPHh+2YeaqskskofVRUxJ/Vj5Wr4koVMhOtV39brT7VVv3ybaCIduZDKy2089JcHTa4jETgIpm0jOo54kh2FIKm8O05uCHK4nT09Hjs3P8o2JHO4zFpthyIovWeHNliSyvu10cLV87J4n9UmePPX8yYoPWeGTcY0na88FZH0f86tF5Nh8yLHh6uVx1hcJtTKu6LII7AI0rzd2NSCrtUNYzGLXQR87Oxqw43Ae2w/ncOAI9B6Qmvhz2o7MgOqYJQ0aU6YX8JX/ay6+9l8W4jN3NOFX3t6Ij76xFc0an5xrRI4h2tpa0NzcCA+BOnsGzRMmo1m+kG3AzyKfzaHRb1SRPBT0dOPbWKw00Jao/Z67takVrQ0ZBJ4g0jlkMH/xErS3NsF3gcoSmiEi6jM+KQtJ5LT9m8/n4ft+bHpNpCSrykFWy1XGhEBWcGSFjyHkcF1sS6dkBUvW5tM+sTxSJ48xp5KSY8+frGDr5UFWMGSFr4eP9WQ1lqyWAWtv6gFa4LrQA9ks16x6BOFnPHhRA0bVQVZiVBkSAlkbQ56avlAINI0vgDYQFD0P62fQQpywcuZURgd60KEeqad0OHstMUFyM4jZStV5MV79dSrABl3tAOh3Sc4gOqgJWVcL1C4XzuARqqpLxTaQTQDbQcwRLYDPqchkG1SukvQAnMrmlKZOkiDLlDJViSSr5Fggx64nh2PJ0XVkNYYcWY7LFqfkyHiy2h77WUpWbGSFT9tMjomsxsV6S8naNrK23nzqEVnxIWvz9XxNT1Z8TH4tEXlqZYu66y/qAgJNxp46PJU6FTzwNZFL9unrfat6qPPgI0CoJ4dsEKrDBUDog1GnDDBzeg7FXBcKmSIuuXoi3vmGJtz+5gYsnOXBD4jJ887Dh9/7frz5DTcjm29Ec1Me5y67BFPGtcDXSOU3N+GG62/Gwjmz0TCuGeMkM5sVrhWtuVADE3HlTW/Fe972BmRaGtHc0IxxE+bhykuWq5QOjU3t8DKNaGhqQK65AU2NPtoam0AtCpoVy/dzuOHWt2DZ8gVobGlCa0sr8pkMolg5DfR61+k5p1h2G0KM6VA9JXEkk+KIPDk2LFnBkbX5dEZkGWeTN1nmDUNWeJPPFJGVuGQ1T1bLlidJtR8aGxE5Np4cjktfowUkh+PSepPTRNb2S+OgVlLWlduK0wI1CLoRul3qD040ER4bBKluR2QlvoxRHZBlHVmdmj0mkhE2luOUHFnvhqw9q59CuwPQ7hsa4Fy/iu9g3yfI5nzxhB0hBvTasSA5LyroCntFLQjRq16/Xte2U2Xoh7oqSp6na/ThJCiSuZ8kksKdWbJ77LTSCd2gyu/B96arjENA2KkHlo1a7AxAhQHhKcnq0wdJ1DtInpadrO1HclhWZG0dWa0nR5fJCoZkVdnJ4XKyMCST4og8OTqW5LD846BkbZtn7UW2JK4e7zQGm42kJSMSWY0hKzJZ4ZNByPp6smIjx8aTY8ONVAaydgzzIcs2spx6pvzFkbq7U0GUQEODlYOeyQ5Tp0zBxIkTMXnyFEydMR0Tpk7GBOky2mksZfoRTPORb3GYtagV0+ZMwk7/YsxY3I5FC3PI5DwEGS0uNAkf7jyETXsO4r3v/xA+8olfwQXLFuHOX/84Fsxdil9521txwYUX4tY3vgcfvOOD+MAdd+DjH/9VfOJXPoaP/NKHkXdZ7Ny7F0U9sf3Ox34dH7jzAzjvnPOwYN5yfPJTn8LHfuVO3HnnL+Ndb3sXPvfZP8BnPv15fOCXfhk3XHczvvBHf4w333AZlp13Md7y1nfgjne+F+98//vxCfn92h0fwoc++kHkNNA7DS9gCIA4Ewd5ZuKcibKciRjka/96yLGXkaxgyQo/cl3FVsMbqcNoYAsCD2QJDprIqO15tSPPy8Rg2Qx7Uhwm2+BIVmMq6OEcOTLWfjJYCLRAYJOcW0VWlgw8tqiMmmBR0mRru3aBbIqlBX80CXvaKuQAqEmZOKrdwlb4mCW/CwDOgP0pZ/jaQaCe3J0vXUnXokTlIRUHZ/6wSSbQtQT2QKKyFbAbjgdFQ7qGqchm2lVeK4sWOZ6Idk1QuUYuD8lRMRjjQXIYkhyuGwaqoSBPzy8ORY7Nn6yPI+vb4nzGmlrbHiuWrORLVvha/qcSt5b/v0Wd91ordHwTent70dPTg+7ubnQeP47unn509XShN9OLwfOKwNVFHB0YQrZIFIvN2NExAZ5927voobd/CIEGzNLAAJ56djUuvvIqtOtpf92m/Zg6dSIa2yagTTsDTfkhbNu8BfsPdaO10cNTL65BS2sLVjzxMI4NAlnfaSCABoYstq9ZibWbtuDo/q1YvWYDsg157D3YgaYmYvWLK3Ho4AFs370Xm7bswfVXX4q77vop2nJZ7Ni+DgcULJ/J4pHHHkHL+Il4/uFH0NHVo0WIaj9qkzwjAwdJBaycZLVcsbx2ObJSZrLCW4nJatl0IxF5aviRYo3FRnLE+0jyZBiywp9UphiygjHWyCAk9ZQNhGEOHqdJldXE2qS8cyKJOsmKr8SaJ1kbQw7Xk8N1FpSk8qSxeuJ2KJUKCF0fbEue8KXrANCvcraCyMFXnwI86ULZlIbj1Mcmi1rheePhYF8MbAXoCX8ELtwK+zsJlETa9Zk+C0jGWTxsHApD9X/YxyZUUwAAEABJREFU7kwDMuFlKuMikcpKIpsPVFZPN0GLHmflqRTGFhgkK4oaHFnbThIkh3mQw3VWRnK4nhxdRw7HpDMlqzHkyHLaP5bJsfuR1dg4Rjolx4ZL+9WSydqxyIqerM3XivfvTadW/tq8JPsFhP0ywv4zqMHBfhQHBlEKlL5xCCU9YISPhxg6nNNTfk67BkN6PeChO2hEX0nUB2T0lM6hIi44dylWPnofHn7sGWS4D9/65rfx9a//FOOntOGR51dj6+7dOLJ/De578EnMlO6un/8UW/ftxarnVqIQEg16gjl8eD/WbN2M7Vt3oOPQQaxY8yK++9Mn0Ld/B35+7904cLQDTz39OF544QVs27gKP737XjQ1NGLFlu3YsmEj9qxfgYefew7nLFmIn3/329h17AhWrtiAor2TtScQezpy7pRvBFlpuKM5k/WxZMVGVviRYpIVHFmbT/qTrBr8SJ40kxX+pDLFkBUMWZtPudQVydr+ZH09WbaRhE0COHGQZb2JNmhbGhNZscW6eilZwZKsqquyj1dO4k/twJWCPgTuKOANIVTb9v0eIJqwGKNOpmS1jqyWDUiyRr6oqYMOkvqsnNH16xWhh1ALhe0ivW5gEaF2DByGAIbI6PUcPaeYHoJSoD4wqMm2BMdeXcseALaoOC5+H0K9hvS5CDlvMnzmZBsEESitzleKM37aPbbrceEQqL7poJ0EbFU5rYzdagMlUNcGr6i8HWB9WJyd5mcpOXI5SSoGDTqMyOF6klV4kpEfWU4j4cQHOVx3wnQyIasxZLVsQHK4zvQxkRU7WZs3LFmxmTwWIlnzekfzJXkSQo7OnwTXYMjR/cnTx6SzJEePdSZ80jFGklMjz0jQV8dGliupocFW8OU8NR4i9DSQhAG8bXnkn8kid7wRxzsKuP+pATy/6ggmdz+PFSsO4b4XO9HZ6wNBC4527MaDDzyMdeu3YOOmlXj8/uewfdcubFr/Eh5++DHtDGzG+pdX4smnn8Pa9WvxyP2PYevm9Th0pBMbt2yJBrD19p9FPfKkFg6HcfTAXu1oHMGBffuwdeWTeODpl7B7+3b0dB7B5vXrsHXrVuzdvwdrV67Aww8+gJd37MIOxb//sSewYcPLePie+7B+42Yc7j6OXTt2YtBTOXVxTtuVDuXrLl/x65+vtAbISn2StflXmkfan6yfDzk2WzqmyWTFFyi/mtK8pTbeDHIC7P9syLoF8NgEz9ekloQrAFmtIKtlQRRnuO5U9TY5BkFJ5ZgD58bB85YidNqWRwZEVrsIGWSyKr+zYcfBfmHkuTb4np7GhYCDdkQ80M0SzZNmKhwD2UPxVNwAUsBFC4UQZ/OwawnDUHlllE0OeuoAOV3lm63yTBIvneqRdj+oshgJmT5JCsu0ukoma9tJjuobByIZsydTslpHVssGJFmVB0lT1yVyZHvSkazGkhWZrM0n/UfjyUqM0bCxnWTV9cb619P6NeDVN/1iLNY5LeeSRhCyfEO90IOvJyS/mEd+YzNaN+c1CHk41JvH5//XAXzuTw/iD//8ZXzuT/bjT//XIfTYIkGrfKrjEkWUNBl78i9poQHJ1HtGZwOVa4IfFDTk+MoyowGgGDWg0L704oUaqLJwKIhUTfKndieKJmtiJz2EngYtqIyKUEKjcE4bqoYPy3lqJ0JFh+BCBQjow0MAQ9nrECgfT2WxuFQJqEFSQDhXUhJK44nMouQUT7LiR1Z4C0NWZLLCmy1JZMVGVvgkZiSerO1DVvRkhR8pVi0bWe1LVsu1fJI6shY+iajNx22UPD3/2lFra8lkHh5Ikz04lFAIejVpDok/rla1Q80pBPWvdqRT15Ic5kQSJIfpTeFCp4k/QMltUlmKKtsA4knUoRPkkNp/BtQ/qFOUVP6QexGEHepr4+UzW+omOE+vGbAfLtwB53pBv18ePsKwSTFzigEdFJVPkiDPFHnloPos3+dOcY3IFBco70BLgt2gdwi+p84a7R7kQC2CpARJYWufJEe11/bEMD+ydiySGO0gR8ekY5DVPmS1nMYnZXJsWLKCIyu8xSIrMlnhzRYTWa0nKzJZ4Q1fvq+oqleygiErPF7hQVZikRU+GZasrU9izgRPVudDVmSywlteJNX31MYlVHqEhNfKaTfRFgmWGmmuRYmhJnEr4ZD4IpzYwMsjN/lyXPSpOzH/zdMwbqa6q1/QgqKE0C+hefICXHnVDVi0aCbGTWhBi5dBSA2w2QI8LSI8bxDO99GUb8XUCeMxddYUWCakUwxVjSZxUoOTFhnMZHDtNdchkwmx6JwLcc2lF2H6uFYNzjmU/CwaWlrxq7/2aVx1+fnIyodmUUWHTmVSaT2qwCp0CB8ZPR1Nty9jtrch10jkXKPKFcIJZHanMuoWwUher7mT5FkpE1mJS9bm62VMVvD1MCPpyYo/WeFH8knayFP3SfrHPFk7jpqRIGaj2oXasNpXGGahngyyAY5ZeJkiPLVFAU+eJE/y9RhyOIYcrhvNP3ShJvwCfM7WhK4FAnuhwomgoxme+pE6norsASyhVMiru00FkINDF0J3QOlx6WwXcbz6yWx4mCc/Lda9IqA+W64HwFP5SIIkzuxBxYTIQRuXQNisMg1giE+pj+4FUELWb9Q1iqU9JBip74JSjH6S9XFkfdvokcsIsjoGSZAsG8f4SZ4afoxhTwlGnnoZyFP3OaVCjRFMjl4OcnRMOjvy1fFJ56vemlb94mXP82D/UY2lRqSPjAM0eujDF+Xga9DINM/EzNs/hsLAQVxzRRP+6lPL8b7zJ6Ax59SxfSw+5wJMbPCw5Lzr8Iab34z3v/u9uOmmm/Gmt34I73n7ezB9/EK874Mfwc03X4df/vjHcc11V+Pt73yvbG/HW9/+Nnzgw3fg3CUL8JZ3vBfveOMVaG2fiILXKt0iHOocxLXXXYvrb7gZH/7Au3HF+Rdh3vTxmDBzOT70kQ/j+kuvwjvf+3a845134CO/9EHc8R7lN20u3v/hX8JVl5yPj378k3jHW96kRcx1+ODH7tDi4kZ88P3vQltrC+AyJ8gu2kiX/Po5Yg28EiPJMbmTFRxJkByT30ggshKDLPO2MDYfsiwbXyFr2yHCEAiCrMrQLhNBjNPkq8UCKu2FpGyVkyRIVhTiyGpZqmEY0xmR9bEklb9DKdSiWmXwOR1BVBSVEb7cB+D7OU34atvqu1KgWBxUogvRzE/kQbSIxoNuvPRZLYMOiDbA87u1KNDumrKn50AqL0gQ6syeKksUsBzb7oPTYgZoRwYXavg5B8B4lScHK4eEE6eDCg07SIIsk8m1iGQtdaQja9vI4XpyuM6CkLX1ZjMih9vJah05XCardRbLiKzoSUbXb/p/y0RWroPka+5SyFevTN5r7erJ8sXPmTMHCxcuxPLly3HxRRdi8bKl0X8G1ZhvRGlcH3qvcshNA2Zf2I0Z8zqweEIW3RsP4fapOUzJZTXJZrUbUMCRg7ux52A35sxbjEVLZuPIgeO49eqLMXfeTLz/gx/A04/ej+fWrsYLL27F4rkXoth9AL3ZcbjsgsVY++xqLFxyKSZPmoh3vuNNGKe41KAx2N+NHbu2ga2z8OH3vhWzZ81FYybAo488hvFTp2HD7mN4w223Ye2KlShm8midOBv5rI+5cxZhvGLdftvN2LltC7Yc7Md1V1yMlc+8gCuuuQEY6MBQzxH4COGggZD17w5ZbSSr5XqeZH0cWbGRtfl0XLI2jqzo0z61ZLKCJwmStWB19UkwWfElR+eTvmmerPinbTaJpHUmkxUfkifLTFb4NM7kmEjG7MmU0D+6EzKjp9ww7NHEfExtxXbWDiObGYAX2oRsWJ7AlpN6ZS1bK59ktV9sIWvrk3annYQw6IML92gR0y/TcThn/C7x9ncTBtHf24vikF7JBVkUiv1q6ceB6LoaYFk4DKLk2RcEd8p3SJPzbD255+FptwG2eNbVOnmpg+PsHeV6tu8kICyoXOqPrgOgXcMW0DsiHQHEhJoHafaaJpCMqJaVZC11TR05dqxz5euyQCTr5m/2WpT2T2JIJsUqnqzYSJ7Ml6zw5kDSkppEVmxkbT7tSI6OI+tjktcbxyZr48mKPsaeSkpW/MnafDoeWRtHVvQj+aRtaZksx3nNLRLsxhjZ//ewbds22J90Xr1qBTZt3IwNO7egf3En+t4IeP09GNi7Fav/7n+guO4QLhg3Du0aeHZ1BBjQIOS7UIPQAC6/5S1YNq0RL6xbjYMH9uHIwYPYuGs79uzfjmeeX4tbb32TXjX4mDV3Bjo69mParEWY0ZbDxs07cFyLAQ9FjG9qwPaDHejtPRb95LJ98lR88L3vx6EdK/HEcy9j38HdOHDkGLp6epR249Lz5mPF6lWS+9F17BAO7N+HA0c7MW5ym3ZM+3Hg8HEMFR2WzZ6KbbsP48qbbsCenVtx6PAxDX/U05MGpWgrs9Kp0zfw36pMMlH019lTr4Fymwj0mE60acps1ByrCRaT9KTeogE4VzMkObzeyeG6Ws5kbRxZrQ9Dp8VLgyb0c5HhHMD5ICbA8yapjDMw0NeExx5bgQceehxPPfM09uw5Dg/TQFLX0aGFRbeyd/DdAnhuqRbLCxSD8DPQYXnZcBWe4E0WeybPqpCedmpU19QDh0oXsgtUfdObgaw/HZ5fBVYphNVn+iTTuDSitkwO9yMJksMcyOG6NIhkTd807nX59RpI14D1urTuFy7bIsEKYWmofVWdeqogglKIYHYBfq9D5uU2ZPpy6NvSjSe/uxtf+C9r8T/v68L/eL4LB4pZ69ZY+dwz+PJXvoqf//iHeOr++/CVr30bHcf34x/+6Yf40U/vxgvP34tvfud72PrydnzvG/+EL/3LP+Lr3/w2vvn1r+L73/updiD24qc/+zm++MX/jb/+0/8XP9dOQeiK+P53v4fv/uC7eO7ZFfjed7+CH3znh9iwZT1WrFyNu3/yfXz9H/4ed937cxw90oFnnnwIP/ved3H/w4/gnvt+jq995Uv4h69/A3f9+Af41tf/Ed/6/rfwta99Az/96Xfw2HOrtSRR2T0foJ0O/14Pu7ekLvIMXyB55mOe4SKOKRyZvg5rC6YzAgI94ToMgWoqjkMAC7Cf44XGY/hBcrjyhMbuxQn2FSXWV+3PmfveVBS4FmRWE/1s9UUtZux7E5iJoaGJ6hdN2LnD4fDhQwjRDaeX/+Q4eJih/BsB++6BdxAlbNSuwibQG5AOOkJQ/8TotPpQEp1JPlLogwkSO+YzFNJ8HUIXqJ4Dyc3KdQqcU9lU557fA48eaDBdnQCnfZJRkNP2r+dIDo9LDtcl/clqO1ktJ7Gj8eTp+44W+5Xayddu2V7ptZ0Nf+9sBH2lMUnC9311ykrn92zgsD+W9GQWDU9kkS1kEXqDCLwhLR6AjbsDvHxsCB3qvKA6OAMw7EepOIBBZNTZi8IpJhS72INSgeKoJ/oSXEgMhno/Wshod7GIIYeN83MAABAASURBVOVT1BClMHBaFJSKJeGKGpm1UJE+LA2hX4N0yan6Cp5sllcJofYAPOkHig6hnqpKCuACRdIg6JcMU8BASdckuzLCUCC+VIKVEcKHKpHnQj1FOUBPYU4yxnCQrEKRFZms8FWgVyCcqis5vAzkcF0yrjuxNUpWcOTofDJGkicrvkl9micrOLLCp3FJmazgyAqfxIzGk/X9SJ5oCQ4Rw1Dv/qGDcEFBqozaaSdyGQdP/2QY9SR5EkOWebKcnjSMwJDDsUEQqN0WELj9WhxMVpkKCL1tSjtAWySobYcuD3hZTa0+wtAHXQNAH847jJD75d+jNCP/rK5kvvrC+SgMhejv70MpGBJeecjiHBWTKB++kowoliGbE4UiS6m0NiFx0JmgPq3SqSDqlwWAem3C47qGddLukQxk/CH4zCimJ0J0UOWJmBofJGtoKyqytp2sra94Vjhy7NiK1+gcWYlLVnjzJOvLJFU3NFhEZIWPFHU+yAqOrPB14JGarODICh8ZEx9kfVsCNipL1o5DVvRkhU8GJCt6sjafxJ9tnhy9DN7ZLsTpxo8GnIRzqIEBmvjzx5uQ7cnCvjhEaLDJTUHTsqVonCY+H8B5Iay/evpgbgLa29vR1EDks1lAtsALYMQwq8FIQwEdSr4HP5NFc65JDdt0gxqMPFiMogdoqEHg5zF+wkRkCDQ0t2H8uDbkMyECs3senAa+eXPnY+r4BqhwcCqvpycRi+E04ZeYgRdScaHDB5WXa/CRlT/DDEKGCOFHNs85pboWUunr5+s1YDUQt4UQWhpoW59qYW0g9XSrtu5zEuCaUOsgY99a1pF15HBfcrjOFnXWZxm14f1q5wcALc+dygb0qGwHQRyVvlf8EdnMXtA1NEovMbCy++Kz8JxdSzPAIYTedmzeugE/+/kTePChx/D88+uwc+dOdB7vRF/fEEqlIiwfcADUAwK14DACrIxGGPEgCbJM1UAiCNQP3TjAzYTHOaJZcOEM0GsSSS0zoA5c7VhTIhnlU9M4gpLkCNbXTa/XwNmvgbG18LNfjmE5hHrHYAMPSYRRZySyoYcgU9SkroEylIs/Ga1L34Fl770O13xwJn7zo4tw7qSc3mkShI8LLr4BH3jPB/DhO+/EggVz0daqib2hEY2NOTQ2KR4d2hqaMGXmPFx96WWYu2AGcs0taGlsRC6fQ3NrA5o8oqGpBc3SXXbZJbBB+S1vezveesubcP01lyOTy6ChOY8JkxfhqqsuB7wcWpqbkdfs39A8EQ2NDWhugvLLwvOzaG1pRCbv4Y23vQnzZ0xHc9sEtCqfjN+AJpXLoxYcThdMe2IiACOcgWN4CLISm6zww5EVDVnBkRW+ggDIip6s8HiVD7J+3uRwGzlcFxeZrNjI2nyMjVOygot1cUpWbGSFNztZLZsOkE6LTSIDiEole2If0GK0IOpHEB6Dr7ZKtema7vKKT1KxYuFESo5NdwJelZBlX+uvcIPqry8i4EPwqAncqaO6Xi2A98N5BxFyu2bXIURY9iHAbsXy4GEi6GaIzyHgDtF+8QUtGJqBcCIKA3Nw4OAgNmzowlNPbMR9DzyBe++9F488+gRWrtqE/fsOYnBgAGGo+tDiHFqc0GUU01ec8kmWy1mWhn+ShE4ZGJEtEjxxHiSzF6HbDYfd8DJHpbVT/VQJSVD9VuyIZ3TNdRCkxWAda7WaJEhWKyWR1TqyWhbk5EmWbWQ5jQ1ktRzr45Qc2R7jRrpWw5CVOGSFN1uSyIqNrM0n8WPlydqxyNr6enHJCv50MOSp+ZOj49PlIE/dJxnDSwqvFZ4kJk+ejEmTJkU0Y9o0TcITMX7iROTZCNtFKExVaadNxPkfuAWFrtU4Z+oQrpTuo+e0YlJjCfZeM5sDnn/2Ubyw5hDefPvb8Xuf/RzedOub8Eef/W/4/Oc/j+tvvB3ve+dbo19QXHnNG3D77W/CnR96H+782K/hc5/9DD54x4dw4/W34ld+7dfxX3/v19CWb0DRy6Cn4wi+/+Ofo2XqQnz207+L//qFP8Q1F52DufNm4cMf+SQ++olfxcc/+it457sU7+O/gd/9z/83Pv2ffhmLFy3Fb//+f8WvfPCtOO+8c/GGW96COz7wIdzx4ffhQx/5BH771z6G1uYmOPpwoAZIh9ePs1MDow1iZyfXU49Kxh1cky21cKS2wFHSVjjhoVWtpAW0CYp6T57R5MsiXu3DFvTFYhG9vZpIqXKqfAgbEKJFRZkAn5cqbdeEPVe0RPJyQP0YaAMwTguGPjgeg8MhUaDrWi6aB4/j4IWtsutBASVhJ4lv1i7KXJQGz0FPT6sWByWsWXUcDz38PH780/u12/AEXlqxCpu3bMaBQ/vQ169Xi3qlZ/fbymkpGdepQiZPVx4OzUxSeTkErhshRG4PiGb4WIycPxkyJzzL8chymjBUseTI9irwWRLIchmsHs5EFmQ53pmI9WrFIF97ZT5T9+Ns1GG5V5yNyK8wpg049h88Gdl/7NTfNYCewWMY4BAGzhtE6bpuINiN/t3fwrJpDjedOwH5wwM4T68WmpkF7CkCWXVqH1NmT0HfYB8Kg0ew6eUdOHL4ZXz5n/4Rs+ctweNPPox169dh5dr18PKtOLJnuwaXIQSlTjzy4BOYu/g8HD24B0NoRIPCNgdFWBNryjQjl2tELlPCF7/0t1i7fhOefGYtBgd7sWb9bkyc1IqnHnkau/bsxs69R7FtzxFcf8OteOGxh9A+aTb2Sb9h1yFMGd+MZ59+Hq3jxmPT2hXo7+nSoORpsPQ0oAKW1yusytfdR6gB8uzWcNz5yTOQj9NTsSZfp7ZdCnoQ4CDAbrXHifDcHPjajYJrAqSpEEY4rExJSi9KzWbulZT0pHDRBGoLgwMHDmCFJuW7734QL7zwMsBz4PEi9ZZfFn+Z6GK15TlK83CefNmKwOsHMR5Eq7DTAE2+xpNNoPqulSLEbgRYgRIt5kFQPdnsECbgEZRwHA5aUEOLD23/B8EU9e+ZWjR4WP9yF559ZiMeuv95/Oxn9+O++x7Aiy+twNZtO7Bt23aE0dYkAUXFycNyjYUyXyiUpFB8zBJyAch2OMrmD+n6bTEkc+okmdJUi+TI9mr02ZHIX3wZzs6V/duOSr4274t67WuvYm1gHdDWYfwfPA0M9GOwMIDBoITBN2o78bwA4RMegkO9ePmf78JL/7oBz/y8B8+sG8DfrTyOgwMOGU3m23dtx6x5s3F44zO4756HcfeDD2PXvp14cd1unLtsGX760x9g/rKL0eq6MDBwDI/efw8O9zocP7AG92jQO6Qdg8cfuRdHjnXihScfw4ur16Bfg0RHdx+uvf5CPPHgz/CDn9+PZcvO15PdUezYvBH3P/IMmtiBb373x+jq6ML69Wux8vEHtCW6Ag8+ch9snHzkicclb4BXOI7v/+xezJg+Cw/d/ROs3bQbIZyGw0CDPhEqLyc5fYfI12ZjSpdzJJkc/RrIM4NJl4McPW7Sh6zgyQqfxNTjyeF4criunn+spyt3VUe1DSldYAvg1mgxHEILSx4DWQK8QNZQZCelMz9NbCamiSEIVyYnbGSXhkC5iGKcj5LTojkI0d/Xh7179mPtyxvw2JPP4K671+DRx3Zj48aMFrc3qw+cC7qr4LgQQ1632rAmfb0a8dkMoAEIDwFuJxgOgVpGOPQjcHpC5xBCd0Q2XYMbUNoJusnwoB0F7xzJrZqUdwPhTsU8KJt9EXJQMXxhGuHCPvGTFEO+0GLEjRPfjFI4TYv2KThyJIsNL+fxzNN92lncg3vvfgjPPv0CNmhhf+DAPu1IdCEINabAqZwelEHEgQXF7QHQKXmXSGXFcWT9AqoP8zOq1r4WJFL38LVQkFHKQI5eTpIgOUqkajM5HO/cqd8rcnic6pyGS+Sp+wyPMnYNObb8yLHh4pzVI2L2tZGSjBpCPp+vFEgDmFOH9QpZeLs0CL7go/nIOC0EshoIHHZuKuF//cNO/O3TPbjvkIce5yP0QhzbvRY/ued+rF63Fbt2bsbKFzZisNiHZ559EI88/AS6OnfiwQcfxO69PXj6aU3kL67Cs08+hYeffxFrN2xDf/cxbNmyCQ8/eC/uf+BBbN6xHU7/Xnzucdxz/yM4eOQwtq5ehfsefAp7Dx7CvoP7sHPrWjzwwKPYvXMregr92LljK15etx7bt2/H9q2bFecBPKd8NqxbiccefwIbNgivMmzashG79V410LWCr7nbUrkXr3O/uBpgqLwpctpy90BMgnNZyZp0tbuQzTRKJ73aEBGKDzTficQJNOx0mmJDEs4jQq+oli2I8+CFGcVVH3IFHDl6EI8//JLa7SP42V0/i9rsy6uAfTvbMNh9KcLiDcIu1lN/I0LMBtT3fC0IQrdDi90e5bwDgXsaCDWxQ4sGLw/Ho5rEtVhw4+CxCQ45ZPS0Dk3woS7Px2KVezJoT/zuGMipcBwP56lMaBXfqHjHAbdJee9WoXsVpyTedihssh8UZrrKMxM+b5N+OohlcLbbUGzBoY7j2LS5B889v1W7DC/qYeFR/Pzn92GFdhsO7N+PwQEtAnQdQ4MFOJUMbAM5CYRegbjlyGbGKeapTzR4/Xi9Bv4N1oD3WiuzrfKM7JvSlbJZh8zqISlAfkMLmrc0ga6kgUFPDhpVhrJZDOSKCDwHz4XIugAlNsCTDaENLAUNFg7OJl8axov4MCDIAE54hDmE0WDpIRsU4EkXemWcp0G3yLwGtgwYajBVnMArAYotBAAN0qE4luA0sCmq4vvQqAQ5yA9AAJVXHxq6Qg08VHzHEHQql3iILyof+BmEYSiH6lOwasXr0n+sGlA7VYMC1MagoxQMqEntAmgTcYPacVZP8uoDYQEOantqYw4Ur3Zp7QrDD8+pTaphUX0JastFzY1Hj+7TBLoBTz3zAu6993k8+ugKHDzYiePH8oo/DaGbpnz7EbJXfWyD0rUKLEfuQ4Y+fHZqUbBGOR9G0a0UvxLObT3R9rPi8/DCSfC9VvmVdEmNSgOE6ASp/qVFT8itCLlNdFT4QNegBUZkmwqgDR4mi8YDtsBgv9LxKldB+V8r/HylF6scy0Ho1YYrwfMXIIRwXmcUywsWwLENDpr8MR+F4kR0drRh3cu9eOChp/Cznz6Pu++9B3v27Vc8D3R5IKrXXQi4CfCtPARJvBoHeXbzIc9u/H8PdfRqXMNrNQ/vtVgwWySUShpAThaO8AMfnlb3gacJPLRG7SNkCxomX4Vrf+2jOO/WOZg0qQhmiij41CBSRPvUKbj62stx8cXnIeNnEfgl+M6BQQZ+QwtmTpsmHNTZNag6D4Hv45wLr8D5i+bAoye9QwgPxnst4zFjfDucOtSUKbNw/VXXYvzkSZg+fxp8AFloMIaD2b1o0vcQMkBGtgxDMLLjxOEkx6x5UwJBErlsBs3NjWhqakJjU3OUGt/Q0CDM6+e/lRogeWaLqrYPUBNWRhMXEJQ8tbvzW0GDAAAQAElEQVQ50kyA0wQYuKPYtGUbHnhwBVbqtdj+A0fQ0zeAkishtAWtUEgc6gaKoamzfwD79h3FCy++jLvvvxcPPrQJL604jj07FqG36yIMDTVrAtZErcnbuWblp3f06nd0bYB2GohuRX5ZZdqJUviEFgYPwnGLfLbDYwnl7xE4yVrQewdBfze8zHHh5af+EfIowEH1lR6E2A8iQCY8R33dXjNMk60x0nnKWwIcjgnXh5ATQZ6vPG5AlncAmA942sngOC1MhuCihXYofR/gJilVn3fj4HOGqFn2AdXlJNhYQ2jB4uzvOqgug2l69TgORw42ob93uvyKindA5e8QT+S5RH20BSQln95Jnr7v6eX479OLfL0eX407670amZxqHp7nIavdAUuN6BFhJoTzPQ0gHrzQx0DDEMLWmZh2+4fRE2zHJVdl8WefvhAfOK8Z4/xAi4EM5p17LS5cuhitfisuvOgy3HHnx/CmW96A1pYsLrzsGlx96cVYtmQxlpx3Ia7QpH/HHe/DggVzMH3uOXjn+z+IN9xwLd777nfi7e98C6647hb80ofeBt/L4vJrrkWuVMDk2efis5/5LD764Q/iuuuvwW1veAfe9ba348rrbsT73/M2XHnjW/Dh97wT7U1Z2OFo1e1Ufgen9k196JTJg4MUzqlszZgxfRqmT5+OGTOmR6nx47VAEfD18z9yDVhjYRjVgHNFhDiidjMAD+M18U1EsdiK7s7p2LypA888tROPPLgBDz64Fk89uRHr9f790MGj6NPCobe3D6tWrcQjjz+OBx5YhcefeBnbts5AX8/VcOFFovPgOBPFoBWeJkVSC1T2KN9ekS1SikpLIHKagHOabFtgZSAatCieBoa2mJgAJ8mplM4LYU1/ycL5uPXma3HDjZfhvAsXI5tpkt8kxWiA52aJ5iJkVlSAo57isU1lEcGutQCPswFOQ4bvRQY3wqFdvlmU0KlUY4TTgkOl8jAezvUD8EHqNYg7IN9u4VYgxBYtZLZJfxzEIYCd8MTZYsV5kD2DIAQcG+DkDzbB53whLO9xCFwJ2tJUfIfXj9dr4D9CDahbvDYvc968eVi8eDHOPfdcXHrpJbhg6TlYdu4SNOabMDhuAO4SD7kZWcy/sISZsztxQVsGvRv34W3TGzBNYxrU9TPq8qWeHnT2F7B0+VKsk/2Ci86HPZUvXbYMMybkMW/hubjs0uVoHT8BC+cvxPJFC3HpJddE6ZXXXofMYA8OHBlC37HjWLthPUItDtatXYtJi8/DJE3+G/T0ls942LqvA1dffTkWL5qPa664WAO2w0XLl2kwCeGRGmQKsFcLgBYEGujdyWo3LpQ9LGs0mjpJkeCiz5MfJDV6pZQnra8zr6UasCfUM10eshjd/9DadZhV27LuOySpXxNaP6LmEZaf+oslLaQHG3G8I4f9e9qwes1+PPbIAdz/wHN45JEXsXHTVhw61IOhgaVwwXzFbVZxGxRrKjzO15PzemSYl059zQ3IrsUATsgIAK8RIYeUrxP5wvcDlA6eyjFBNAlAOzyb2N0E+c/AkaP9yrMTnv5NmzoZ9K3cXSDkD03wavtUtIDbAenAyfA4Bz7PhYdLpVsqmi6E5XtI/Ul9CU2qh+Pw/YmK0yh7CfSa4ansZEE7iD3Sb0KI9fLrENbkLvHd0h0Q/qjKbt+P0EIj7FA5++RrfSyAo9U3helVDOFC7ZZwK7L+EEiVVIt6GU/5PNW2car4Uy3Q2Y5/quU5Hfy/h2s4net+NXy8VyOTU83DbvjWrVuxadMmrFu3DiteWoWXN2zA+q0b0LmkE0O3FTQJ96KwaxNe+vL/gHt5H5ZPnIR2l8NujTW9Q4DTENA11Ad/0jjMmjkRXUNF3HT11Rgc6MJNb3obmrMOx471omdoCHvWrERLaxMOHTgo3RHYlwn37t2PVWvWYN/Bw+jp7dQiYS8mTNGAlclh1uyZ2qlw2o48pkvLapAJcfzoQWzetgO7tm3Ehm17MHn6LAx0HETrpJnINmggA4UtnxWuLL/++XoNjFYDtongYN01A7CkBu7Bx3hNlC2A2rrTxE3NbY5dICbC8JAO6IGDLVBbhctpUQD09U4B3Ew9uZ+rp+otcOxWBKVYqxwOgNSkiV0oufs1qa4HpQUHAWRFx0W+/HOiAnxY/kPCtEPZK05RaV5pr3B5uDCnMo5Xf5mhBUuA9Wv78Oij6/D4Yy/rNf94xZBd8clQfl1wrgEZLFPZtBjQK5YQh9W/MorvlB4F2aZ0O0rUdVFYbz4oT881KUoIz+9FU8suzJ5/EJdfAVx19QAuuiSPufM9tLXlkctlhVbRoDrUq0tnCyBaWS3efhk6EXKrUvVt16U0QOjZtTcq/mJd73L4mUaV08n2+vl6Dfz7rwHvF3WJI+VriwSzk4R9iS/Q01FB71XDYAjhnAClgoem1Q3gQIi+zbvx5Hf34gt/vAJ/c18H/vylIzhUhF5LhNj8zJP453/6P3jgkSfw8x99F/feezee0Bbr93/4HXz1y1/ED+55BE88+jCeWbEOP/7hD/CNr38N//x/voqf3vVjfOOb38B999yL51eu1sD2EnbuWI/vfO/HsK3Ip558CD/+/rewZs0KfOXLX8bXv/Et9HQdxQ++/S38+J6Hcd9dP8E//dM/45vf+xH+8atfwcEjGnCogVUXZQM5nCfu9fNM1EDcVs5ErLHEOBP5nU4MR82nDFVEpwnKVzvs0DS3U01pEB7bRTk4TXY+GgB6ksfBIdQE2qpUHYLjEXBQ+DxCZxNyTrg8IASR06dRKI9dCPCyMhuSX7eoX5A+pcfhuAP0etCQ7xd1I+MHmjQtD5VBHDCkyV0LFNjTuhYlVmgMKHYjAh4HvAZoD0Jlz2JoSDpt3RMtKk8BULk9TIdWFFqc7EPAFQB2qxzyYCtK6FecQWQ4XmkROW8KPGaR16uM5uYOTJy8BUvP3Y43vLEBb35LA266YQbOPacZCxdOxEXnX4Qbr78F73j7u3H77bfhmmsuxsIF8zFxfDuam3PIZEJAuwaED1h5XQFEl4qixQNz8ML50svGHoTeFvh+UffASff6+WrXwOn0nVe7jHF+/5bKGpe5VurVUv6idSRh30mIK9kKmQ98oNiI3BMZtD7SgEwhh5xHzBpPTGrVgmBfP1YfH8KAnlx89fle7RTYN7CLRYdSMUAQFLBt08tYvWELAu0qBGEJQy4AgxKKys8rFTGkxYj9qiJUWgg0EBSLKGgsoGT7z5pKgQRtMTphi8UCosFWrx9K9osGxbBFzFApREkriVIwgILyKEp29CHPqFpt3DSKhNP8UBFO0/O14xbf25FKNBbMSP71bKca91Tx9fJ9ZXqnSctTCJEm+TBohIfxYJjRhBWqLQ5hQnsLGhsHNXl36cmdoJ6Ss2gB0Stqlm8JDLX1T/syX4v8itK7aCKmGqXTKwwgL32TsFNAzgE4Q/nMgucmgorV3NyMJUubccWVk3DplbOx5Lw8ps1sRL6xB76neCwIF8pHcXgY8AKVzZXbv5sGj8uU3zhkeY10WYQUhoPiOxBCEzOy8JSP7y5VnvNB166pewaIgtJx8u3S60Ji4qQ9OO/8Llx1wz688c2teMNtU3DFJXMwe0o7WvLjQCq2a0b0yoC6boYaU/KYMGEKFi9ehuuuuwFvfvNb8KY33Y6bbroFl112KebNm4Fx4/LIZlTHKAHKk1owhNwJ8CBc6CHrxuk6PcUnah2jtZV6drJ2vFp5nIquVn61dGONSb565UyXKV3utJzGm1wLQ576NdSKY/HPJL0aeVh5TzUfz5zGTmcfad/kb21tRT6fh6WkdhM0fNgwk7FO2tEMv89BLKZNKuBvf385vvyFefi1t7XiIze24M035NHUEKozA54GvZaWdjQ1+8hnGjRwhiiGPkI6DT4iEBp1JAcaTEJQQX0/g/b2KRivAbcp1wQof8ERIhPxk2ZOR6OvAciU2hHwnQ/nMvK3cmaQcVpcyEbZMmEIBzs8+3idXoM1cKod5nQv4ZXmQ03i1lahluigthbm4ekJW40W9hQM5nHhhefiDW9aiuuun49zL/AxZ14Dmtv70NBQ0sSnp30OyacBQBGg2izsib9BbVRPyOwC9DQPSXZ62o1wblA5tWqSz8s2Bx4Wore7XTtrg3j6mZXYvu0Qhko9mDN7vLb152DyZPUjd0TYbvno1QC0IFHfyHgXwMMFijVb4acDbEDJdYEqP2GYBtBS5gA0ga5FaQccdwHeDjQ2HMHECR1YsGQ3Lr9uF970llbc9ubJuPjiCZg9K49xbU3I5LQo0YIksHJ7gwD0ACByLiteRKc0EBVB7Up6ntOrBx/jxrVg1qwZOP/8c3HDDdfi1ltvw/JzlyDfkFH+Wryonqjr9ryZ8pskXQ6epzA1zld6j2uEfF31eg38wmugTnP/xZSLJG655RZ12PMxb948vO1tb4sWCjZgUSv7UqYAjSbQyAFfE/DEcVlsOdKB53YOYursVlx5WRbXXZbBjGk+PA0Q0+Ytx7ve/Ra84ebrccGVt2LWlHFaMDQg57WiubUROfhobGpEY64ZrY2NaMwDTU3tuO5Nb8RH3nUHZiyYi9bmZi0wchpo82hrasZtb3sX2jUo0RYHGnicCNHhVLQAITwNcqbQAoGhdJTgRGM/bbApahfDPIJAMXWt7tRCmOuoZPnEoCQf62qlY8ElMUm+VryzqTvVvMeKT+KS/KlcS9IvyVuMpHySt2aktgXtItBRO2PdCNxeQLsFzh2T23FNlA4Neuc+Zep4LFk+HVdcuRw33XSO+tT5msTb1a+mYuqMXk2OIXyvD+Bxtc8cSA/UItj3mgEMwGOL2rFS16j4RekyUJbqUT3CtcK5BhQLGRw73KzduS689MJxPPXkdhw9apNqHxz6IaBOPdFjLspHID/CaaHisAAOwob2HYQB0OuWvE95HVPagxI3IqT6OqZoEp+Em97Qj9veOAtXXjUdixdI19oMKzFUKOt/6h7y1QKAUSWJ95RlmVeO4p10ZRnq83AZ6RgRde2AUFrUHzp0AI8//hjWvbwBQ4MlaRvUlzOiPtX1LpV/A0rYDM9Tv47zwpk57LXqyXs9hpC1sGldWrawad1osvkk6VTwaexIcZK2JJ+MkeSTmFPlLY5R7DcWPsam06Rv2jYWOfYnrT3W9ogxZk3yJiepnq2ePumLEQTrTSOYX31Td3c39u3bF9GhQ4cwceJETJoyBRMnTMaE8ROQ9fUclA1RmBpi4qwmHA1m4nFegB2tTRg3oRmXnTtduwA+qCetDBsx0DuAndt2YMmSZXj3Rz6CT33sQ3j3h+/Ef/7CH+Ftb74dn/rtT+Mjd7wHn/rUp/HW228VvhPPPrcCG9auBHLt+MhHPoiPfOyj+NVf/RV8+CMfRXtjThuilRvqoAEoItQ4DGf2GqYRVENDQ/jud7+Lbdu2RWlnZydGaEMjRDq7plfa+M5u6c5s9NO5jZgfjAAAEABJREFU1tPxqV9qTYI2udni1FaMYRuoSZRohIdJcsujr7+gluhrQgQ8l4fPrHbkPLRpUTtjZjvOOXcerrtuCW5/65W4/qY52nmYgjlzfW3d+3o3H8DPdCqW/BXZqZUDLXC0CbENTpM6kVMaapcghP00MCqGdEGQ16KhVQuXdnlOUwztGMDKcgQhdmuC3SS//fDYrbJ1gS4HH1OFHSfdRLhwMoA28Y2imchgqWyTQfrI5pz6c4MW6VnZCAoJKP+ITDIeiOr6ZFczfQQ88VHGnBCqEvMr6tXh1q2b8eSTz+HYMS2+AvkzJ1yocg8hZIfynqwyL0WGy+B5WdmqT4tTrRkujQUz3Gu45kzFGR55dM3ZyPt0Yp6Oz+hXd3YQ/5bKWqsGvFrKX6TOVtRHjx7VU8nRqOMPDg5G/7tc18AABvqL6M/2YWh5P4JrQhzuK2B30IrcjAbMzGgYW9mHrauOoWughCHJ/YXDeHrlBlx45VU4vHevtkm3Y/XqjZg8fSa+/51/wnPiV69Ygakz52DFSy9h5oxpyHgaHgMPRdVMc8tkPP3cc2ibOAVh5yHsPHAAzdkcGAZntYryetVywQUX4Bvf+AamTp2K9vZ2hOHJEfCs5v168NdqDahBWtFYgvMGUAp7AeoJmE4TWS9c2I71axrQ2atJWDrixD8W4fSUDGQAbb1nvAY0N+QwfUobzjlnMa68agluvvlS3PqGc3HjzbNxzvktmDrjCBoatTD1tHOg/Og5RRsQtcKxB06LB7AN8OxpX31BGMd+6X1NqLY48EArg3YixAHag6BecQTcBsd1cN5z0mjhQC0ivA54bAUxAxbXXnEE2KqFxQrJxzQh94ioGKOfNhjXolqetsAx7NDQAF588UU8++yzWmTZa4q84O3q4/NUpqniJ8DDIpBT4Nitcu+Ep/qQ4eRpcU4KZ5g5m7HPcFFfD/fq18CrkqMX50JSHeEXR3E5bIJctmwZjNra2qIFwmB/HwaGChgMejDwxgLCCwk8WUTx8ADuvLQH72rchHmNIZraifbpTejvCfU6wsHTlv0F5y7E2hdexMYNK/V0VcTmHRvx/a9/HZNnL0FrawvoEfffcw+8TAaPPPoUwlIJXV2HsG3PAWzZsAKzp0/Hgz/5IVZtPYoB6R+6734c1ZO+Rty4yKedkhxW5xaMJM477zx84hOfwE033QTP80Q000lKDh5J3gBJOcmb7RdBtcpgOqN65SHL15vEnCpvscnhcUxfj+rlUQ9v+tPxMb8kJWOYPilHvDNtaB9wQQNCbbWH6JasSRolgH3o62nCU09t0QLbFhBFAPYkbIsIqwNhTNbs6EKCWjh4It8Lkc34aG7KY/Kkdlx43hLcfO3leOubr8Itt87GpZdOw6LFBUyb1oiWlkH4mRJ8f1D+OUBlACxWTqwWFNrVgMripIN2MhxseCGgBYJWKvLJqA/m5Wf6IfG+KJRd5cVhQTrE+/Jugf0BI9/NQz7XKp1cVO6IOY0Pqz+jMFR9KI7xRp2dndo9eBqbNm2Bhgq40Fd0XYt2R8o7JR7AbtXaPu2SHALQC9/+CWb+UiBOja9HhjEayV7LVsunls586+nNFtNYMDHWUsMbGV+L0raknOTNNy2brhYlcUm+FjbWJXFJPrbHaWyL01h/qmk9/6Q+ySfjJ/X1+CT+bPNjKYNH8mRDN4dfFFllWCd+9NFH8Zye3o1+/vOfo6enR50UGmBKGhiL8HbmkHkuj/yRRhztyGLFumModQ7g2PEAB8a34+WDHrq7MsgEDh1Hd+L+u+7Gmpc3Yf+ejbjnwYex60AXjh/YgbvufQBb1q/E/Zr0V65eiUceeQwbtu6Gy3koDHTh6LHjGOo5igcffASbt+/Ue9cn8cyzL+LlDetRKEHvdXOviGziJ8t1n65z6DD7jBkzYKnEf3cnyX9313R2L8iVw2tiD8MsXNgGj3q61WRMtstWQInHMNC9HKvXdGOoFEjnAXo9AQZwTpOxUq2cEcnU4sGTXlMyoh4mbJiD3RYvSzQ25jFtaiuWLJqPyy5dgptvOQ9vvH0ObrvtPJx3vqcdrh4tLPph322gdjYQ9sPTBIpwCL6zRYw6CZwiF5W3ctBuA7STYb8IgvRkKPx49etxkmxBU4ByhUe9ZsAkGCbAMdA7GvH6eMUnySgGSb3O3Iv7778fu3fvVfl8kFmAnsozH8Q0RL+KgC1o2iTPhIdzlM5Sqj5pWKiEWnAoGfF0o2Dq2evpa2VWC5vWpeWxxknixhIjiX+dr1MD/8bU3mc/+1l84QtfwB/+4R9W0R/8wR/AbJ/5zGfwmVeJPve5z+G3f/u3q8jy/uxnPoff+/Tv4nd/4wv4v277A/zRW38Xv/X5z+Ojv/IZdLn3oMv/BA4X341DQ+/AgP8ufOw//SZ++3Ofx2/+zu/jt3V9n/7cZ/E7n/kDfPp3fxOf/8yn8Gldz+d++9P4rd/7PD5n/Od/F1/71/+Db3/ne/jOt7+L73z3m/j2t0Tf/Ra+/e1v4Rvf/Ta+++3v4Fvf+i6+/d1/Ef992U3+lnQjk3234Ec/+hF+/OMfnyST/+Zv/ga///u/H9V5XP+f/vSnYa8WrA1Zh0wuEEYZa8xlTGRxxwRMgE7HJ+FexY4llmGMqhxPUzhTcU4ze01A7qRruixp+SSwBhPd/2hiDzWBdWnB3KXY/SALSjsBV0QYroP9ZK/jaCueefwAunsH4TRxe+asCRqhJkKXiXSmd2FGORkpQQD7lUSop36nxYRtEtiETi8EQE2OWTTkmjBpQjvOP2+5XlFcgtvedD5ue+PFuPyKaVh6zlRkc5rQtevlVCawFx4t9qDSBgADSu0pPQSRR+i6UMJRvVYYkK1JZP93QqMWFftEexByP8gm5DK2YKDsr+Q0/zIVtWVgf6DtqaefxaBeS0JlIXMgpiqDVuU7pHRQ9dkHsle8LXb0oMJtqqHtKHlr4flDqvPKfRXotM5Tuf+WwanizWckOtPx6uWVzicpJ/l6/qYfK86wMY3FZyyYON7ZTE+nHKfjcyrXEMf33vOe9+COO+7ABz7wgSiN+fe+97245pprcN11171qdO2119bOS/qrbrga14huuOY6XHvt9bjpGsNejyuuvAHnnHsprrnuDaJbcPV1N+G6a29WnKtwo/yuF113rV3DNbjxavO9UbhrZL9WuGvFX4errroK2YynbVwNwKHGB23HOj15Ba78pI8w1Ok0MOjJK/AQupIolGy6kSmXy8F2BKbrtUVMJlu9fuhDH4rqPK77d73rXbDfocc30tngfkKgjXEn+FpJElvLPhZdMkaSH8k3iUvyI/nUso3Vdyy4JGYsfK3yxLp6/rG9Vpr0SdtHsqWxSdnBU8MUhXktBBrFZ9T+bEKziTgvaFGT2nGU3POyEYeOZLBqtXbG7Et4UOOhLQJC4ZykMCLA2rBNgrJLIyPglIcTZ6QFhhQS7NNwxpohhO97aG5qiF5RLF48ExdftAQNTQFyfKvACwUcVB+xxYv8WALZDY++0gAe2oQJkeEkELoO7tfCRWX19sk2U5qpeg2xTHw78nn1OfVFq7eYFPwUTwfrP8ViIfr+wQvPv6QFgoWg9C1iJuqylbpxKlde+XoAO1SmPgC9SrtV57Okn4sM5sBjXvqRz9HKavZ6EUaypX1qYWvpxuKXxIwWI21Py8lYSX4k3Ei2ejFOxycZK8nXi3VCH0HHwkfAV/BRL4+RQp6Oz0jxkjaPZCTbFwQffvhh7NmzRx2nrPP0VBAZ/wN8kOVrPhuXmryBcXyr22PHjuGxxx5Df39/rH49/QXUQK37M1ox0j5pOek/VlsaVyVrogW1KFBqr+Wg1wjUtrdDqKzyIBo0sbYDHNQT70uaoLM4sn8OVry4GUMF+Wmqc6484SI6Ku29Kh/Z0rJU0TlcX15EOwe9s9eCQ4vpktsLnxNguwC2APC1ELCfaDY1lbBoGTFjeg6trT3wM8LD2n2oCVh4PckTtpugxQX266o2iXYh42txg+rDypGkautwyWmRceTIYTz00IPYsmUrNMtrgVUS6XUHpshhEpweDEgnUy/axh/Tg8cCeFB9qlwe5gBsRYg+MNsB6jUN6hxOlWFUxxypR7LXs9XSn65urH5RYU981PI5YcJIthjzenpma+DVrHPtRDp1aOqd/CPYv3+/3jXatpsW1GNo7Gf2sv9jRbOb3NraiuPHj0c/cywUCme0Aix+HDDJmy4tm240OlWfkfBJ26nyyXImfZP6ND9WXOw3Gp5kDD3jad289brA2esCTVVgQdv03RqcuwD2wHEP6A2qH2cB+EoDENtQDA9g954F2LypG6F2wEg9IcMJ40AqGeG0chilIbEuTjVSCOJUFqeFgi1C+rSbsS5Sh+xUOVUWl0FTo4+LLpyHW95wId70lvlYtGiyFjI9APugJYbIyUdxvH7ps7DvJvjeLHh+s2wUnd5pf2dk7969ePzxx3Hw4FGEoQ8X5hSsDT5nqza0k4FBeB5B7yCmTB3CTddfh2lTxyPkcdiiK4R9b2E9oNcjnnYYPFo9WnFVZmnjs1InsWZ4Wg9jeqPhHsPzqYWpp0vHTMu1/NKYtFzLJ6lL4pN8EmP8WG31cEm98UYW1+gkLyHJSzx5JvVpPimfdEgwI9mTtlPlE1kMY5OxhhnrKJI+xhvF0CQf6+LUbCQjMWrt9mQyfvz46Im2q0sDT2R6/eNs14D9PYS+vr7odQRZviFnO890fGsMad1o8un4jBbzldqtTEZxnCQf6yw9Vb351KN0rKSc5M0/KRtvZPrR6CROOwjwCnB6BRYGeXjhRE30UzWDTITn5mLcuHGYNdsmvnHS5QF2Cqt3/uGgnp5DbN68D0GJADzpQ9GpT3Byjk4rE0nxRkpATb6a4LWQ8XgB7K8TAi3w3UxZmkE2SpcBQu12CJ7PtqAh34wM5mgXYTwc++DQAVvweG4eiMkq34AWGPuRaxgCZNVH3dPKkyYDF4tFrF27Fk8++RR6emzXwpe6EWS7aCpKiBcoR5H1O7Bs+RzceMMVGNfuo2B/TMnllLXtNoxDFlfrehYi509SDUbDpmJQ5bTrLpOC1z3j8tUCmK2W3nT1bLX0aV1atnhpMoxRrE/ysS6djoRJ2pK8xUjKSX40m9nPFKXzPVNx/z3HiVo7SVx55ZW49dZb1Zkj1b/na35Vr42j5Hb11Vfjtttug/1fFaNAZXYatJSMMmga4kzQ6XSo0/F5JWU9nfxinzg9lfxPxWes2NFwZqdeL0BP5FbW0BX0tG6TniZQPe06dCKTcTj3vGWYqu18jyHAZhA9mrxXo1SagvUbjminsEuTGqLDqSlFzCgflnctSFkfB3HKhwiCIU3suwE3CDKLkN2A14cQHfB9At4QnP4FgcPAQDeK2APHXvja0qebrgXDlMg/xFqEOKzJuFkLiQZQ/2qVobauXKaenm489dRTWLtmHcq7dLbL0gKyRW5ZWDmgXDyNfZeNaAQAABAASURBVI1aiFxy6XRceslFaGxogNVzGNo4qEUC86qzPEreAS0qtiH09sN5RekUQZVIEqMd5boaDTXcXs+vlr6WbnjEU9ek444mn3oOqm7VY9LPOZcUq/h0/lXGUYTT8T0dn7gYp+P7avnEZRxLqp6gU92R9LBw4SJMnDgJFG+UzeY0+LxOmczY6sDPZuFnM6qzMmUzkn0fyWFED4IwgrTNzS1YsGAhqPo2uR6FoIYzamAyRIj4OJ0GFfsm02ScJJ/EpPkkLskncUm98UaxfSx8jLW0Ht5s9Sj2IZN3oBodY0xrvFHMW2pkOiPjjWznzVKjpL6WbLqxUDJOkj/pW577NJFKEzWgjBj1Xb1Ld+hGLkdNcE249PJzMXlKXjgtIDxtrbOI0K1EWDoPK1YdwaEj3XCQHwL5V5+Wr1G1tjyI19Yb0upWE2YI5ZODz6lqq11QJjp9pXnY9xO8jHB06OsfwAsvvIydO4ShyihU6Cw9Iq4HPmaDWKQSLgS8Fvi5QHEV352oAMsyImUoD4EkUaRTicGOHDmo1wtPYPfuA/L1hGoU2aJposozXf1oMsgMPPZovOvGDTdchUWLl0gWVmW06g20EAvRB8LKdhSeljTkJGTs9Qd1XcrOTmcZGpMi08eUMp0UR7Kb7STwBGM6oxPiyeR0dbX8TgYdA5P2T8pJ3kKlZdPVI1I38oQx6ZfkT5hBVrCxLolL8rH9dNN6sZL6JJ/MJ6lP8klMmk/iknwal5STuCSfxNTiR8J6//1//g3+9M/+UvRX+LM/L9Of/Olf4q//+//C1//1W/jXb7xOY62Db6i+vvGv31adiZT+i+Qv/+M/48/+4q9P1O9f48//rExxXY+WRvg//2v8xV/+D3R0dKhT2ABf6zZDg1/1QDrSja8d4bWlHan8I9nSV2FYo7R+JNnwRiNhYtuZxlncdMzyzwqLMmni16dDjya+TnheM3xNrD5bQa+khUIeF154Idpa9cQcTWADahfHEGAzhvonYdVLBXR2d6uxlBed6XwUWvjqdmS6emRZOBfCFk5OT9+hcvI4QQuF4yDGwal0ThMuXF7tdwhPPbkO27Z1oFBqgkf7TkAOYBMcx8EhB7Kgsh1XGfaKNiKXtUk6hB1OmRkZD1g/YJk98RmUoMXHbjz+6BM4euQYwgivxZSbCs/NFyoHx26VSHXmH8X0GQ1aIFyKqVMnw76TIIBOp3yJwlAAqjzADJCicB4csvAyRdWzJ1z9s1LGU8eYr1Has5bOMLX0Y9GdDqaWj5XBKLIZ8wrIYhiNJcRYcfViJf2TfBKf1Cf5JObfKn8q1+Pdd/8DuOueeyL6+d33wOjue++VfC/uufc+3J2gu+65N9IndfV4wyZtJicptsW6WE6mI9mSuNcOf7/q6wTdZ+l9qq/78LO77pG+zN9194n0RF3G12ip1f3w9D7cLZ97he/r7ddApQE8MTaO9WYbzijZqMlEoBOGGEOWbbEcpydgJxOyjDMFWeFNjokcro/jkWVbWo59Y73JSd7kmJL6JG/2tGy6sRBZLtdYsIZJ5lOPN1ySkjjTjyjbqwZ75aBJWHMyEOpduZumiVAsjoH+YDS5uZAYN87HFVctRmurD5/aPocWBOEu2M/6unsCvPhil57oQ8RHOl/T19OZ3sgwljPsJ5MM9KohQCnQ4gOHEYbblWNR5TmkqbxX/BCOH++JFghHD05BEE2+3cIdlU1t2u3TzkefiLINAgylt4l7Mcg2QFH0cfK0/J3TNUUUKJ8QxWIRq9e8hGefewr9/UVhs4BrkOccxZgAp10L32sBMQhmNuHC82bi+msvQXNzk7AeXOjDqWsZQWmpGAIkiC7pt+s1yItaaHQgzxLsq45IHeUy2QJDzilbLI6EiW0xNpmaLSnHfFpvslFsj9NautgWpzGGZKSKZROMNzI+pqSc5GN7Mk3bk3KST/oYbzYj443I0ctmeCPDx+lIvNliMrxRLNdLk5gkXw9fT2++RrF9rPxYcXFcS5M+JicpbYvlOPUa9A7O3odnMhlYWo+SduN934eltfCx3tKY0rh6+iQul8tFZYqxlibttXjDxFTLfnZ1Vt48Mtk8fL2i8HN5PQnl0JjPI5ux+hLZK4lMBnEZk2lWNpOTqb2+8LI+8o0N8FXniAZG1D3iG1sXkDDUwpI2+A4f7MiyPuEesXEMS41MGacxn5RNZ0TSEg3A1YOqYY0i42l+1PNP6uvx6SyTuKStnj6JqcWP5lffbvXvRSFDp4lR29/QqwTNhHAg/IyHE1UKakHR3j5OOwoLkc0OwmMLMpikiW47gD50HhmHl1bsxNCJX9SQ5XshY9XpNGMaVSmrBNt291QED0FYUL7T4GORyjFJujw8tCptgGMOA31T0Neb0Xt9LRqcXkGgWfY22anJtxnQ5A30y3+G+CaRrtfTosMfEu9E6dN0ofLSNN7VjWeefg7r123WYiFUfrJpcWFfoAzNTfXkXJ8WJcfR2uLhqquX4JxzlsDGPqccES2+DGiktq+k/LNRFU/lBGfC41LQm2pfV1D8Sn1Z/RjJZcRzLJhaAer51dOnY9TCpXRVfdBsRuk4pyKP5J+0Jfl68clyXRvWKI2rpSPLPmlsLbmWv+Hq6c1Wj+r51NPXi/Na0lvZvTAIUSgUUQrVsXQGpYK22orRAFIoDKGogaSgtBClwpVKKIls5V6MdIXI3wacguIMiVwQyE++pQBBhA3gwhBB0bAnSHqn/cFKjIJ8BhVL6dBQlA5aLBeqcweyFSLd0Ik8h2QrRHwx0hfiMhZLKImCUqwv+5WxZ4MfUtmGojKcLFNxCEVd38w5c3D55Zdh3sypKKmsRZVxSLaS1YXqyH6eFYaqI9VLUfaCrqkUlXsIBT0ZlaQvDA2gqNT0GhGhcRtj7wL1m5vdfKMYkeRNl5ZNZ5TUJ3mz1aMkrh5fzzetj/3J4bVADtel/ZNyHMt09XizxZTEmC4tm64WjYQbyWaxKvZQYqj770QlhM5eN3SDtMl4AsIgD4dApE5saZjFtGlTcMllS5HJ9mhyNizlt1evAg6g49B5WL16NwL1f6e+X8lH2aTOWrayzspkdR6W46ALAbUIwFxQT+0hCwi9Hs20bXAowl4pQLsOugBEMloBtiGk3hModVQcbAZgi5mj8FUuHxnB7ZqkrjrDSH/s2BE88cRT2LlzD0LtBgCNIMbLlhURYCM8NMFTHuMndeKGG5djwbx5Kh9VBpQP5QvZTwhKHEqBLU5CvYaYDFoZtLgKwu3wMx2y65LUEct1EIl1PwxjVA9gNqO03XRGab3JtfSnq0v7jSbXy9/0RmPxN1yaRvJL29K+sZzEJfnYPlJKqq3UASRjJfkkPK1Py0nsL5o/1bJ5oIeQPm5+w7vwjje9BW978y1o8LLwsh6yXgPOP2cpfC/QQJNHQ97Hgjnzce21t2DKpPHICgMd1Jajn/Ph+w2YNGMR3v+uNyOrrnXOhZfh5ltuwE23vBHvUtxFsybC11N2xs/hwiuux63XXoycnoAyeR/zFyzF5LYc1Ju1tnfw9K99ykJ89IN34IoLFyOfzyGfVceHQ0ZP1JlMMy48/1x4fhYme3o6p+chl2vC1VddjdtuvAq+p86sclBltNMqh9TgoA5OEp7wsY4so8iyHSeO2B6nsY/vq96Eoecrfw85lcn3Qz1NOYSuCHo53Pjmt+HyC87H+2+9Ehl6CDwiN24qfv8zv4/f+o1fx2/9+ifx2U//Jt5585XwNVDlG1pw58c+jEsuWobb3/4e3HLF+boG6iJEug7oCZJiVXzlPPppZR4dNTpipDhJWz1+pBySPklcUp/kDUNW3yPTGcbIeKOR+KSNVIWaQ4qSmDSflJNuSb3xRrE9zY8mx36WlrFWTifRU3vIw8MEtYgJmgh7EWIfsjmC9KGakexAT0/2JGZMn4VlS+cjl8nKL5C/Ex3QJLgXu3bNxcbNR6GGCadJ0ixObaycn2CJs5YOLpRfAQ4+CoV+5Z0HbdGLDcrLA5229oXxXBucdjcQ7RZYudoU2cFxn9JBEWXvVap+Ay0wuBDgNPj+RFB9CgxkV15WQNgRalFSwpYtO/DwIw9FrzKgMjjYQqkd4HRRGzwtGDxni6PNmD+/GTffdD0mTJikcgL24RyhgopCJSqvOFocFyq+rsuVlO8R0QEE3Ks+PFX9vBmk+aHuYXUVUz3QSHaz1fIzvVFkS3ycri7tZ7JRIvQwNm1Py0mHtC0pJ/mkj/Ej2cw+GqX9k3LMk9bmTjYo3ePa/Eh5xbHSmHp6w9Wznao+Hauefxpn8khUK46m/xB5deyw1IsnHnsAx4fymLd0MT71a7+BO97xfnzoIx+IfvXw8Y9/Em+88TosXzgbjU3NuPKaG/GxD30I41szaGmfjE988tfxy3d+AG+85U2YPrVdA1UBWzesxdPPrdQ7wgIy+QwOdw7htre+F//pY+/HLddehaZcI257+/vwW5/8Nbz/3e/BB97/blyvJ+8Z512MRXOmI6N/vp5ABgYCXHjVrfiNj38Uc2fOwYfv/Bje9oabcceHP4yl8xbhzk9+Ap/6xC/hlltvw2985B3Ytm0rnn5hpZ6uSoDuPT0Pnsi28q2CfN8/2dFNbzqSkY6kBic/wpst6YMTh+lD5zQIZnD5VW/Af/mT/4G//NP/Cx96y3UaYghHT4OKhwwzOHz4CHJeSVuqJfjyUUWgc/cqfPkrX8Hfffnr+Mb3fgZq8RMSGCwM4q6nV+GTn/0D3Ly0DStXr1E9yoDk4ZLCiDypslieI6IqxloNpGI9c1y9fOrp45xjezpN22M5mcY+SZ3xSb3xRqZP01j19XAWL20bSU7byg1Zk5lahC1CQ2eTWEHqZrWrydC8BiIj8pSVB7vtRmr2WLxkPhYunShbI6jFqNNkHWAtGI7D5k3N2HPkKDztPNCCwJe/wppzxFU+qsukdqmJ32mPAuqjQSmEh4miLIgQDn3wNdHDZdUXuhUkB881y5YTf0RpXqTt+0g3A16EbdS1tCjzAUXYrmvYoBiB8MpLaBlgX5Ac0k7jypdW4cUXX4jGFluAOPiKMRtQ3zMM0Sr/Pj3c9Om1y2JcceUlaGxshB3R2sAYkV1TmULlOYjQFRGqM4ZBDuQ4hZujuPNBtwCOKl9OcbWgkuuwsxzHDdMnFaNhzJ7EG286I+OTZDqjpM74pM74mMwWk+liPpmSVtdlTRpzKvJI2JFs5ZzLn4YzKku6+2qTaTlpi/lkmsSPpK+HS/qcDp+Mm+RHijVW3EgxxmobS16ep0GjoMksVOPwszlNaMCMOcsRDHZj74FdePbpZ9A9mENxsB+LF8xEW0ubOkwGxzqP4uDBg2DoMEFPK/tXPo2123Zi5/q1WLNqpcqYl88gevr6sXLt81i7/RBuuOEaTMgGGKfV/Oa1K7Fiwy5t/c3C1m27sWnjOjz00x8j2zIZl583H4eOaCAJS+g4cgCHj/dhcnsbekMPF15zKzbIAAAQAElEQVR8BQ5vfB4/feBBPP3Mczhe9HBg2zps3T+IaVMnYdWzD+HQ4YPo7LXtQhs4VJQTp1WITfCWmoosdwhbNJhsRJZ1xhsZNvaxlJRdp+f5oAbIVWtWYv/hDhQGQjzx5AoNTKH0REM+h7ye3hYvXQK/fQbaxrXA/q+cUHUdaCuzpFcPxWKAggZXBwdPmXleFhedeyF2b9mAUttEzJ47Q9rRTytjEjWSnLYl/YwndXHGjECjxajlejo+yTjmT5bLZnxsM54s62NdnJot5uM0rUvLZCVW2hbHSKdpXFpO48cqJ+M4zWzRHB45ayJz/QCHQE1YjoPwMz7C6MnXWhJOHs45LXqBJYsXYNasNukHAWc/CRxE4J7Ta7BGvPj8IA4c6IALM3B0wtQ/LZ6RgpRBLgfnPAwOeAi4S/SMTDYZNyt+NwhbGDQopWJ3ql8Ay88Zh6ZGJ512DtgPh/2KNSAKUeJW2K6Gh2nI+PNALeih+DIqHwf7Y29Pa0zauGkz7FUmtVsQvVLgItkblPc4xYXoAFrbu3DVNUuxbPliZDJ2X50w1YSTh+rNWbmz0oQIwyHF6gfD45L3KN568QeQ94Zg3/mQMjqtLmKKFHU+TmDqWJWV7pNh6gJShnrYevqkexpjstFomLHaR4uVjJPm075peywncfX4GBun9XBJfYyN05FsrwSTjJvk45hnKz2VvGKsF3VA9Z+iture/8EP4vieTXjh2SdR8nxMHOfD5doxe2IrmlobsH3nPk2Ih3Hs2GE0ZBswdeZ0rb4dDuzeiXFLL8Kc8U3YdWAPjnT1S6+OFg1iHs5Zcj6uv+oSbNx+ANnWKTh8aDcOHz2G/t4urFy3GQtmz0B3Xxcuu/Ft6NNipLB/K3r6iygWerB1514c0CTsZzPw1XHXvPgEJi65GjddvgwlLSIm6L1n27RFGO8dw/oNW3HweC9A6nQqQ7nzhUEAe7owKpVKEW/fByjqvb/pLDU5ycey6WIfSw0bBmH0nQNoG3Sg7wi+9Lf/C//tT/4ndnYU4PTPdgyG+rrxlb//e6zbuAF//Q/fQkdPd1SurAbyCXOW4Kqrr8B1V1+OKy65EHktzlRg+FokBEe242//+r/jL7/6I7hMHl50FRj1iG9oDEzLsT6dpnFpOcan9Ul5LLzFSeJMjimpr8fH2DgdKy7GxynJmK2ZJuMaICnX4w1Xj8zHKLYnedONJhumTE6JJlpN5Axb4GMCPLRr0rM21wPPt+sqSQ4jQtXh1MaaceFF89E+Lg/fHwD1nt65boRuEzh4BVasOorefvv+gMVwIJWXJq6qMAnByu00wUPtkypJGA5CDVY0AMcDINqUOoT659wAPLXtfGMXLr18Is45Z74mbVvoHBSOmnTlhoOAxiAPy+C52fDYpKFpUKQxSOWwfnjo0KHoz8fv2XNA5c4C9OU7Rc7tkvWqgd2SRUonTxvS64WrMGe2dgI8B4FEdtI+apAwGq/AAsKwpNcxqgdkEajcjq3KapJoFpDXNWm1Fl2/ylUjUJVqJFxss7TKSYLpYpIIslJu05suSaYzSuuSsvFpjOnSlMacqpyOl5RHipW2jeQX20byiTHpdCSfejbTG8WxYj5O0/pYrpWmfZKYpC3Np+WkX5JP4pL6NJ/GpeUY79kWo9HTD/8Mf/+lL2HFph3o7DmIf/rHf8FP738AP/nxD/G8dga+/KV/wI/ufwSPPvscVqx4Eo88+iC++vVvoqsvRKHvOP71X/8RP/jp3di3fzdWr9+NMNpmzMIL+7Fq5XP4h3/4Z2zZtBpf/9rf4avf+CleWLkCRzp78PiDd+Nvv/oVPPLYo/juT+5HYx548rn10UDX3X0Qqzbt1Fzcj5/86Nv4p6/9H+zUQPGtr38Vjzz3Eu656x5s2rER3/nGv+IHP7kbK196HlsO9ihvIusCDVKaYqO+5aLrTVcCGRkjW/xBVuvq+WgIhdP2biYAPC1m+nSdzh+CHvh0zYSn/EuDfXj+xRfR392NIQ3rem5CsfOgXjH8FLv3HcLefbux7uXVePTxp1HQ4F9SnMefeBZ9Qw4du7di3TrVo/xgR/kSjIsoXa5IOcaPtG9SrsePMfSYYcl8RnJK4pJ87EPqTiQGa8MYxfY0H8txargkP5qcxNbjTyXGWLAn82FojQ0BulFyhzX9HgcxTi1khuZAPQmrLiyeZsqo/0BW6Cj7D2m7vRlXXnk5WlvbpB0EqcWCO4Ihdxd6e7N45rkj6O0pyKZwJ+rUfGOKDGA5sU+Xh23NHzhwBNu3aHGushAThcjCoShECZ6XATXxjp/QiRuuuwSzZ0+TTfGhHQZOg40TtEmY0wEOSt6m69uNINwP+38SfAD2pd2NWmw/9dST6NPOJLU4ABp0jZNkbQMhop7wVT2ZbCeW6lXd9ddchxbb9bQ6U6d0MSl3h1C+rgZROq9Mev0CXZ8XTgddAxD2qmy70JjLK79EHagE8RnXUzKNbXE6ks0wsd34JNkiqZ7N9Ems8aerS/udKdniGFnZYkrKSd7sSTnJm83qwtI0pXFJOckn/ZL6JG+YtGw6o7Hq6+EsRkxjwcTYOE37pOUYZ2nSluTNNlby1BNBlkCUUAyDqAvl1bGojgQ2IaNVeDYafzxkPSLje+r4vqZHypVgRnIm1KScgfOzaNBA5eupJpN1yPm+8DkRQN/JLwu5g4rpi/FzXhTT83z4wpb0NPLEY4+hJwC8rCed7L6nPDLIULOkn0XG80HF8n3pPAK2w6B4oWye8mVGmCwRpZKtvH4mA1/lzGR9nAr5I/loezej+F7WU14+fJU/52XgZVQ+5eNlPPhaQezbvx+Bypf1s8hJZ/V88NAB7Nu3D/sO7Fe6F0e0a6LLgG/llm8ml0GDn4WXU3lV9nw2i3xOAy8JkoDukj40mKlOjEkQafaEog57Og3GfMja8ZM24y1bkjXLaDYjw5HleMabbjRK4ow3OhUfspxf2icdJy0n8WYjGd0L42NbkjddWjZdTGnbmGSXkXuoOlUCm4S1KEWnJtUO+Lad7jwAVPM4kZ5oJ4AmPtgTeagFQiMuueg8NOU1sbo2wQtC7dGitgHHjuSw5uVDih9oQjSfLMxXHzptUlXeeuWnDICQmshD7N61D88+uxN9vXMUJyO/fjiNH0Az4Jol75fvESxaNBGTJrVoDPBQCgZFXcpnL8guYfaI7xaOgNcAcC48LhF2inAlrFy5BqtWrsdAf4ioxWvSpjdV9qnQ3C+8rsHtQS53DBddtBQXX3IBGhqVv2rGyUEnTh4mRE4nNRXG+Sqzj1DjYFASkP0IsRah2yzMfvhoRWPGgydOiui0+xZTpKjzMRpmJLvZ4rAkYxY2WSZtZjDZyPgkpXUmG42GGavdYhmNhK9nG6uf4YzISh3EMU0f85bGsqVGpjOqx5stSfVwSX09fFJPUm1bbSmpPMEnY5HVuKQtyZsrOfz6TW+UxCZ5s41EMZYsx45l8/F6OzsxNNCv3YD+KLXvHlx6yWWYrVcJ06ePw8xpkzBt+lSlkzF12lRMnzoFM6ZNwdTp0zBz6jTMmCqb0llTp2L69ImYOmOCdFMimjmlnM6QT4U3vJFssd1So6mT5Te1nIfizRDNlK+lMZXlKZgR4ZXKbrrpJ7CWz8wpUxWjnIfZZggT4c3nTJLFjUh5RXGnIspLupP5qlzTTTa7UrPPjPk4FcZ0F59/Hv733/wvfPnv/x5f/uLf4x+++Hf40pf+NqK/+Zv/icmTJ8OhfBPt5tWi+ObGaYwx2chkkiBpbBWRZV2MM2PMk9U2siwbJqYYG8s2iBmf1Cd5s8UY42NKY0aSY5ulRvVi1NIb3qiWzXSj2WJ7nKZ90rLhjExvlORHlwPde62eXU7v4n34bo5c2nQfW7SAbtMi1SZxzXE2K8pip8U3Mr5Mds8cJk1uxvkXzkK2oQ+OvmKM1yPCGtDrw6F9k/Hiqu16nWa7DINy086CJk/zBB20bQYXEkOFEtau3YaVzw9gcMBHiQcBZkHkQC0kHI6KL0nXJxpCVotf6HAhNLnZgDhB0nTROOU7CU5+cOPgh23y60Ho9mJgYBuefvIJbN26Q3JRGIs/DaQWB9qpcyjBuX5QNEGvOq+97kIsWbJYiwdPcXHqxKJ8FFOLhFLJ6joPjxcpv3NEsxF6jYAW64H2Ba1ejeQw4mkYo5FAI9nTtli2lGRVWNNVKSSYzkjsyTMtmyGtG0k2m5H5GSV5k42SuiR/KrY01uQkpePGtlPVm1/SJ8mbLaa0Pi3HOEtjW5yazigtm86ont5saUpik3waN5Jcz6+W3gvDInz1KT0II6MnYyJUZwC2blqHbbt2Y7to6+YNkldh86Ytoo16bbABWzZuwRZhtuoVwuZNJm/ENm0JbtiyAZuFf51OvR6OHD6IRQvnY/nyJVi2dHFE5yy3dJEGv4XaTchpoNRAjerBIW4MdoMXLlyIP//zP9e2rga1UCPyCWNzczM+8YlP4Pd+7/cwVYuS9vZ2kIzIIFntVowfPx7nnnsurrrqKlNFNotpgun/6I/+CLfffjumaHGTz+dNHRHJKE1+kIxwFpccbjcsSWS0U/K+971v2MAe52s4o7RsutEo6VOPT8dI4tK2scrpGGk5GSdtqy+rk9oTsLbVNc0iwGFQn8716VNP4dFEbm3DKJkDNJGaLm4LisMQs+ZMwqKls1TvsmlbnWgSbj+KQQf2bp+DbVuPw4UZOfuikoh67adJMvTR29+lVxMvYuPGLhSCHoBtAAwrHDqRoT3FH1Zb7dQEbosBD74NMLDDQxhQFCrvnBRFYZx2MrLiuzXtb4D9p0+eYhb1NN/R0YcwzMGhBZTOoVV8u8oj2WUUo4RpMwZx402XYsaMKcJQcU73NF+RFkNOixAqJ88VlNc+hG4jnFuNxswQPKuXEbKwexhTPVhstzSNMV1MSVuss7SWPqkzPo2rpTOMkdmMjDcyPqa0HOvrpUl8kjd8Uk7yZktT0p7kDZeUk7zZxkJj8SHVApwtvt2wkOZvNMwgRVKf5GWqe55pXDqjscZP+5ns2cSwZMkSzJ07F/PmzcPixYuRU8fwGtvwvo//Bt54/eWYPLEFEyZPh/2HRJMnT8C48e1obG3B1CmT0dbegGxDFpOnTUOzbwOFZ3Ffp9OsAbLcMM19165demrUE40EQnoNWpBdo5Y05TN98y+++GJtu+Zw6aWXYtmyZdH9NKTxb3nLW7Bu3bpoEfBnf/ZnuOaaa/ChD30I1113HWyi/uM//mNM031saGiI2sMdd9wBW1DYRP/e974Xx48fh/3X1oa788478e53vxtvetOb8M53vhNz5syJ5ClaQLz//e+P4v3VX/1VZH/jG9+ohc/yKL+3vvWtuPnmmyN6z3veg3HjxmHBggUa7D0NwtWdMXltJO0yRqWkz6jgE4CRfJK2eryFSdpqyaaLybBGSTnmLU3aqmW1Ab1SKNlfN7RJHYGaQx5EHhk9qZdrkZ9krwAAEABJREFUzzDDBzab9DTeAZpYnd63Ew1YsnCBFqVzVPea6NGnOAPK7rDaXBbbN07Gjj1HNDkqqqo+dETAHuw/dBjPPd2BQwd9uFCvE2hP+H3y64EH+7LiEEpuN6CFh4fJ0jUpbl47CVlE16WthFCLVyIELXVDyuOgWvZ+YcfD5yJk3BLJrcLrqV5457SYcFOVx2zAJnD0wEcjMrm9WH5OG66++mo0NbQLrzLpIi2f0yLVi3MebBehWFLeyqvETpVU+YeLVL7l8POt0EYK4qNWPrEtnSaxp2IzrPlamiTTGdXSJfXGxxRj07LpTUfS2JNkupOCmNFkQU6eaexJQw3GsEaxqR5v9tOxnY6PtVPLj6TalvqBCQkiq+sqYarJ1itDUm+Oadl0tSiNS8r1eIuTtKVlsxmZPiYvoye5zs5Obe0NwH5eZCv+UB1QL9cxTa8VWlobMHPxhfiQnvYuvOI6fPiO9+OXfuWTeN9HP47P/s7v4Hc+87t47wc/iN/8nd/CzddeBo9BHPv19DRrwBrnCy+8gG9+85t44P6HNGiH8PRPI+eIET3PiybjlStX4pxzzoH9nnxwcDDy2bp1K1588UW8+c1v1qRQnpDtXtvOw4c//OFoYWH5TpgwQbsWS6IdB1tAWoOxX3Tcd999uOiii6L4tmgwvS0S5s+fD5v4LTX57W9/Oyxmf38/GrTYyOVy0ULBdiJsMH/HO94Bw86ePRu33HJLtECJCnjiw+KeYKMkluM0UuojKSd5mao6dNJWjzefJCVxpk/K9fg0Li0n/cyWprR9uBzqutS3bLLWAzvVR6ktepv8PXqwHcFKTEasxTCKBGs/akAO5qw4CJH1QyxdNhWTp2YE8TSxt4t6EXID+gtHsHoVcfBwJ6CFQCksYufODjz7zC4c7RhUWSYqWhGAJnvXqLnbl64DHmcA3hRAZSIbZO0TbgAkAXFOE28QFBEEBdmGpMnBw0LZp4v3BTmGANvF7xZ1gGiBx/GgyPE4PC1uPAwh27QRF124CBdfeBEaGxoBhpCz6JWc5XrROgN0WQVqUn4qG1rFOzh2lRdj2mWwejWSYcTTMDHVA5q9ns30teyvRGcx0xTHi1OzJ/mxyrFPnJqfkclGxhvV49M2k5M0Vr+RcGOJl/RP4o1P2ow3Mr2R8aS1dbVGa0imFJleSXQm+UiR+EjbknI93txHspn9dMnievZBMpokbJKxYPZFO4YlPPij72HqnAtwyeVXYOd2DRxa+e/ZsQM9QyU05NuweesG0CNmT52Oxx9/FHsO7FXnchaiJjkQEakONdZFGLHS4iRBh9n+Q5KuXRWEQqGArdu34c47P4re3m50d3dJHUZ1FEGcfQ6n6dOna8t1RjQ5z5w5M/oOg70WsHs8Y8YMDeIO7e3tUXzzvuCCCzBp0iSEuq8bN26ELRiNDG9kryhsIWGLAtthskWk7TgdPXoULS0t0SLkwQcfjFLbLSB1f9UxGhsbVeZu2OKTZJSHLRAspi1abLFiOx5WhqYmPWkKY3xMhov5ZGp6o1iX5GNdrTSJS/OxbKlR7J/kY12cJm3GG9WymS62keW6MV1Msc1k442Mj8lko1iGWoBDqPsIBDiqdAhAvzTHkM3kJbsTFEpfOcsxrKeZLolxaMg14bJLLsWUyW2g1yNAQaPbHqU9CAoTtVDYjYOHurBy1SasWnlAujlqiwOiQWGy8DFNaad8bUchI98JkodUUh+hJlNqN0GjC3xfNpVUBUQpyMiWhS0Y9A5Daa8sPXD6DGntYaYm5zkaS2bA8+bKpVm8JnCnHQt3SO2auPH6y7QYXaA4pYgcSsKFIheRCjHm06nNGsF2LVSzoaXqY7S6dWsUZ4dK1omcV4Kva4LzpBt+Wow0DUepik7kF2PTmFgfp0n7K9FZnHr+ZjOK7ZaabGS8kfExjSSnbbFPnJrdyOQ4NT5NZjOK9fV4s49kM3tMSVysS6dpTCyTcR9Ke1TuaWyJfWL5dNJaMcj6ZRhLHumYablWDC8IAkycODGaWOwp0uSMU4dXR5gxfRrWrXkJ3/zaP2EQzejbuwbdhQw2rXgcBw7sx9TJE/GTH/0U3/vOt7Xd14zuwQCkngZq5SQdNQxEZB1QZAsB27pLkmAaEPAfkqD7rzO6F7b9P3vm7GgLf8KE8VAzFMWnKi9mlcY3OqNdoa9+9aswsl0Iu5dGguDw4cPYsmULvvKVr+Chhx7CT37yk2hn4ec//zm+853vYP369TB+w4YNeOqpp/AXf/EX2Lx5M2wXoaStV3tN8cwzz+Dv/u7v8M///M/Ra4sf/OAHsN+u//3f/30U0/K0uC+99FKUn+VleX7xi1+M8nv88cej1F6jfO9738P3v/99rFq1KvKNy2llNYqvyfiRKMbF6UjY2HYq2Ho+I8VI20w2imMl01hP2p3XXdYEkrSf5J31K02Amj5LJWpyngJz8dguTTt8+0td1r+ImofTxJc2OHU8p+mvsSmH889fgqYmTX7UIkG7gSG2I3Br0Nc1Ds88dQi7t7VocQlNyEMK0wLqFQfYh1ATaWsr4WeOI6NXBcQUwOnJPrJrIcEhkETG9wCV2lpusdQvnrBdAhVZ+OOSS7qOyer340QaJZwwrkP5WYwBeCwhqxizZmdxxZXnauE5FaRFkytoH6I4VUjVoxsjyVGnxQoQv26A6ptukkp8jvJeCHASmG1B6BOhF+BUj2RZ0r5Jm/Fpu8mmNzI+SWPVmU8aa7KR2epR2m6yUYw33igpx7ylZjMy3ijmSaqurc5NOzrFfrWQSVuSN2xSTvKj2cyeJvM3SuvTchqTltP4schxjDhN+tTSJe31+LH6efae2SaGbdu2wbakjZy6RmmoC/fedw8efPgRDHR340Hxm3YcwEMP3o2nn3sJj93zU/ztF7+E1SvWY6fenf/4Jz/XO8wDuvG1O5CDDRLQAFAmfcLTIOWniFGHJ/AfMbVVkwY2jYzwfXsSg56kbCs5RBhWdyi7wSQRHybv3LkTzz//PGxSt4neXjts3749gtjT/w9/+EPt+DwOexVgrw9s0n/ggQcine0SmM58bMGwd+/eaEI3P5vAbeK3RcGePXuixcb999+Pu+++O9oxsAWELTzuuusuGN4WCrYzYT6rV6/G008/jUcffRT2CsVwnZ2dke7hhx+GtT3TWx52DWTlmqKC68P0RmKjM8lHihMfSb3xRidMapfV9RfrLa2HM72RYYySfFo2m5HpjZJ8UjZ9TKY3qiWbPiazRx3H2dM4tFU/pOfdozLbFN+jeVbkyv3Lmo8Mw67XYsRkdiOnqja8/eSvffw4XHH5xWhstG32DDyrLndAi4DjGCr0K4886DUBmqyBfvXmIrJowOQpQ7jiikVa2Poq026Q0KGHDB6H/eXE0B1TGy6IPJVJJsUtlobUnrvh0A2PrfKZLUOr8rL8tiPkAY1AOVALDd9lIU+47Gacc940XHnF9WhtbVasUD5n+iRIBxcWtUBSnSJU3rZwOKZVxwHVyQHYfzpFZR3XZTKtVZrYXstmOrNbWovMlqQkJtaPVWf4NDYpGz8a5lTshjWyuEbGGxlvlORj2XRGsWypUawz3igpJ3mzJSlpS/KGScpJ3mxJStqSvGHSsumMkvo0P5ps/kZJnMkxmd4oltNp0ma8UYxJ8rEumSbtxhuZ3TPGtrdjsj912qqBYtHipVi0fAnOXbwAyxctwaIl52CZdIuXLMISyTOmT8S0GTOxdOk5WLJ0CeynR0uWLFe6VGRyNS01vyVL1NHPxcVXXInzLxVdfiXOu+wKnBelxotMPyJdUfa9NE6vPCGfSC+zVLY4tVgRfyUuUHqByZHvFZF8vnRRWSL9ldWxXmXdoqXL0akF2e7du2G0Z89u2FP3Hk3MR44c0aBqt6xCdu8qEjTAEXaQ5TS2k4wWHUkZJw7TkTzpa7LRCXOUkIxS+yBr82ZLUjpG2hbbLTUiy3FDvfqIsaaP+ZHSJC7Jp32StiRvuKSc5E/FZtgkjRTHcGm76WIym1FFDuHsKV8TVxg4rRkaYF/oo6ZqakrNZnOSHTSbicqn+cdEluvXLLHOeIAgPWjpgYmT2rB8+bnI+IolnVNcD23wOF6TZpfih8INSdsMzz+KuQsyuOLKuXr11CB9AA8TUNLCwsEmVelcHh7Gw/MUDyobtXhAiFIhB5/aCUAbAuhVgzsk/z5kOE34eZqMl8BRCwGECNmBltYhXHXlRbD/qCqTDVUOinSlWuHE1xKnCnSaJ+VnC/MAYSmj4Cqz6rsIW/iEsDrI+7OEUd5wSuufcVksrY9SFip/Lbv5GSVtnmf3qOyTtplslMTX4w1nFNuNjymti2VLDWNpTKPJMW4s6Uix0rZ68QxnlLaTdl+rtbVwMSJpS/KxPU6Ttnp8jB1LmoyRxo/FRg6/znScpJyOmZaT2HLLS2is+fcMDmLXjh3YvWU7tuzci+27tmPXzq3YId3OHduwTemOHVuwfcde2A7ETj2t7pRs9m07d0U445O0c/uOSH+k4zhybeMRNmj70qixFYUoldzYgpKR5FIdChraEMgWNLSipDRNQV4xpA/yzRGupLSUi/kTthO+RWFjfDrOqy0HKnOogb6kJ8JSWNJuQCEie8K2nYHk5BnfrvSNNXnx4sW47LLLkMtpkDsxCNl7f/vCoH2RkCRswLFfIZCVhmW+9h2EG264AfH3BZA67JcIra2tGqAdSA2Wim9+ZCVO0sVs9eSx2pK4NJ+W47zS+rScxKVtsRynSWyST9rTfFqO/SxN2tKy2YxMb2S8kfFlsgkyRKg24nOi7oGvWaMJhD2NO4iJ7k21D6Kjlk7RNN3JzxyNtFs1fdp4NDVbzPkAcwigCVw7GHaHPTQqfi+yuQFccME8XHjhQjQ1tSLEEAJNrA6tyGCZIk3RIqZZ1KKy9kKbYiCtvUDl1T7EgD2ll5S3Xm24UBNwqwytkp3SHgTYrMXGGoBbtVMR4Lrrz8XsmXMVpzx5QzmWCcMOu87TJpXAAgba3XSqY2KiRHvV0A7nq6z+kHL2hdLehnOqi9okp5pnulyk1WoZmrSVNdWf1v8NU62tLRkuphiRlk1vOkuTlNaZbFQPYzajsdoNaxTj03xajnGWms3IeKOYj1PTxRTrLDVK62vJ9XCmNxrNJ7bHaT0fs5+uzXxjSsdIyzHO0qTN5CSlbWl52CKh7OxQ0EPDkvMux5WXXAyfIQraCvcLfeq8DgxCFEue+KJoSCv9cbBvQDvpw1JR77FDdSZRUEChVJJcVFqM0kD2QugwxAxmz5iNc/Xk0t46AWHowdebiqDkNEhkEKijFp2GAr0bVH9EUR9FYUKVo33SNDTlfATiQ2EinJ5ASxrUlixbhoXz5qKk4crBQ0aT77RpM+QfKhhRUIyAPiZMnIa2xkY0tbYisN9tC1sSpJyHh8DiSV8IfBSVnm0q6NqLyp8agnRJGmCNQ9VRGVIqXBJgi4Err7wy+iKhTQSorHUAABAASURBVOb200b7cqL9ssAWAPZlxuuvvx7z5s3DBz/4QdiCwL6AaD9BtO8z2M8dbfFg319YtGgRDGt2+/nktddeC/sJpf3k0WJabPsy5BLtDl1yySXRooRUmXWfkmU6E3yy0Sb5kWKPhEvb0nIcN61PyzHO0lOxGdbI/IySfCybjizfZ+OdepT23M2sxWMRgeuEZim1lqNwPKJJ2CbQMt5AkY/uhaUmCyy4i6gs61MToTTSle9bV08fVq/ch55uJ2NeNBEObQBLcOxWCIJeEZOnD2Hu3InwM/JWm3VBDiH64LBXfXcTgAKsTGAX6MmHnsoXolgoYdOmTdiyeQNC1wGql3ocD7gW+ZTkMwinSB4mIMtzMXP6Au0gXIy21raoP9j/0AjloBlbeIrqnWZLkuHsmmKdyTGZTkWQaF9YhPIvOStHlzQ9KqNef4QHpR5EJtuBjJXZlWQb2+lO3ANL0x7xxF/LZljTx2RykmK9paa3NCaTk2T6pGz8WHRpjMlG5l+LzGZUy2a6tC0tGyamtK2enNabf1KX5M2WpKQtyScxaT6JS/KGS8pJ3mxJGs1Wz15Pb7FPxTYS1mKlyUsrrMswzAKZPC67/ioc2r8DGTbgQx/8AJYtX4YPfugTeNc734Krb7wWv/Hrn8btt9+CRfPPxUUX3YTf+o1fxcc+/iHMn78Qv/HJT+B973qrOreHKGb04cPTU7KnQaOtfSImtzZgswaNvo4DOGfZErzn9hsxbeoMvOedt+LC5QtwwbmXKMab8a7bb8L8GVNw4bkX4U03X46rr9Ti5fyluOWGa/HG22/HuUsX4LLlc5HPN+hVx1wcO7gXE1on4a23vQHz5kzB3ImtWLp8Ed75husxffIEvO3223DrjdfhDZddgKWzp2HC+Al465vfgIuWLcSN112Nd73lzVgybwa0VBA5kBBZenZJYzZ8DSrQUEn4oP7hxGFlcJTlhP2EWgO8i9noZ6z2XQKb1E1pr5BsV2D//v2w1xbvfe97MWvWrOh35fv27YO9wpgxYwYWLlx4Ms55552H888/HzaA2d8+sFj2q4kVK1ZEr0BsAWGLCvtSo/29g9mzZ8Neh1hetusBHWNthCPhRrIpi5NnEme8UWysx8f2saTJGGl82paUk7z5Od23tM70MZnNKJYtrZJ1853TSlItMtRTu+c1AupHahGg0kw+RKg8AmGq/FA+nNNsXmaje+2EhSsqmietw6FDXXjiiQ3Yf2BQsl5loEep2pZrUdwMPObVKncou1YcPTgXR451w2khDwaw7zSEpUaNEwvhoQUW2qO9LlAbduORzTaiMJTDCy++iLUvrxVPtfMZAJsQevs0La9T3D75mv9MpXkEPAz7z6gatMh3IBxVfntgENoWElb++hSqDDEZGvISmb+DbIFIKYpKrU4DjVOSgxDHj/Zh3+EDevgREE3w3CTQm68SzBFNU5wsoBLqIzrrl8EptsWIYFUfsU+VMiHUsse6OE3A67K1sGldLFsaBzLeKJYtTcrGx2Q2I5Mtjclko6Qc85ambWnZMPUoiU1jkrYkb7i0bLpalMSNhbcYSZzJSRqrLcaRjNxj2YQkX0s2XUxpbKw/3dRGiCpfa9aBnhxQGMT3v/ktXHD59Zg1bzEO7NqKg50F7NmyCseH8pgydT42v7wa82fNxcTxLWhsHY+1a15AQ/P0aMJ/5L4HAC24cxzSTkM7mvKNaM7m0dbero4G5HwPoQa0RQsW4apLlmsyn4fO7qOYM3sSNry4Bi1NDWjIhujq7EbH0WOYPq4FCxZOR9A3gL16/bFp6x692xzQwLMK58ydjX37DmFwoBePP70aF1x8CebNnw4Eg2hQPp6XwTmLFqOnvwdTJk/C5pee0mD1smiNdhpymKEdjc3rX8bcOTPR1uBjlSbESW0a7DQwkQEAJ3oNnHWK4WxUVvHsFYNN/Jbak7495fva67XJ2ybxzs7O6IuFTz75pNDAwMBA9LcKbGFhiwIj+2Kh/QrBdgyampoiXD6fj/6CY6lUiv74UTabhe1K2JdeLUZvb280IHon3ptGTic+rGxGJ8QIl5aTtpi3dCRcPZv5JakeLqk3fFI23sj0Rml+NNl8jAwXk8lGJltqZLyR8THVlTXBQdOUcyX1n15NYgfVKgfhY5q0E+G022VDiyctUkc5pixRO9FkqwhRm9ZgNFQYwrath7Hipf3q8pMQ6J+LFgS+ohTgKTpwFGF4VPKAqF/9rh0vvjiIfQc7dT9LyrEQpQFsd2AK4A3Bhc2Rp5NvYagbzz//OPbtPYig5INqxyH1ykFP7Ay1I4F5ILVgwBE47kDodkKtE/b/mZAF8U40lpMnQIZPkFbfhAMxKHsRVoDAhWr/Qzh67Lh2N/bh+ee24d4HduHRRwexc+OF8MOrAbTJa0jpMaW7wexhUNdmu5dWp0Yyjuk0bEy1HGKbpWl7LZ1hTB+TyUkyfVI2Pq1Ly/UwSVySN7xRWneqssWIqZZvUlePN/+kzeQkJW3GG8X2enxstzSJMTlJaVtSTvNpORknySdxSb3xaVtSTvKjYcdq9wyYJk+DiZ9pwE23XI0J7c04dGQfZmuhMHViK+Ytuxzjm4ro1HvF66++Ahs3vIyjRw+iu7sDHcdsFb4buw/sw9vfcyfGT9G7Rg1uS85dhlkzZ2L2zFm48KILAY/oOHoUfutELFu6BPuPduLA4aPItk7V0+oBXHTFpegaHEBv9yA6urrQ0TOI/v5AcffDy+XR3VvE7IWLcby3H8ePd2JooICD3UW9K83hyssvUHjiwIHDyOoppGdgCMf7+7B9TweymvQOHT6MCy69FtmWJiw47zIMDobYs38Pll10MXbu3IdDxzrQM1jUgqKAkl6JODJdPWdNVrVrMHLQx4h5pBtCDLZJ3P6A0hNPPAH71YL9UuGee+6JdgzsFwvf+MY3YAsC+wWCLQRs8WAT/M6dO0FanR3AmjVror+q+LOf/Qz2NxDs1wf2iwnL036psHbt2ui/6+3u7sb999+Pl19+WYPtQFQEw0SMPow3EhudSd4USbkeH+Nie5ya3igtm87I9EbGk0TMm5zmR5HNJaIkzhQjyWYzMlwtSttqyUmd8U6L7XKsDIJCA3w3S3NdEwLuB/yD8NWnrP3AZQQrX3PkFymlik4X1YVzlOSjWCQ2bNyKl9d0qg9NRCAt4AkTgGgQl4Wf24tcvhtkP6BFs3MdKGE9wqHLsWZliO6uHFyYQRgW1Gwp0sKSWjSyE0A3nOtU++jH0Y5jwmSky8KuJXRHxffCYQghisIBHibCoy0YloJuOvxsTrZcZIuvZbRUQXU6+YQisYpALUZgf5tBrw77+0rYtfMonn16K+6/bwseeaiAVSvnYMfOq9HT9RHVybVgeJF87VqOqk7Ww67PxwJkvUYQdg2BBR5GI5UtDU5jR7KbjaQlSPpFisRH0kaOjDdswvVk3FhndqNYtrSWnNQZb2TYmEaSzWY0Vqw9xBjWfIyMjykpG29kNkuNjDdK82nZMEamNzL+VGisPmlcWk7mmbQlecOkZdPVo1PBkuX2Y7FqLhICXx2k2Ie7v/8jfOWr38Gx4wfxL//ydU0I6/Av//wV/OD7P8aO9Wvx5X/8Mh55/Hm8uOp5rHzpIaxetxE//u4PsXP3HjzxzKN4/NFn1P1LeOG557Bl62Zs2LYVTzz2BLwgRBCW9HTxIn74059g894OrFj5PH5276M4cOQQvvmDu5XXNmzYvg4vvLQGazZuwtptO/DSC6tx7+MvYIv0zzy/CqvXrkf7pElYr7glDTeloQLu+/k9eOjJ53Dg0G78UBPd1u378LJ2HVavfA4/e+hZHD5yFN//+d1Y8aJiPfo4Xlq3Dt0dHfjJj+/Cms1b8PzK1bAvV67bugPUE4gNqCRBnn2yGwIbwBlxp/RhDcAmffu7BDt37owmevtp4n69arC/ddDT0wNbEJjOePv7Bqa3n0HaTyKtA9ofOrLJ3zLes2cPtm/fHvnYosJeL9iugX0Z1XYr7Key5m948zUfIyuHkfFG9fiRbEkfwyUpbYvlOE1ijY/1cRrrkrLpkpS0GW9k9jg13uhUZMMamZ9Rko/lEXVqF84ZMkAp7IdDH6AdPw/jANcEICdSw3Gh0giotHxWx1WXV7vu7OjDC8/vxvatRU36XbAnezp7as+rrWdFhzGuLYMrrpiPa64+Fy0tNrk76QfhwsMohmu1sFiAZ59fg2MdR7UAkI/TljyPg+E4+GhW5p2g1w0XTawSSXicC2KW0pkq9wTxTaISoE/ocFo8OG5CwB3wskU42tO/k2Vsp12rEeChWAhx7FiPxouDeH7FJjz06B48+FA3nnt2PA7uvV7lv0WvE26Fw0yR8gm3Kt2KAAcQeIMgVU5vsSJNhgzwvALsHlhpLI801SphGhPLo2HTdutj5pvUm5yk2Ga60fAx1lLDWxpTWjZ9WjeSbLaYzNeolmz6mMye5NOy2fj/Z+8/wCS5svNQ8L+RmeV9e+99A92NRhv4hh1gMOBgLDmWVhJJvbcrw9V+q7e7n56ob/WePr2V9ImknrQSSYkzNENyhmM4M3ANM/BotDfoRntvqqrL24yI/f/IOtW3oiOzqjEgOS4r/zjn/OecG+7GvTduZGY59ks6ATI8ZMXK7fNp+4fx+bmV9Eo+bY/BjxPn2+X0dNxUbMX48MsW79u+zhZD7omo4vR8c0szG4kmtDXXoLWxFfWtbWhtaqXdhKbWZvS0XwFv4NHYPA3NLbPR1jATja2Kr0McRTh0cBeuXulg7DS0NTYypgUtbc2ob2xEbXUNGmpr0FRbhVo+VqijXl9bi/q6ajTU1KGuLo8G+Wrr+dihFnU1VahtaCSXR1VdPeprm5gHyhr0d7ezU29PcutqCuSrGcN11DRTb2R+HnW1eTTW1qCupoZlVKFQ24h6xjZw3Y3VVXxEUs1Y+mpqWU4t4/Koqa1FI2Maa2tQW0P/3zhK6+F1gKm8/JPoxzvn2JgFbOAcG251GEh0ZLz0uQR19ipLcM7Bl0rJ5/NJeeJlSzrnxsuWLcjnnJP4UGBlpgsrxysu7ZvMVo6QjivHGZ8VL18WFCtM1VcuFnGBRUQ8P0DIQXaEPtqcOkctHOqhAQM96suSGLWlcWI52sqjxYGGPpB76VIHBwhHcIXXJ9AKoJGRnEHgDICLu1HggGPmrBy23TMfs2fNwIy2Gbht/e0o5PgoIZ4FhwFE8WGMukPo7WrBof2jLCOPwE3jAIYzG+zYo/ga18uZgsgxnvURLQAWMI/bAnW2IVxA3fWQzzHGoRhfBp+bQD9iVIVZqM5VwYUFlqNtFxjPHeObnHSGy2C2jpuOy9DQCGfOerD73ffx4ksHsHPnRezbvQRnTtyDvs7P8ZHkfYjdGg6KpiFCJ/dhL9ffyYIckFvIfViGnJuFPGdAXczrJ76KCCdQBG8actwfbjs0SmBWube2xTCVGMUqzjknMQ7xhnGUVl/3AAAQAElEQVSSShZHmsdEx+jmjcuKN05SuYKvyxbECdIF6YJ0wddlZyEd49vShXJ5vs/XLT6LM99UZbkynNO1c/PxtHLL5Zn/g8gPWuZkebfq9+ODrB0JeHHWs8OubWhiB9oAfSWqqbYO1Q0N7KxzqKlrRjM77qqGetQ1VKGutpYx9UkHW1vfiGbGVjU2obqxBQ019YxppK+BqGJnXIeaQgHVhRwKhQBVuRrUFUJyVajOB6iuoi9fzUcHlHwoWcW4qqoqVBccwXUxp2aMqylUoYE5VYU61OYLqK3OMaaaHMAxBssMiCrUcn1VRF0BqKqin7K2Ko88y6+mXcvy6vI5+vKozRdQW11gHsGYaq5P/r8NVAV5xA5ssFgx+WYTBbZ/KPfyT6RiZs+ejaeffhr6uqP0IGDDz0ZUdxXy+/HSndPKAOcc1qxZk/zTJX2bQT7wVcNB1ZNPPgn9DweayVv/rlq8c6XchORix44dePTRR9Hc3Jw0VqTG39XV1dD2iFDZgnSDc6Wy0rxvm+5c6cI1W2Wkdd+W34fvS+u+7edIT/vMljRYnG+LE8SZlC7IFqQL0gXpgnRBeowQ7D2hfisKa5FjJwpUswPrQJDj3Tv04rHh8QHZGNShTiNPTb4IxZEYx4+ex969ZzAwOJtexsQDLLaWAfmkzHxhCIuXjWDzptWoq6kGqw/XHPP8TcOGDTNQqOoGXA2cC9mBn4RDE28WmgEsZuxBFAKV2UU+InReqwDMAGLNGtQDrhou1vo4exAPI+DgJ0YnYpZXwGa4gNvFtCjuRFCIAUSI+eccSeQBPvIQF5EvhqOc6erF2XPXsH/3abz66knsfL4br7wS4NSpbejqeRSIf55YzRJCzn6couQgBhcoh7h9dci52xBgAZwLuf1nWOo5hDiD0PUwhuuPuZ9YgLy7HflcK8D9c7xIk3PCg5MlUeblx6ZDdI0KlWLMl86VLZ+kQbbBOJPiTZeULZhu0rgs27i09HPGfBI8tvE4EoKLrNg0x7DkncX7nHQhCebC12km6zbp+3zd/JKCzoekoDhBupDW07ZiBPGCdCGtp23FGKbqs3hfVspV3GR+xRgCU3w5MjyES5ymvnylj3ctvOhHB3H+ykVcPX8RFy9exaVLZ3Du8jVcviD7Mi5ePpdwFy5exgX6r1zrxHDvdVy6eAHnL11h3FmcvcS4i1dw7epVdPN5dkdPP7qKMYZG+nC9P8RQWEQxGkJ7zyCGeREGhWoMDUe43t2FTnKd3YPUe1HkXdTA4CB6egfJ96Kzux/t3QOUvZTUewZYxo8n+vr7S5U5aRD9MzI1/SLPmR4TvMXHO42csVGHr28q6KuLTzzxBPRPn9RZ658w6RsK+lZDgYOnGg4G5NcjBV0Y+hqlclatWsXp5q3QNyA+9rGPQfGf+MQnkv/wuGTJEuiDkfpJb1U4rU+fhdBXLZ/mQGXhwoXQtyJUzt133w195VLxsvUVygULFuDhhx+G4rVO20OVZbqkb/u6fD7K+cQL5WLlE8yf1tO2xWVJP1b+D9eOWTdCPqaLEMa9CHGFnRj7LMxFAHZeyLEz5KAQw5QO6vSc4x1+PMK8PAaGiti7/z28fzTE8HA1y1BcHWI3CAR97KxjVBWGWUcWYf365aiqZocMdpLaEcEBCxbMw/IVi5HLhSxzCLEbpnybuVXIuZUscxc74pcZzXoMlgsOJtCGwM1HjEY4sLlxVwD0I4c25gIubgTQDOeqEbmrCDnlH0XqrDsQMFyDBzoQRUWEoyFGBoroau/Fyfe68PoPjuH5507irTdacfTECrYtT6Bv8GG2I2uAeAHLH0IYH+UswFHEnP3IuSUAByHOzaCt2ZMBRPH7iKDBwzXkMR0FLOW2zYJDA+BmAmhFwIiYxzzIcdYj5HGGd1wYUemtOmCwOOecqVOS6XxLMl7SOMm0LU4QL0g3ZNlZnMVLyi9IN2TZac5iJdM+35YuKE7wdbN9Lq1XspVv8OPE+XY5PR0n24ef5/PSfZ+vp31ZtrhymKysdF46fjI/L8N0CCuwKwDEXQ9ux9zZM1BVX4um+ul44uMfway2NqzbcBcefuhuzJgxF4995KN47NGHcM9d29HSNg2f/PiTuO/BR/DPfvPXsGnLNjz52P1YumI5Vq1Zldyhh8gjcjFyXM26NRuwYeUitE5fgLs2rsO2jatQ4BTklk13YM2yRbhn7Wxs2rARm1YvRXWO9xl3bMDjjz+EpfPn8jFCLTasX42501vZeS3BssVzWKZD6Q+UP26ISxucbHlJdeCLNJdl3/4Jdy7JYOMYs4ENktkB/faBBgf6QKI6Zevs9bsHHR0dHASG0GcR9JPK+rqkOm0NGvSDTM655GeT77jjDmhQocGDPtOgzzGsW7cOite/jnbOQYOFDRs2QIMFlbFx48bkdxb04Uk90tBPNGvgoK9S6rcYNPDQZxz0eYiyOzfmsH2UFMboZD9Nl0z7JrOVkwU/T37fli4YL12QLfj6VG0/R7qgXEG6IB0xu6soRBzWsGNuY02hjk64XD/dEbuuEIirCdaDIjt5xsFFaL/eiXd2neGgPWCnyRhHn3pgNwIXc4AR96OltQ9b72rD4iXTWQ4HF2DZ3p0yVwDHYlcsX4zlKxYhyI3CYURXMyMPsbPl7IEbhnM93LY8HLgdUIfaiAj9cK6fRXRDs4D5wihzLsChSHmNfB/0OCVAMxAshHNLmLkYOQ5gR0aLuNp+DQcPn8Jrb+3Hzpf78dKrMfYduQ2X2x9BGH2M8VsQo0Bc4v7wsUB8jXoPHGYhFyxGIdjEjr6e6zoOF71PnIWLBxG4amIO92Ej4Kbx8HYiV/s2XNULiKPjQHQWsetEkXCuCs7lEHLGIcKNi1LnphKQeilWg2JJHxbmc6abT9I4SdkG2QbjJI2TTNvGiRcm2CIIn5MukB5/yxaMkC6Us8VP5leMwY8V59vSBfFCWpftnJML0oXE4MLXaSZ+ScH3+XqWz/ySgmIE6YJ0wXST4gxprpItn/BBcpXj58pOI8sfpIMcL4B8sYiouhkrls7CtY5O3HbHZtx7/31YNnsmO4tV2HTHOjROW4A7bluP5poc5s1ZgA2bN2P7trswZ8Y0NNRW4/TpM5g+cwb6Oy5h2crbsHHtUl6YIUvnGgOHuro6zKzLoa6xDY1ssPJBDvX0hmwIXXUtprW1IVfTCt7zoFDbiNWrVqDKxYiGBtDa3Ig5s+bitjXLsXrpQrS1NGGotwOODSgQ4scTEbcb4O4n8oMuwpDHmI37mTNnkscHly9fRi7HczRvHjo7OzkTdDH5B07f//730draioDHXn5JfaBRP6K0gHf5mpFQY6ZBgGYoNDB45plnYJ26fIrRAEMVy2IWLVrEZ91Xkjh900KDlHw+j1o+ktK3LzRAcM5BH3rUVyhVDvhSGRTJ29cTggtxzjlqPEbcv0ThQjzF+DttjzvGFN9fTleo75uKrRjDB8mdLKdUdsDGrMiBHeDU0buQV8wIjSJtR511nxUo+U2B3AhGi6M4c7YDe3dd590379TjJmjmQF+jdLyygH7kcwOYPbsad9yxEC0t9XAIcONVOt5gN6/tEwJeuytXLMHiRfMQuIBXGwcCHGTEOI4AC4G4DRGaEaMJztUj5xrgUEDAc9fa1otNmxeipnoOV9ECuFrytQBnHOI4hAYJQTTCMjoQ4T0cPnAKLz7HwcEPIrx/eC3aLz3JGcqnUSxuQBAuhmM9iOPr0FcmHboBrg/BUsoGlsV9iYcRR5cZz5kCd518I5xbgti1wuULKOSH2Q5dwPQZr3NAfRx333UIjz+aw8wZnUhewQLmz0Iu4uOGuAVVuQK3LYc4FmLKOAmbykLHTqgUW8kvn+Dnyzb4vOnymV5OKsZgMWZL+pzpkvIJ0p2zeiLrBsxvjGzBt003Wck/VZ+VJakcQbqhkp32WU5aTjUunSe7Um7al7aV/2GiUvnyCX6LkKw7hkOY40kf7sO+o5dw93YODhbNQj+n+Id5AV++eC75b3DTWhvRw0cG7Vfa0X29i1OYIYaHRlAc7seZ0++jYdpcqPO5fPkKGpvb0Hn+feaN8C6jiJhramidhUuXzuHS9T5Mb6rBYBwjLFYhh1HEo6N8zhkh70I0t05DW30e/b19mDFrFqrrann3AAyNRtBjh3Onz2J4ZBQrOVvh2GjFbB5+POGS48JDM/aOwbMwpk8UPFQTGiidSEFR+sdKGgxI17cZ9JXHoaEhHutL+MY3voGdO3cmX4NUZ3/t2jVoUKHOW99gUK7+jbO+PqmZBT1+ePHFF/mM9xXoQ47KUYzKN13rETSIMKnZhjfffDP5iuRlDlI0gNi7dy/0j5z0Y0x6HKKvZOrbE7bdypUupHXZgvkq6Vk+P09+H75PumB+6QZx0iUNvi1d8H1TsdMxli8pn1DSI57zIqKI12fUz865k3bAOtKMwNUBLgLigHKYHWyE0ZEA7x25iAMHjvM6CeHYIWtQ4JLBgWIjFHL1WLq8hjNCq1HfGMChCuAyjlkXE8RcRwkYe2l7dF2vXbsG8+fO5CqHAdcPF19l/ZXeTLuK+ii3Q9t5EsgfxqIlMe7afidaWloRqmK7Jm5vnnEOzkVEEUW8T64XXJBfwMHmQ+gduIf2RxG5JeAVj9H4PW7TWYTgrEGQZ14tXLCMMTOZVoSLLlFepf8Kt61AtHEgtAQOs9n2hKiuPoLZM49zUPAq7tk+gnvvG8G2e4exZvVsti8zkc/nWL5jeSPMGQEcy8ntw/QF38HsWcPIcfYkYOkYe+l4TAVj4YkoFy+nc1o3dyEuHXeLlU8wW1K2jziOue038syn2HKwGJOKM11StiDdkLY10BcnKEZSkG6Yim0xkoLlSvq2r8vnQz7BOF8XV8mezJf2q7wspOPStp/j+3xdMX/XtrZBCLRII45ED2H/Ky/juZ3fx3/7g6/g9Zefx59/YycuXb2M7/7lX+Brf/bHeHfP23jz3Xfx/WefwR9/9U94h7oTX//uThw7egS//9W/xMvPfx9nuoDiYCfe5V1BFHFN7MjZAuDq5XM4fPICjh49hv2nTuDNd/bi2d1H+DzR4c03XsUbu3bjuTf34Qe79hAHcfLCGbzwgzfxze/txLtHjuHMhbN45sU3cKa7H++fPIVX97zPRkYXWMyV/Pi9S1sesyF0cGygIw6QYh2oW9wVdd7q9HUHr85eX1F87bXXkoGBZgU0xa9OW7p8doFrwCBed/jq2PUVSZWlu30NMmyQIM45Bz2qkM8qcnd3d7KlKvPSpUscQPZAsdK1TpWnQYtsxYpTuUnSLSxsfUpJ61O1/bh0OVm2OMOt5ipe8PN92+ell/PF6piiKg4SgCicxg6PnR67MbBzdrleOFfFDiKCi3LouT7IxwuHcO4MOAhsZS0aIIYSkOGgogZ19Zdx2+3TOLiej0KB13tcoH+UZSDzZdvlnEv8hUIea29biZmzZyMXOObm4HCR+e3cthxyF3y8bwAAEABJREFUTnf0jYAbwsIFs7F+/RpUV9Vw+7mOsBeIzwIYInqZ28W8WuasB3j37rgt+jpmpH2O23lTcIZ+NiTII8itgHML4NDKXA6I9GghYlmuneWMIgAHBPTn3RyW14+6mouYNv0FLFu+H5u37saOB0Nsv6sZq1c2YNqsHOrrHPJBFTRQCcBtiwMUR/sRc7vj+BzgcijkL2HzpmY0ttRwO3II2cToeAiY4kuxhqwU89n1mI4xfzleft8n2+DzpstnuqRsQbohbYtPc5PZfo5iDeIN4kxPS/kE431dnGxBehpp3relC5bj6+J8O63rHCnGkPYbL1nJly5H8eXgl6OYSrZ8guIE6YJ0w1Rsiwks6YaMeSGGyPHCqXIj6OvpZmOvRiBET3cnIl4gw8ND6B8YRAzHTr2I0WIIcRoEdHV1Y5RT3r39XeRiXnCDePb7z6B/OEJQqGbZAScfY+TDYWaHABuCkeIQRkeHoX8hm8uD+gD6+7p5MUbQryiqbLZ+3I5eDA70seEbhXMhBgf7MTI6hBHOXoQhG4gg5nbjxxYF55CcEN1FOCCmjQovO4kWYpVOvB43aCZAnGYHNGOgOPkkDWabVLz5JI03XbYGCPqMg8qULZ/g67J9yCcYl9bTth/n+8T7dlr37XSsb081TjmCHy9dEC/4utmTcb7fdF9KN6hMVgaKUYRRyGtwFBF6KUM4zGSd4ZR+DNoxLl69it27z6GjvZV33QP01zGPflRRj1lMJ1rbRnHn1kWYP38GnHPs+JgMVjhIIrG1biZOeIszMAr6KvOWjeswbeZ0wA0jdIMIVJ7r4PZ1wcXTEGAmGurreU0mNRsxBzoubEPOafBSTf8MDiraAIQI3XniICJ3ChG66GvmVrUhr5kCNwfOFRBFF6DOO4z12YNqbsZ0BG4hHGYhh2q43CE0t+3HgiWvcBb0DO67rwdb76rC+tvrMX9BNWrrcmyDmBbHiOKIZcWEbK6fa41chGJYADCXQ5KH6FjM9c/jkeEgjMs4LtIXEuXfdox86Uf7fKJzW3y/r0/m92NNV47pJsUJZjvnuN/xOIxXjKEcZ35Ji5E0W9KHfIJzqmPSSrAYWaZLyhZ8fTJbsYLiBF9P25P5fL+vqxzBuRv74ft9XXG+7evmc658OX68ryvXh3yCcb5uXFqmY9J2Op7X9I0NNWd9fQP0YbfVa9di9drVnIpbjfXr1mPN2pW0b8OadeuwZs16xqzBKupr16zGWvrXrVmHdWtXYd26tVi3mpxyV63CihUrsXrdbUne/LlzMDrQi6pwCPUjg8QAGkZMH0Td8CC5IdQlvkHKAaIfDaOD5AcphygHxuJKdt3wDbt+ZCDx/7hJ7W8+LLJhjXkadE4Eqrfw1vN+fUvh0Ucfhb590NLSgiAIkMvlxqHiZDvn4JyTmWDOnDnQtw6cu8ElDi7SlUi2QNdNb5+XLtwUNEbcii8d69umO3fzto+tKlMoTzCndKGSbT5JxQppXbZgPulZkF/wfb7tnL8/OYZVJQPkYnQRCDp5/qoQcSBfKETQIPvY+xexb/91DuAZGtdwwY6Ad8SB4x0wBpDPNWH+wlZsumMhmupbATjYS+s1ZHHyGS+pfi3k9lUXHGbPaGWHOsTOOmSnE7JjZecD3t2jh6F9rIOl9cSx4yBnGKORBhF90GOKCFcBxTnlhRwwrGRnvxIBprFLZnnc7hDHgfgcO/V+IMftdvNY5hzo55+ras5j+rR3sHThEWzY9B7ue+AK7runCRs3NmDWrDwaG0IUgjzLLQBRFcCZgpiDA670pneAENGo40wNt8VVI+LtTIAFyLkF4IUJgDxnOVQGjeQdx9zXFBJHauHHpVzjph9j+rjTU8wnabR0w61wfo5055yl81yW9s25idx4wJiiPGHMTIRzE3PkF+SUFKRnQT7B9/m2dMH3+3ra59u+7udk6enYyWy/jHRsJZ8f6+vKSdvlOPFZSOen7ankBAqyREnnHPp6B7Hv4AHsOniEzzQP4vD+N3Fw/37sP3AQe/cfxr4D+3Bw3wFy72I/5f6De7HnwHs4sG8fDh3Yjf37D+DQ/oMQf/jAYew9sB8H9u8l9mPfnr149603sPet17F712tjeJWyHEox775T8pekuJK9e5ekZyvuHdo/hnj/yEGwhYLa7kgLlHvF4w6dMzN0h68PH+pXFzUQmD59Oj7/+c/j7//9v4/Pfe5z+MxnPgP9w6Zf+qVf4kBuHfRthZoadSZIvuGg/8fgnEsaByszS/rrlD9ti/Ph+6UL5i+ny+/7ZKfh+9O6bEE5JqULWbbP+Xo6Xj5BvMG3pRvk93XfFi9bkC5IF6QbbtjsoNhthezEELGDjDSDUEAubsDg0Aj2vHsFJ49z9m14JjvXAFHQwVSe22gYzg2iUOjCmnV5DvYXoa62QN8oz7PdSd+oT3SQL3UO0n342yS+ODqK06cu4eTpk4jaYtTc3gSXX8X1NwGxOmRGsT7lXDUcu324Ijv6EIHTBxu1DRz4uEbGF9gHt7IjXwhw0BPiFLvj8ywjHuOXMGcpcqiHi06jvnYvFs59A3fecRYP3Ouw5e5h3LapCYsWNaGlOc9BQRXAxy5FZhRdCA0mYhRReqnJy43vo+0T+3lo7BBHQ4g5E4pogNtwjEf8CMLcG3COx4tlqJw4GWjEUG6pzIlL8WlMjLhh+XE32Bua+cX4um+Ll+0jzckWnHPjYbLNMF3S4PtuhVOexUtm2eIE+QXpQlqXLcgn+LrZPpfW07ZyBPEG2YJsySz4PumCxUkXzE7LqfoqxVmZfoyvm9+Xk/kVm47xbedKdSXQV9e2bNkCfX1NX2nTDAJ4eeSrmvFP/vk/wy//8q/hl77w82huqsfCJaswd8Ei/PP/5Z/jy1/6EjbevgZLFy/B3Hlzcfvmu/DRJz6Cf/Zb/xgP7tiB2bPaMH/eEsyc2crpzemMW4CZ03kXEIdwMRKAdxYxAnyocGp42BC4Hz84HgmdFh4eHpWxY4TJX3Zi9ahAz/n1vL9QKEDfINGg4Qc/+AFOnDiBek77PvTQQ9DnAxYtWgR9wHCUDb3y9TkB/RMo57QFuKkBVAy8VyU77fPSxlU/ppyu4LTPt6fiV4ygPEG64OuyBZ/z9bRvKnY6RuUJ4g1TscdjeNGoXhSjQaaPwLHDisCBgOtDT08/rvfkEEUNrEHt9FcTvM7YxeWCejQ1DeCOjYswf34L8uywk86QEZO9tW6DH6vHTFevXMWed97CieN7sXx+iIaZDq6mnh39JjjXlCBwDXDsqPOFHOKoCHXEYZHXOztw5+qAZEOGGBMC6OUeHUUUX2Xdby4hl0O+uhNNjQcxZ/7LnI3ch3t2nMCOBxqw6c4azJuXpy9AFeNyqELMYxTpuud+w/HRh9qaYh1XU41Sxx5RloCMV4QcH5/GCOMhBG4u8ridUXlUB7PgIrYnmkVADHDAgLGXHR9fjrnKislis/ziVKCkQbbBOJPGS4qTFHxddhppv2zBj0vb8qW5tK2YNPwY6UI6xmz5BLMlfVu6IF7w9bSd5fM56YLyhEq677NYn0vrZksKyikH3y9dsFhfr8SZTzKdk7YV40N+IXDOQXeg6iD0QTReRbw4iijm8mhono3XX34Wc9bfhV/5e7+OL3764/j4R5/AXD4yaJm3GNu3340vfPoxPPmJX8Dt61dh+bK5WDB3HhasXIv199yDpz7yCL70D34TP/+lX8GnPv4RfP5zn0RjIUTsAK4WevG6xocLXsRqjX4cAYeQxybiAXFqQBHpEE2ATpowgaQhzjkmU7e3OA0YNHDQhwYHBgaSr0F2dXVB3z7QryxWVfGuyxJSUvmifGm68WlbvCBekO4chz86HzLKwGLlli5IF3zdbJ/zdfNLCvIJ0gXpQlqXLZjPdNmC2ZIG8QZxvi5bECdpyLJ9TrrBz4kQ8zop8rFCHlEyEB4GgmpE4JQ+72wjDCFHvhAPoja+jlrWpbr4Elpq27FpyUy0VIeIewYQX+8helHs6kF4vRcjPT0Y6etFFIVwrG5RXJpF0DawGqIER8n165sVYYDTZ09g99vvcn29WDU/jyZuW6O2YaiaHf3L3Ox+BJiNKO5lczKAfMCOmtsGRIgi3ZEzJM4xpsDMK0jqezCTW7wQOawgNxM1tRFnvV7jo4NO3HNfN7ZsruJjyyZMa25AoToAXMC4iB06uI4QEdeMKAYVvrUeHicOEmKEQALuHDOQAMyJbwJYRsT9A/fTYRARDiPv6hG7IcYqJyIXImZ5Oj4CC7/pLb4S/ISsOPPfis9yTPq5zrmE9jnpIiV9pDnZBoszWzLNVbKdm7gdyheUI2mQLfi26ZLyCWl9qrbiDFZOli2fIJ+kIF3wdbOzOPnKweIlBcXpCDnWMl6GrGeq56zT8QgH3+A1SJtXiUuuHc2M0YfSazzfO8Ylj+ptqa6bLWnx0g1pzmytFQGfW+u77JqiBjci5gWd44WQ5xYvX74Kw4NdGA1zuN59kY8Y3sPA4HVOcXLFiHHl4nl09/Siuq4evb19GC1GyPGuoba6Ef1DA2zUIlQXgHNnjqO2Oo9CPs9V6DILuOOCo/wZgpgHWzUDSI4HeB5KQObLTqDvjKII+oqiBn2aOdCPGOnrhvoapGx920H/3VFfd1T+0aNHk8cMKkN3h/4HHMUJinPOSS0LxZjT18XJFkyXNIgXfNt0ySxfFpeOvVXbLzMr1+cUaxBvEOfraVs+4yQFcQbZgtmSE2zexcZxiCLvcvOFarprgKgGubgJcLyMXS31PtxfuIw/qL6MP8qdxR/lu/B/Fq/gHx1+G//wrbfx62+/hV/b9Tp+ddcb+E3qv/H2a/iNN97E51/fhapTp1Fkt+14TWPsFVHXVS4pdPV2YM++d3D08DHewY+iIRhBQ0OR0/EFFPu4bd3trLUjzGYHG1zhZo0g50aQL4gbQRzlERbzUDWPubbYhdCvMTIBiAeJS+znjwPuNFra+rBseSsam6uZz/3jtsB/xTKcFoS/1XIIpJM394ArjFNIXBMWLCvm9vFRQxjWsJm+gth1UzYhKHCQE2hwk4MGUoiquQ/Z5Wo9E4r1DPnS8Nw3lTlVn+LKlSte7YKk4nxMhVOMwXLNlkxzZkv6ftnp7ZBfkE+QLkgXpAvSDb6d1n1b8ZVs+QTFGdJ2OT4d59umm1QZ0oW07hzrLeuleIPMmIMAsP91BKIcENexHuYQBSEiXjOhgCqmsM5yaWVTHa9D0gXfJ7scKsXp6oN+fle/hqdHDdXV1bxQHaKRfvzxf/8DXG7vwH/9nX+P3//D38eudw/g+IlD+G//5b/j29/8U3z3e8/iuRffwEvPPYvnv/0NfPfZnfj9//4VvP6DV7Dzm3+Ot/cdxrf+/A/xtT/5Cl55fTf+/C++g/7hEI4donYvcjF3/GeIgtIx4IHhAMEaOB0hwTutKTN9Yp1znHru4cBsNOn89TVHzQ5pNkG6BgeaUdBAQr910NZ6aEIAABAASURBVNXVNaFSKVZlCt5ak5hKtnx+jq9n+SbzK8fgx/r6VPzp+LRtZUjKJ0gXfF22kMWJN6T9vu3rfnyaz7LFuThCzAZjuDiAYnQZMXTuetnV8pEDLfDlXD9WYwRPRhGeYKf78TDC0yMxnhD4WOmJYoiPsr9+aiTCkyMj+GhxFE8WR/DzxUHce/40qno7EWs9bKligkUmJcfkLl+9jLc50Lh4/gI7/hBtrQW4mgJnpgKcODmIcMQhHOpBbv1VBHO60LCjE25GB4puFEUEiDlAUDlh1IsI7Sx3gMW3AHEz6/xs6myK2B4EmM/oxUQdnIsAVwQAxHHpupD8mwJQ5HYVuX0h138nB133UT+GgDMJQVTL7SgNFHi1Ui//Lrd9WRl+bCV/JZ/KSPvFCeV43yfd4FypkTHbz8/i5BcvaZAtlLPF+/6p2n6Orys/jbTft31debIF6Ya0bfxUZLncNJ+2VXbMa6BU0zk4UP1nnQRGATfM7iGG08BhrP8EX+ky0jZDbnrfakygjkO/pKdf4Pve976Hvfv28sLgxRmO4v1DB/Huu3vQ0zmEnq4O7Nq1H1euXsTxo8dxgTMDZ85fwrlL7ZxNuICL507g0tUO7Dt4BMfeO4zBvlE+8z6I08dP4dLFSzh/rQ/HT1/CCJ/txdxsx7sixwufx4Q7j596sHXim6NFsLFE9suxioxdw+MB/gkvp1uw+f0RvXGKcc5JJDDeuRJnduLkIm2TuuntXCnXOYd0fNr2k9O+W7GzYn0urcsWbP3SBdmSBtmCb/u6fEKam8yulKNc+UsIEbPRiIMIVfVtrCVtcEEjApdDgGrkeclqBnCUVsiBfr55JuIgRFTIYbS1BVFjK3KNTYhzIRBEKAZ5XucOARucKt49f3pgBK0HD2GwdxBDg4MYGR5Jzpk+q3Lg4EEc2LcfI0NFVOUcprcGiIZj9PYXMcLcxmZg25YGzNlQhWV35DB3ThXiIwNw7SOocgVO2avBi+GcQxRWcwvnEEyKr3AbLiAMOAPh5gCuGnHQBeQvoKa+G4hHgIjXRBQn2zLxeOBDfmkdAfSfJEMeogj9CN1lIO5ADmd5nGLqESI3PL4t2p4s+BuW5fe5yWLN7+eYPpnP4nyZlWOcpN82yDaoDF+XXQ7pOLMlLUe6MJltMZJCOt44SWEqfsUZFG+6pGwhrcsWzGd62hZvkE8w25dZfMLFrHyIELPex5HjNc9rOGDdQxUQ1cDp+uHsnFMM+89KZSbl+QHU05xsga7xt9nOuYQLRGiquVgs8gIJIbu5pQXbtm7BPdvvxLZt23DnXffgbtrb7tqG7du3E1sSe+v2u+i/mzZjtlNu24pt9G/bth3y3b1tC23mbL0Ld9O3fftWbL/nftz/0KPY/uBjuFvY8SjunjKYkxmb5s02eSvr+LuJvYf7tX7TZkRBgBilk8NakZykyRY6Z4pxzuHBBx/EI488kvzzpS984Qv44he/CH2DQV+P1DcbPvaxj0H/cOmuu+7Cl7/8ZXz84x9HoVBI4vXB1U9/+tOYP39+Yj/99NNoa2vjOd4G5emDj5p10n+Z1M8sa71NTU146KGHIKn/76Dypk+fjkD7wUqs/wGxYMECzJ07NylDvlwuB31gVnXLOQfZ+upmc3Mz7KWyTZfMstOc4gTxBtmCbElBuiDdkLaNLyf9eF+3+DSXZWdxlm/SYiIeS8cOfYQzAqF+zYddVxyPcnCdY3MxBBd0Yd6cBhTyORRXr0HV//6vUKzn4GD+ChT+wd/HIGMZjeK8uRicNxNRLmbHxxrm2CCxrDnsGf9h/zB63nkTZ0+dwuHD+3H2zEnseudtyjMoctDQ3BCgqd4xz6G+KkI9a+on72vCI5tqsCgAll2NMO/9AjoOhui/3IrQrUacCzhIcFCjB07n64Oy+qxChF7ATYNz07kPszh72cmYg5gx6xVs2Xodq1c0gskI9S0JlF46FlkoeX/IZcx8znYA3NZ4GDnMJLh9WIlcYRVGg37E3H6nOB5xTPKy7ZwkjGXG45gs9ofxO2dtCg8r65K2L11empNtmCx2Mn+6nLStfHGSBtmCb5suKZ8gXfB1s33O180vaUj7jZeUT5Au+PpktmIFxQm+Llu4wQW8HhxrYRHgtakPIw8Pz+Tj/dkYLTYhCoZYX3jNJ/UQmS+VJaSdWdxUYgILcs4lqgrq7uvFvj37sGfXbuzdsxf7dr+NPXt2411iz+7d2L17H/U92PuuuL209zDmHezd/W7C796zh/HEWKxy99AnnDx5CqMuh65igK5Rh+vFGJ2ctegsOnLEaEQ7QEfCR+RixuTQzanS66Pk9dkIHr/rtLsoO4sRro/mcD1kHNElm2Vdj0DeJeVclz0KXGf8jzL6ue15Vg/HlsixAXbUk5MyvijVDF7j44yv6NwdOHAAs2bNgr7V8J3vfAfXrl3D8PAwNEAQf/bs2eS/M+ozCm+/zQ6Atj6PsnHjRpw+fRri9J8jd+zYAX2VUgMKfXZBM04aBDz11FPQoFJ3HM65RFeHr8GE/oHUsWPH8MADD0CPrlpaWqB/DqUByuOPPw49ygo4eNC6lK8c2cuWLYM+RGkDD9sn7Y/pkrIF6WmIN/g+cWb7ujjZgnRBupDWs2yfU45BvCHNmS2pGOd4lnkyzRYn3YdxjgOEMI4Q5liRXQ8iNwRHRNSb6mOsvX06lq+YhTyfZ8a8GwlPvY/iuvUoPLAFxZ4+DC9eiOH7HkTul34VhY89DbdoBe+Uc0mHX8yxprH8pXE/Hp41G//+3/8Hds4xTh0/hiHWnVwA1FQDLlfE9Dpg+ewc1i6uwpc/Uo863lm394QYGMjj2PsRXnltGCMji4F4PuJQnzNgnWUe3CgisIFjvQa7X4eAjZ38BPJwaCRGMb2lGjPbqpELYsbzgk1yOJDhcUKZV/p4lQlL0Y52zK0JS3BchxvE6DD5sIrcJQ5czsC5OkSuDy4ukGOjEtZw33LcduZym/x1+zoLH3/7fFofDxpTfP8YNUH4ftMVYLovneO+0ClO15ukQCp5S/ch0mzFyzYYb1K8r/u2eNmCdEG6IF2QLkg3yBY+qO3cjf1VGSpLkC74utk+J12QT5Au+Hralk8QL0gXpAu+nmWnOVYp1jvuhwtZ5/Ksa+A1msfIwEoUR1sR87FXzMFqRL9yBa1DkG6Yij3VGF7+VuyYdNyuKEKe05Q7HvsYHn34HlRR540GOwReJGzki8VRhIxhE4dwdAC6uxkZKULfkDAMjg4n9tCo+GEMj4wm9iifgRbDGK5QjQ23rcOShXN48RV4MXL9+UasXbMc8uddDoWqBsye3syLNEweUxTZ+NU1TsddWzZjyfx5CBkTsMEpRiECl8fMOfPR1tzAg1xEzDuQMBolH9AGRrlO9sGJlP6jhwijMVghuACPMxzSL1UgHizSiqHw3jrhzjnMnj07+T8L+h8JK1aswJkzZ1BVVQVd9EJ3dzf0+QTNHGnQcPz48eQuX4MLlbF+/fpkcKBYfW4hx7t+dea6y9dnG4aGhqBBhTp2xesbE+LFWY42S4MRzQ7oMxDKl1/r0kDjIKevVbYGLxoYrFu3js+2OyFduT60DoPPmy6f6SazuKn4LMaXKkswTrrBOF+aT9J46YY059umZ0lda5x9xBBnCoLqGbxIa9iI8C6c9aSuuQrXuy7gzNH3EPIuWLWje+9BuK3rUYyGEbZfA8cBKFbHGDx3GsNnTsFNb0HAeha7mOWEGGZ79BJy+Pq5M/jtf/vb6O7uwcBwhNaqANPqHea35XHX8ircsboGX3isBYtnFtHRO4p8TRVGUMBX9/TiKpZz/a0Ikef1F7Au1yJwVQj4OCSptxzARLw5SGxxjAS3IR/vYMxWBLnbEOSr4BwYrkUOgCSSlx3DclJB5Xw38VHMbYwBzR5wu2I2vHEcYDTqRRyMInRHuQ293K56FAJuU6lw+kbIj8qaErTeqQQqTvBjZafh+33dOR4nn6Cu61H5VCe8s7gJATScY41jg6NYgVTFd1ZMmpvM1gomi6nkl09QOYa0bXw5OVn8ZH6/3HRs2vZjb+hs+3kqY15DQAgXDEGPGYJCOwp1F3g10C8+8aNUh28kj2vOsZAxayrrrRRz0yDB8brJcTt6RgZw9mwfL9oAjz96H+7efi8ee+pz+OwvfBz33b0O2+9/BJ9++ik01RS4KREvdY6ueUkpl0TZN4vnLsaob2xAW0sNrrdfxzJOid531yasW74Si+fOxuzZc/HEjvuwdsVKbNuwFpvvuB23s/Oa3lyLlqZmLJjJBs4FWL58BR5/eBvmzprF+K3YvHkzNq9ZzLvStXjonjsxb/Yc7Lj/LsxqbeLBRdkDWnZjf4QdWSdVU/6a+tfvI7S0tEAdvv4fw8KFC6GZgJMnT+Kee+5BQ0MDRjltrc5bHfyMGTN4rs/i/vvvh3Lr6+vZSXQnjy5Oc3ZBMwMaLChHgwwNGNTJ6/BoOzTg0GBAH3zU4w7NJmgwoH/o1NXVBQ0s9NsMy5cvh+L0y45BEEB5wr59+zgADVVcApUpJIa3ME5SMJev+5zxkkKWT5x8gnRBuiDdIFswW9K3pQviDbIFsyV9W7ogXpDuw+ciXjj6kZ9i9wDCgR44x84qvg4Ew2iY14Mq14mNy3pRz361ur0DdScuIHhjD4ov/AD54ydQfZ0xfIxQOHoE1WfPI7p6lYODPIKICezk3+cA4V+MhDgRx9j9g13IF4cxqzGHtunA3bfX4KGNDp97uBYz6vI4fq4bITtX/ffI3/1WL57Z3Y+alZyaDxezAy0CrosYpD4CFzhua5BcezGKHKT3IoyvI3b9yLkm5OJpiDEA/aQzJzOQC/KsC+rAHXOiMciOMdnLP3aT66X2ICmVj2L0vyIcV6APWEY8Jvn4YVpzeYxiBDmtP2RCDjF9MTd08vKVk5SOqcRyZcm7XGzi5KKcP4tn+Pjb94+TVHw+rdM94W1+n0xzZksqTtIgW0jbac78kvIJ0gXpgnRBuiBdkG7wbemC+SRlC2ldtiCfIF1I65PZyqkE5QsWU9JzJdMVEfLKKIZNGOlfyGsIiIpVAGcPVU8D3THg5lepjBt82pYnixNfDjcNEgDHvzy4jegecOjq6ETQuhiNDXnU1xawf98JrF61Gdu3buKoe4AX+tiF4MCXFgLV1JvXFXcZCZxz6Oi4jkPHLuG2Ozdg5qzpmNU2B30dHbh88SyWrV6HIB9ioKcdp8+cw+BAhMUzGzDYw8aE05DneTd05loHprU0YfHiRVi2eBZOHjqCMyeP4xIbwJlN9Tj+/hnMa2tmIxiiu6srtTU/GWb6ZOsRw1e/+tXkkUFPTw++9rWvJZ2yBgm6s9eAQf/dUV+DVKw+qKoyBM0u7Ny5Ey+99BL0KOKv/uqvoMcV6sD13yP1GEL5f/7nf46vf/3r0D+BUp6g/xSpmYtvfvObUJmaldAPNWmw8Oyzz+L111/Hd7/73eS/QopXmboDxEGVAAAQAElEQVTL0X+O1CBF6/uzP/sznOaAxD8zKtu307r8gnhJg2wf4mVLCtIFXzfb56QL8hmybJ+TLli8ZJZtnHPqDEsdinHKEXybXRUbjSIKdSFcLqS7AOfYaeWGMXsm0JYroiEfY4gX2sjlSxg5fgij776LkSuXMbJ3H+ILVxDtI/f2bgwdOYqh0+fQx0cXfcy5RvxnXsYn2T7VFBxmtgILZjusnhvh6a01mFYV46GttThzbhAt1cO4bUkB7x6J8OfPDWO0wOBcEwavLkIwtALOsSGLG+BQBw0EHAczCEYRk4Hu1tno5eJF7HybOVi4zH06h6J7jd5uXquNcIGjzt2LieQ9rkyps9UxE5LUigs75iEiziCEUYCRYaB/oBeOd0qBbnhQjyJ2AcE1gIOiGEWWKDjKqb0n2xb5fZQr1WLSfuMlfZ9sH75PuvmkG8SZblKcwbnSfpstmY4zW9L3m+1z0g3yl4NifF/a9n3S5RekC75uts/5ejl/OkZxBt8nXTCfpGxBuiBdkG64YesYR6zrERDX0D0KV30OcNcQ81E7kCNPP6+cGzlIXlOxs2Im424aJOiSjHiR5DlSGRg4g0tXO3HySi8GOrsQVNXijk2r8erLL+HVN95BX88QhjRHzqQgjsDmDpG7qcjSDiRL8NIDG4gYTXV1WLh4AQcLvLNwEa51XkXPcA+udo/gvcOH0Mmyr17vRK6+NbnjbL9yBf1hjMH+Hpy93IHBoRBFPgM5fuoszp65jDkrlmG0WETdjLk4f7ULi5bOx5nL7bh4rR3aRPyEvvwTHPJ4aMZAHbYe+6jjF6eOX3fw6ph1t687e+nqoHUn/y47E9kaWChXscrv6uqCeEmVK05laoBh65VUeVqP/CpfnB4l6JCL0wyEoPIVp3j5FKNY6eLkM1ucMJk9WUw6Px0vv0E+QbakQbZQzhbv+832OekG+QXZOr6SsgVfN1tcjAijnE4YcmSr6tjpRgjiOgS8s23oJRnz2kAVDtTF+H8XgH/RlMf/jYOJf5nP47dyEf4xn2H+EzYs/6QY4v/CevKP4yIl8H9lmf93DjBebIpQ3wRsWFqNFpbx959sRl11jM0rc1g2J4dj74/gIgfrb58cxtELeey7HKK/ehlvGFbxem5EfPVh1pV2BHEz4niACHmts9N3BTjH7eMWxxhFGPUiDjq4E30IXCPg5nEe4wk2fLXU25HjtkTsjGPFx1zG+ECv5Jgl+SpjIgC1VOJyGB4dwkW2b4cOX8Ab71zAyWNzETGv6E5wC9pRFWxEwU1nShHgQCKCXtQliErrkY8h42/ZaYw7PSUdI9tz89hq20vwedPT8eLF+RAnpDnflq4YQ7quGp+Oky2YX3IqtmIExQvSBemCdEG6IN0gW5AtaahkyydYrKRvSxfEC9INsgXZkuXg+6UL6VjjJGNeo5K8SBCwsuVyXahuOMpHsVdRqGoH9NkYx3PP9kDlJLFUTFJN3pPZCkrHlOMCOSZCGzCCiBd2z8WDOH3pGhrCbuw9fAT7dr+JP/3an+LIsTN445WX8L3ndmJwRFex42UX8aKSLkwsUVaQ0KWLE4zu7+3Bm6//gDMTB/HWG68m/wb6aucVnDh/CVeuXsIrr72Da939eHPvIYYXcejkRYS8y+i6cgmnLnbCsbF765138Mxzr+HspUv4/ivv4NDh9/Dq7kM4duIYdr76Bi53XsOhQ0fZuAJcJX7UX46NU+i0lcmCikmqZd7O8ZgyL+32K4A6avnFOXejTNmCOnD5BeduLs8aB8U6d7NfvHINijddUn6DbEG2pCBdkC5IF6QL0gXpgnRBuuGHtVWOX4bpkkLab7b5zDZpvEnxBo8zKmn4zZDfYBx4txsPjaDYN8ROjPU/HkHoLsFFo7h8uogLnTH2HBvEUTYs3+X0+Nd4B/+NAvBnVUV8j33xN+siPNMQ4zv1Dq+05PFSa4C35+fx1wtyeHFeAY3zq7BmZh5PbS3gCc4ehAPDePK+Ohw+PgTURJjRAty/oR5XOnP4ve8PY+HC27FwwUL2mwXEoyMoDpyGrrHYdcFxYAAHbmcvgiCkyhjeRKiajiafZ+phW8F6xEENwEcRBFivwvg8gpyD/sAIFSjdjkWsMsirnBtgOWxbEh/JOAG5ZKDBgxGzBCKiqpuIAe7XVd5EHD9+Abt39ePVVwZw8N0FOHd6GXq7VqI4chtXvQi5+B4A0zESHeY2Xef5Ie1ibhu4X9zmZD0xY25+l7aB7ehYjNk3R4Lllo+zvLT0y0n7ZJtfusE4SeMkZRvSts/7Puk+FJe2xQnG+7o42YYsO4uzeMksv3GSBsUKaVtcGopJc2Zn+dLcZLaVZVLxgtklqTrFOksjdrx2OCjIEQHrkj78G7NeR7oGwIubMXqny0jbikljKjGWkzFIAOrr6rBixXIsX7UeS+bPxsXTpzF73hyMjhQxf8ECrFy9BitXrcQKYfUqrKJcuWo15WreWaygFJfCStlrsHjJQsxsm4b5M1oxZ+Y0zBVmzMTc6W2Yx3nOhdMoZ7TQ34R50xkzbRp6r11BfX0tFkxvYXxrEjd3ZhNjWjE7KacV8xmrMufNaIMgfe6MaZhDzGV5wjzKH1Voe2c0844s4ClRPSHipEnChFf65Jpt0g82zjk3Ths3TlDxOekC6eRtusmE5CLLdq60HufYSLNS+zHSBaaOvz+I7ef4ugqVLUgXpAvSBemCdEG6IN3g277u+9O8bEExJqUbxBk+KOd45z/CZ4DFRUXkF/I45zibwDvcCHkcuTiCvmGH8x1FXOstYjQXIMcBdWN9HnWFGI01QGOdQ3VdgJULgVmzA0xri7FsUR6jK4DuTxYwc06Af/oLzRyk9+PRbW3o6AtxvTtEc3M11iwDB+uj+PpLQ+gpNmPVaj4inDkLqp5xWEQc11FdhIgNV4xhsAVh75eDc3kEQZ52kTGO/iLC0XpOmPL5CJdiEI8ixPuMZXawnKwGFI7xEeEAzh7G7OQTgDYHS0DA8h3LDYligpil6BhDMfTHMRgTcXYxREdXD2dCzuOdd8/hrddHODgYwftH5+PaldsxODgfiFZz22KuDyjGHSxhlE3xEUQ83i6YhyAXYFRlIoJLRvERYxWfDa45863tSyMr0GKyfOLMLyk7DfGCz8s2GG+2SeNNZvHizG8yzcn2oTjZkoJ0H2lOtpCO8TnpgsVIF2RL+vA56QaL8W3p4k2mddlC2u/baf8t2xzgx6zzIetbqG/TqAAijgpgxYNT3XYhVSl0eO+s7cjivJRxtVwcr7bxmHFldDRE5/VuXLveheud19HZeRntlL3tl3G94zo6OjvICfJ1Up8cHV2MZ25fZw9OHdqLA2+8goOcSTj4xkvY99ZLOPjmi9j35us48OYrOPTGTux74zUcfuNlHH79ZXKv4qDif4Kh43HiyAE2QqNspG4++eMnh0r6ZJJK3ln8VLmkAG8xlTzFCJYm3eBzpktOxa84QzpevDhJQbog3fBh21buuKSSXgepmy7acjFpPm1nlaUOa2Q0QjAAVEWO6xpmPRnhXW0Mjt3BCQYMjAIjYcAOPsK1rggNrdWoqctjWksNNq+sx47b6rF1eSNWcMbgM/dNw471LVi9sBr1G2rxWtcA9vSNYPb0aryx7yry1Q4rOYg4eWaAM3u1uBpW4wfHmzFn1QY0NjQg4qOMiI1YMVK7lePwYBY3+wobsGre53QBjg7OFDjnAHawXDDQIeSggpWcTJH7wA4+qOWAZiviqMhufi9ckqfoWAtCUpCqTpl5HIhEXEvEAUMU53gMcszXNyocO/0Btk89OHO6F/v2deG11y7i7V3TcfL4AnS1b8Pg8GLoeEVxI0J3mYXmOA7hM1/ercUcCsTi3ADgWuBQiyBegdjVEjFi7i8XQDy2Pch+6XxmIR2dFSMuHSdbvEF2GuaTNJ90g3EmxZvuS/EG482WLMfJZ/BjpIuXLIcs/1S4dEyW7XO+btsyGZf2yxYsPy3lE3z+luw4z/rF65t1LYyr0NW5jLNZzbQc+YDF0s+hNCINkGl67/R6PNe4Wi4mixcnaK3jBZgyymeWHe3Xka+vR2tLK3q6OWBov4bu9ou4dq0DHdeuoj1BO+1rU0L71VJOJwceHd1XueMjmMG7/PoCd54r7r52DZ1XO1guByJ83HCtnYOKa+fRee0iuatc5+WfePR2drJhUuPK+lA6LDwy2W+dPCHtvRXOj5Uu+OWlbfmmyinWMFmO/IIf79vip2L7MdIF5QrSBemCdEG6IN0wma24rBjnHPuPeBzpGMvzeemCfAbZgtmSRXaG4UiI4sUIA2cKQFRDDPNZZYC2tmbM4EzcNM7CNTTUI3Y5DLH/PXSsjzMDo9h/sh973+/Hpa5RHDrVjygf8pFdH771egfu5AxE69tFLFpQjb8aHMQwV7xkYQOvuxGcvgrcubUV/98/uY7jHQtw25pNqK+qY6dcIPJQVxmFeURRL4puH1zcTa4nqcM5DhsQDyEXqFGLeEwixjne2Q+yU+5no1dgbEj+BIrRLgRuNpxbTOgYRuTtOII6d4YZ4KAguZvivjuEXF+RvmEMDgzg4sUr2LXrfbz+Zgf2vD0bRw634eqFlejrbYUrrkcUs1w3ylKKcFgBODZ9bIRzbg6KuEK7DQGGUAjqAQyzGV7H8mNu6/Oodj18/MARGB93aLAWazs4UNB5yQILuOk9WVyW3+dUoG+n9Sy/OENWvHxZfBaXjpUtWKx0H+JlO+ckeJ7sfKrWJFSysDgZ0g3Olc+zGOUIads4SYNiTJeULfi62T4n3ZDlT3MWazLt923FpG1woOpYV8FaOjDUgM72zRgYXAywviMY5nEMEUelY0Ny/H1zOYBxaTmeREU+geqEt8/xSpngA7eNFxJ4cdfgM1/8InY8cB8++pGnsWDJfCyeN5NupcQIFJXsDKb0csyApkig3Y2RyzXi45/8BFqbm7Fh0zasWLUO9997P+65/16sXLYYC5Yux7YtW1FbnUPkWMF42TKLDUvuJxbg0U0aIB0r6DXxghIzFfgn2OKzOPP5Mh2XthU7FS4dk7azyknH3Ko9SZlyj184icGF1iFQHX9PZiswKyaLU6yPrJipcPkoxnA8gkILBwH9zVAbmgtasHD+QmzauBnr123Cxts3Y+vmbdhy5x3YsGEDZsyeC1dTjyF2al1DAQ6fLOLygOMMYYyaXI4PKmJcvzCEe86M4C4+tL+vB5heF+Plt3vwkbum4ZnXB/C7Xx9GzfQVmL9oHkbZ30cAHDvRgB1qgAhxNAJgkDhD/jSCoI+t0yCv0XbErgO5POuwC+h3gKbv4zrk3DQAOQRBEzvi1eyAl0PHQPvkkg8vMYcRyTuZWeA1z8ctIdczHPaio7sTp8914ODhbrz9Zj9ef3UER/avQEfHWowMrUMY6dGHw2g8wG0oICpym1wzEA1yfVxvro1Fh9wCtmdxF3JBiOqqHjQ0DSFfOAYNbkKcpHZVaQAAEABJREFU5961M66d/mHmUeVALZaAllTKvOOMAURWqB+X5fc5xfp2Ws/yizOk42XLJ+kji5M/iy/H+bx0QWUYZBt8znTJtL8SJ58hnZe2FSdOUvB12cJk3GR+K8OP83X5hTQnW+CFxDpcjc6r0zE8ugi9Pet4fdQxRfUupJz4TnI8SrZglHOO+co1prL0cxUZaDEBKosNRsxLaIQzCp3t7Zg1fR4eeuh+MkVeQI7hMfcjppROMYV3lGQoJ0KenWB3+wAuX7mCSxfPY8niFVih/zbZP4T58+bhiUd34FNPP4Wf+8iTmNXWyvVGXINyf7IRuwAJeHymOv5Kn1AeqOR9g9c5KoFtV+LzFxbnnGJKHuNKFk85E7M485ucLCbtV16ay7LFCeXizSe/IFuQ7tzNF4h8gvwG2YJs5xwiXQPcb9mCfIJ0g2yDONMlZQvSDbKFtC1OyOKNi3iljg4OYORUjGCU9STm3S+uwVUBydR/UETIZ5nIhaipbsb06dOwbu0KDrTvxMK5S9A9EOBSd4gzlyNEQS36RwroG4jRz5mAdW316LpawOa2JqxYUIfiaAH/7hu9OHSxClWtazB7Lqfcc47XYRHgACGKaxCH9QBzHUJ2sEXUNB7GqlXTsWXzZqxYuRB1jddRqCqiUMizgXJEBN0BjRQ7EXLbg7if9jXEAfclWMB6f4XHfA+CIOI6gJgDmziOyMUYGR7Ftav9OLD/Ct58bRDvvBHjyMF5uHhuFbq6lnB2gp2+090W+DhjiFvUwQKq2eI4bvMi2qcBV40o7gMCbg9qKYeRK5xF8/Q9WL/+KrZvO4+td1Whpe0qnKvlwKAJjpmF3DZE+Xpus0ZIObiIMg65fbxxYf2IMwDvleU3zgurWJ7iFStZDll+cYasPPnSfBanGPGCdINswWxJ2YJ0g2whbfucfLIF6YJ0g29LN/h+cWZLyhakC9IF6YKvyxZ8TrpBPkG2pA+fky6U8xvvx0gXSj7VrwCDg1Xo753JelfAYN9ijI628porMIQNgYtYNyPqSOpNoowtbpQzRlBkcaRvyi3HcY1y3YCjqsH/aG4Uw339CHI5vH/qEKrjKpy/xAuZDWjMTXQxECmY8VN5OzAB2kmMbdwQG6l+jEYxpwS70dffi+tdXei53ofO/gGcPvEeXnjtJVy53s34mzZzKqv8MYyJeGTHoMM1xT1QJWBbxWgdJ50USSDCKDk17BRjb8VKdU5x0sDjW2rwSlZpqU5SmsVLT0M+wedlC8ZJF8rZ4uUXpAu+DhEpyG8wl9mSaU62eINswWxJ2YJ07btzpeMjW5BPkG6QbRBnuqRsQbrgHK8AniSfk27QOhUnGCcpW2B/idHqIXbas3i+2ImBMqhGVVCAC3PgyYZjxwp2i8mnoDXKdDnk8nksXLwId965Dfq9jCiow+uHevHG0V5EQQ4DfTmc7RpCW0uA/nwV/vKFQZy+DpxhA7V8/RY0NDYyLoSL2JkLLDfmXX2MYUQI6W/iI4ltuGfr7VjA2Yam1lYsXjwHd23bjLu3b8OKFasQBMzVvrN2x3E9nGtEzE7bOd4dRZcRRS/y2X81csE8PnoAenn9n7vUiaNHe/gI4SLefDPCvj0NvKFYhOLQp7jeuYDLIYx4kbhBgIPqYnSJdi9yrhlxNAhH1qGNsgVwwyjkBlFX34vZs85i+fK3cOcd17H97uu4c/MMzJ3Xipq6GsZyj4q1iLlfYXQ4ySuG+7j9o9z/IiI+rgjpjeMAOjdTAbxXpXgvbILq50xwjBmV/OV8WXwWN7aKRJg/MbgwW5Jm8pZuSAguzJakmbylGxJibOFzpptUiK/LFibjnFNNQHK+FC9MlqMYHxYvmcX7nOmKNRgnmcWJv4GIj79G0NXdwI2ehgDVGBldgP7BxXDOMSxgPQy4PxzsxjS9t8r2zEQtx5XjkyRvobjAsxNV61U35YpD+MPf+T/wF3/xbXQMRTh65BCGOYqOHSNcxFhtsEB1Km8XcqcVGHBnwYZhCF/7kz9Dd08vvvon/wMvvvgCjp18H88883380R/9Of7qm9/BCy++goGhUUDrxM9edgTY3rKS8DwYkciQlWcY+knZOBghE/OwFRAlU6SsUKxgUaAYusbed955Jz75yU9CP+X8j/7RP8Kv/uqvoqamho1igM997nPJP2TSTzp/9rOfhX5iebyxj+OxEkpCFamklV+mY2QL5TLkE3x/2pZvMm4yv8oQ0nGT2VPJsRiVJcgWpAvSfVTkeMzDwSKKfQWen5jnfxjgwB0oDT7AVyn/xjXJFLJ889zX1NRiycLl2MzBwvxl63GuqxlHLwR49/gI/vj7A3h+7wD+n//xCp47lENHYSUWrViKhjzrAmcLIg4KWIr31vnXNqgdAKqrqxFwHTFXqDrinEOONxc1rEtVVVXghhJgJ86ONsozto5dbYTYSV9DeyMiNo3FkIOB/Rfx+ht9OLy/DRdOP4SO9lW8q1qJUQ4uYtRCn39w7KQRtXPPI0RxF1jRETrWeVfHQUKByCEXDKNQcwb1zW9iyZJr2LjxAu6/vwG3316DZUsa0NZWg7q6AM7FPJYx9FKzFms05tqQD7aTn48qt5Yx3IeY1xAYS4Bbq/ipIOYxMdxqvPKycsQb0n7jJbN84py7UUdkl4PKMFhM2vZ5000q1nSTxjl3YxuMsxhf3opPsUI63+d83eJ8TrrB/FlSMT4vW/C5tJ72yxb8OFYXRFENiiMB6/EIHOtxPh5FONAGxAXWxVGG67oLKUv1lkrmO122grK4Srx8gRZpON59NNTk0VjThKr6Krx/5AD27T+KQm0T9Pv6NXW1lPWoq5W8BdTVcCq0DtVVdaity6OODVd1XSPqawu0q7muatTUEjUttOu5jkaO8GvJ1VCv/YmHGtv0ufBt55xvshHzK4lDELExK3KaNWJlAhDwri9gg+riIbajMQLyHIMmeWrE9bPN27dvh36WWf+pcf/+/dBvKjjnoH/sZP/RUQOErVu34r777sOTTz6JefPmYceOHdA/b1q1ahXXxPqr2p1oySJZh18hnXM3caXIG0vFCzeYUrk+J12oFCOfHyPdIJ9gtqRswdfNFidk2VmcYn045xQ2vu/yJQQX0g00k7fZkppdcK6U73h8w8FGhP0hu6kBxBx0O9eOfD43XrYKUF4aPIpwQZE5jp0fMH9OCzbcsRar192G2YtWoHXechQaF2L+2juw+rY7MGvaDKbkMeoCFAN2jFxXukzZ6fXJ1jbLZ1I6wHMPduhFx4FCD6EOnnU3vsZtP0mv0IUoLGKodzmiUa2/CaPoQ+SqEcZ9QFwNMLKI04jRhCg+A+ci8hFycT0KLs+2pQet009g8Yr3sX5DDwdEIbbcWc/ZjBa0Tcsz1vE64PGL1dCGiKKQ64+hFw8v10Od10vM9RXDo3Do5jacQC4XI+YsAoMRQzksignat8mgsg2TxcqvWMlKqBQjn5CVb7x/bizOfL6d5uQTJ0g3yBbMNilOMFtStuBvg2z5fIgzGC/bdEnZgnRBuiDdIFsoZ4uXX/B1s6fKKV5QvCDdR5rLssXpSglYr+fN60TrtBO8vo9j1oL/gcYZryDijFgU5Vj5WAdBCUZ79bDS+uRT+ZJplOMtLjDFlw31dVi3fj023nkbNm28E3esWYt1G2/Hxk2bcPu6dfRtwNr167D+trVQR5OFdYwTb3I9G6T169dgxcrlnO5bzry1uI12sp6161nebbRXs+z1WL/udvrXUEpfS7mBNnVuk8r8ScXixYuhOzH/XExVZ/OHWTNnY+v2O3Hn9o3YvI1yy3ZsuWsj7ty2CXPmzmLliuBUyViofkDp1VdfTf5DpCrJrFmzoBmD2tpatoUxG9Ao+UdQjz76KLq7u5Pt0n+H1AzDokWLIP6f/tN/ymdlanBZIN8qhyLz7fvSumwhM3GMTPtlC2PuRExmKygdI86H/IJxzrlE9TkRsgXplTCVGOWXixNfQg4jQwXkQp7HqAVwjci51uS8YOxVimNHN2abSHjeqYeIAJ7/QliN2qAGrY3NnH6fhfkLZmPOvCWYNn0aqqrYGfOOJWZnGbkRBFGMqlEOPnHzS+WKlTTITiOOud7YoRgOIUAjm7ZpDCkAbh7iXBU0C+CCmXCujVs4AMcZAzoQxZcRuGm0B0r7ynJc3IV8kEMQ1KJQ1Yf6piHMXXASa9afxPbtATZszGP50loOdOrQVBshnysyP8c6TbgiIhch1oApaVwdeSGm5NGJR7iNI6CBALpT6wGCTq6Lm8pcpoBOwhFTe8dMMlTKsBjJSnHyVYqRT1CcD3EGn5eexWdxtxJr+ZLKM8gWzJYsZ5fjlSPIL0g3pG3xPiddEG+QLZgtmbazOMUI8lVCOqaS7WLA8borBIOsu70Icr2orzqFQr6dA1TwFUAxsRulzuuKy/Q7XX7a79vlYn0+8BNM7+u5jpNnzuLnfu4z+IWf/wQ+/QufxWd//hewdesW7N93ALt37cWhQwexf/9e7HpnF/bs3p3Id3bt4jPEXdA/9tm1613s3bsH74p75x36d+OdXW/j4MF9xCHsencv9u7Zxdh38e7b7+LtXbux+5038TbL27tvD9fxJnbteodgme/sLkmV9RMM/UvmMFTjZGdicmknM8jl8Ohjn8Mnfu7f4GMf+V187PH/gCef/Df46Ef+A5564ndw/31fRhSMJo1kulT9XPJzzz2HWg4QbDZD5R45cgSf+tSncPz4cTQ0NPCObAX0s8vS5a/iVLKkYGVKF8rZPm+6ScuTNJhPcipcOiZtZ5VjMZLyC9INsgXZkj7ECeIkfdwKN1lsxA6yGHWxoehi6Cj7savUr7FBsU6OrQs9evvbIB1wyI3Wsn+LEAbD7P6KHDJQ1wfwwJerYVkOAateBHaSvH/OR+xc2bGHbJFG6VA5aSDjlY6RrTDJMHTshDkr4Pq5vhHE0UXkonoOAGYijN5HHB9E7NoQxAuBHNhRVxG1cEGBCJDL96GlZQBz5x/AxtuasXFzN+7c3IpVqxswZ1YDZyjz0CvmACfmdofJLEiA5MhEAbgCOEoXRQxzHqjqzQFUFPfDuVYkAxg3A/l4OW2WEZUGSjFj4pgDDa/zjyvo8F5TjVPKZLHl/MoV0n5xhnK+qfBWhqQfL1swTrrBOEnjJGUL0g1ZtjjBj/Ft8bIF6QbZgm+bbtL3i5MtSDfIFsrZ4uUXpAvxWB3hJVWqfyWSVTCpjbRU/1QlzSbFdxTnwQm3JCdiNY01yOU1Cz6mA69HJIMDBuox8sRUkjeXJzIeq5/SfYj3bdPTPK8cc92QMa/QGnYAjzz0IJ566mk89XMfw1MfexIb79iEIMhj1vyV+MXPfgJPP/1pLJqzkLMDS9Dc2oTWphY0T5uBebNnob6mAQ/eu5UljcJp57ihES/egBeZYzM1fd4yPHznOgSFAmbOnYmWxkZUN07H9LZZePrzn8fK+XO5QWxIoAu/mBxcbfxPMjbDT14AABAASURBVLjDbJBKlUd6Gtr3NCdbfMCGtG9wIX7jNx1+8Zdr8Uu/XENZTVmFX/l7AU6fnoO8qwJYsRSvPP0nx507d47PBvzRH/0RxGkq8JlnnoEGDuJeeOEF6B9DydY/alLMyy+/jN/93d+F/mukyrIypQtZdhanWB+KEYzzdeOyZDpOtmCx0gWzJWUL0g1ZtnHO3eiQjfPzsjjzm1SMIc2ZbdKPi9ih5+N6nr46ICBQT1lkfeEJHUuI45jXiZqlMWJMiA959yzT8VosZTCWRCw75vUV0eZgwKnxIa8PJccKTBYRmey3yvbhRznnuH2scmwwVW7EQmPkuY3gQKCZoc3QNx2i6Bry7nba8xk/nc56BCiipmqQg9P9mDvzHFavPIg7twxj0x0xVq2qwwwOChrrq1CV17axE4c6bvBVkjHbmJhtTaz90v6xvJjrj8hH2sc44nYYYuoxopB2sRUxrnAW4zA3vJNZu3hHx+PjuB4eK6f1uJDrKf/2j4evl8/gquI42QaLnyzW91uOL32/9HK+W+X9sqQbrByzTYo33aQ4wWxJ2YJ0Qbog3YfPSTcoxjmXeQz9GMUJ5Tj5fCiuki1fVowLgMHGZrSvXYOeRQswyP7Uqc45IHK8sFSdaCvfR8wZK/WRsXpODgw4zmV9ZDyXDhHAOpjEs74kcmyhbRDGTF5HXBENn6OZvMUJiZFa+Lx0gbuSippgauPGiGTjdHEEcLyE9+x5F2+8cwi3rZyFpStW46OfeBqLpk/HZz7/i7yYt+Khu29HgQMFx6MV8aDkwCxKcEdjckGumtOFtdDd6JZ7HsDHH38UDz31FBYtmIumxhZUFwJELsfGhBcuTz5+9kqOQOmMlJYJAYwJViE2fsPD1XyEUEXUELUE5UgtG70ckKQli+Ri6ujowIsvvohLly7hD//wD/HGG28kZalifP/7309mEL72ta/h8OHD0EDhW9/6FjRI0EzRs88+m+QePHgwydFCeZKGtC0+zaVtxQg+L10QL0g3yDZMhbMYST/PdEn5BOkG2Ro8mS0pziBbKGeLl99HmkvbFis+5iAhikZ5Dtt5Ls+yCQEH323QS35Jg2zBbEl2QTznTOfpl08QXwJJVo6IjZZ4IfIbIbrFlUOpjNLSj9HxipJOmuvFEIqjgwjDOgQc0MbgHTtaELjNcMFKdsbn4dwQ6qvPcgCwB6vWnsHtmy7zxmQYq9fV8XFIgQMGtgc5l+yHtq+0rhClFzeypIwtfdt0NZymj4V5Qp6YAwptbRW28hgvhkNA5LlOHkEeE77l9mzjb0iUeZW290acb/spPj8V3c/1dT/XeJ+TbrxJcQbjJI2TlO3D56T7sLgsTj7jpRvSnNmSfozpJqOInagZY9JyfGn6WMj4uZRtPknBOOmCbEG6QbZBXOQCXGffd+2uu9DxhS+h67f+H+h59AkUC7zhZSXjWJx9G6uRU32kTCqVSQaAL3LanYCqS/pN8ao7iiM59tb6hDFzXIgTxokxJYuTS7wgPQ1tQ5rLtrU/nAngJtI/gpbps7FwbgtOXOlGAXns3nMMS1avg6uO+ey0n5dWiIhTe4uXr8Sy5Uswfdp0tLU08oKLEXHpeBAampqwaMVaVGv0xAN45O23OJU4H+2Xr0D/CCbm1As48tfh4Up/Kt45PjbQwCmNfJ4VrMIR0AmOI8A5B710zGJID3gRuASIafMtv5Dk8DyYFGcXmjjZgnRBuiBdkJ5Gmpct+HGyBeOkC2abTHOyBfNLyhakG9K2+CxOvEF+Q5ozW9JiJGUbsuxynM9LN6gs032Z8JHOIQcJvFbARwJR3AsE3XCBk5vnNx5HQnCRLoPUhLfvlz7BSUNcOdA9/p48Jmas6m8VwEFDRAQYZe08Tlzndg8A8WW0Np/Bps1DWLe+iLmzG9HYUI2qfIH7WLqTj1V/WRLYgiRibFFu/bfOD6MYd3Dw1chWpxeROwNdd0GQ45p0nDUg0XmQTir1nmx9Fj7VOIuX9HNk+/B9vu7cje003s+TbrxJcYJz2s+b65R8FmvS56T78GOMN06yEiefHyNbmAqnGEHxgnOl/ZFukF8w22QWZz5fpuMSm4c8dAF6a2vQVZPjwLiI3sZajD68A6NN9Qi5HQFrPcMAXhZJDgs1STV588gj5kxYMkAYm7lKxySBZRYfZmxQZh0JrWfVutsU2jvaMTykZ6GjaG8/i5NnL+PsqZM4eex88t8cu6+exuu73wWKEa5duYydr72bfI6g63ovurt7MTA8jBGCx4fHJkbn1fPYc/Q0eq5dwJ59h/Aip6/7ugfwzrtv4tUXn8e13kFerA56tshFsj0/UYsyO9PEgdPcuXPhY968eWhtbdOhSxB7lcuKYd1DUqGMkBxrVJMKSZtprJjJklbpnVWZxAmliBtL45wrlShbuBFR0spxaT7L/rA4lSOUtujG0uekCze8JU2cULJ0yGL4tnM39t9iJBVjkC2YLSnbIFswW1K2IN2HOG4Bz+8w6U5eF0UEvHKdGg92uCQnvJN4VpLJ5IQkGul4UmXffmy5oPEYNnbSoyjkPlQjcDl2wBGioBoRagA+BguC+dDMY6HADpmj3YjbH3H/Qg6K4qiAOMzzHAQEjwT9Kq8SMMnr5lwgLAbQNsINI8RzLOEoH4d0cZtjhCHXC4LrphjbDtk3wISb3jevZ+L1d1MCianmWBxTMt9RFI1vpwVYjknjTRovaZykbINswWxJ2T7ECT4n/VY4P1a6wcoxW1KcIF2QbpAtmC3p29IN8hkm45y70Q4oNsnj9ViIisjx2IM3u+7MWURnz2O0/QpnyxyrjoNm1kuTAzfqgnOlslQGq74E66IGyKxfGE3OY0J6i/F1prhb5b30TJVNzc28cw7t167hy1/+Mj75qU/hU5/8FOWn8b/+r/8L7/BHMDoyiPdPvo+LFy5hNB7GtevXceHqJVy/fAF/8ZU/xoFDxzAQjpLvRHd7Jzr0j50GBzA4xEbO5VHIBSgOd+HoyZO4cukKTp44jrMXL6Oz/RKuXu1EX9cVXO0eRF53SbyzznMrA7aKPw1wziHHffZh+43UK7My+DGOUwuyx+tfzEoqogTnHBtAl1TArHWofKEUXVrKFkpWaSlbKFmlpWyhZN1YpjnZwo2IUqfs29LTMeU48T78PNNNWpxswexyUjEGizFb0jhJ2YJ0Q9oWL84gWzBbUrbA6o+W1gY0NhZQVd0Lh34iBBfJ+VOsD6ReWb4szk/z/b7ux0j3fb4uXwJ29uCAVd9uCONriOIBbnYzXLSQ7hFufzdcXAe4gk4+uKCfdVdtqADqHCyAzSyddHMgkSjlF/52ZOk3Z8ZwLLamuoHrLgKuj9s0iFx+EAhGuE5XArclJjD2yirb58bCMoUf5+tZwb7fdD/OOF9m+X1Ouh8vXZwPcYLPSc/ijE/7ZBsUI5gtKVuQbpAtpG3jJNNQbCVOfkM6Lm2n48rZ4sEa4xCzfggRB5gh6vuHUcv+Mdi/FzWvv4na730fVT3DKHCwqQ8Ds0bDf6mcEsSyHAqOqeFY7aCBKW3/rVjflp7FfVDeL4vdr4rx4XjXOh3337Mdq1atxNJVa7CGjwxWUF+z5nY8+OAOPPzAg5QP44GHdmDHQ/fh/gcfwaMP3I8HHnwYGzaux307duChHR/Bw4x98KF7cf/DD47FPoyt27dg651b8fDDD+Hhhx4h/zB2MObhhx7Egw88Sv0BlrcDjzyonAfwEMt88MGHuD76yT34d4u/0e3YtGkTK4VL4J8R6UllkZKCTuY42Hip8rEEuCDiHdso4MBXDLCh5hIaNyjeOQf9mJJ+/6CxsRG//Mu/jI9+9KO8Q725Slg8vJc4z0zUclyaly0kSWML2cKYCekG4yTFSRpkC2m7HGe8pKFcrvl9qdi0LU6Y7M5NMX6udHEG2T7Em+2cw6KFS6CvEd9++1qsXjsdCxfOSqbDtV7F+rA8SZ+XLs6HOEM53vySfkxal99gPrDZjHk3FBZzCDATgWtig9rLsONsWvexig7RdskYwQVUOaAAWTJcyrY7Yukxc8ymztsuW88PK6urCli0aCGAdq73FKpq92POrCq4OA9wkMJVJfUSk7ymuh1WzFTiLVYyK168kOUTJ58g3Yc4g8+bLp/pvhQv+Jz0clyad86JSo6n8oSE4EK6geb4uxKna8C5ymU6V/JbgZXKU4xzpXjFyc6C6kYQ5zCXN84zhkewYGQIdWGE+pF+zL98FbOOHMb0V15B8/59qB4eYAsdsj6xkju21KXix49BqXzyfKwf8xqIKF1QZF0kV3KmYsdIivQ2yjbQPeFdjleQfJI+uLW+WdI7Oq/j+Z0v43svvoBXnv8edu58Bjuffx7PvfASdj63E8/tfA4vPf8cnn/hBbz43Kt44YVn8MLzL5N/nv7n8cILxLPP4pmXnsEzL7yKHzzzAl56jtzzO/HGG6/j7TfexrPPvYxnWcYPGPfC8y+xbObu5Lqef4Hl7sQLlC+w/HEp/Scc7777btlKUDozlZdBlE8qlFOjzErmOE2b6BwgBJzyFUiPF9Lf3w99nXH58uXQbyboh5Rkjwd4SlblESd4Ycn2+7bp6TjxWZz4NCwuLf04803Gye/HOueSbfa5dIzsclCeIL9zY1e9jAxYnO8SJ/ic6RN5BxUfBA76JcPW1mbMnDkDmgFyLnsfsssx9obUegw3WIwfF/NJ+v4sXTGC74vZycasm/p6bwzNHPDOHNWAm4acu4eNZjOAblTlhpN1Ajf2J10WkpeGu4nyIS8cmpqbsHr1ctyx6Tbcufl2LFmyCM6pmfTWSVXbVQ5T3SjLn0q8xUpmxYsXsnzGlfOLFyzOpDjBbF+KF3xOejkuzcsWlOOjHFeOt1znHDRQqBTn+3zdykhLxQg+L1tIOD4zcHERkRtBfQjcO9iPeUXHQazqS4Sq4jBae7vR1tuJuuEQQ3n6HOD4SMLFsS4wjJcFe9nA13F/WE4ymGAS3TfHkuQ7zadthoy/P4iPWzGeP6Zw4zGEKMjhjm2P43/+tV9DbVNtsuP5eIR8xOctBZQ+gAEEPEgOfJbHkwTkkUOEVbfdgRlNtPgcEW4Ujp0UjwioIGZcHASYPmsBPv9zT6Bl1lw8tHUNXFwFhxBgviOofHjvH5OSKp3AyXYh5tErVIdomXsZ02Z1oG3OVbTM6UTTrG5Mm3kdVVUh9P84kJwL8BlriPb29kTqw1n6/YO+vj6o08naDnGG9LaI9znZgs9JL8f5vHSDcgxpLm0rzjhJ2YJ0QboP40zKJ13wddmCOMF0X0qfDMo1+LHGSWbxPiddcT7KceINijc9S07mV45iBOmVoBiDxbG2kYpRDAd4/XcgTh6V1LDGCtW0h1GMTyPv8oxD0nBa7t+uDDkz4zB7zkwOFhqQfD6CW1RpG+i+6V0p3vf5iT6fpU8WO5lfZSpGMg3xwlR5xSlekO5DnJDFleOzYifj5C9XnnhBMRo4SBeEHHNsAAAQAElEQVRkG2QLZpv0OekG33+Dcxh1YG+VQ2cQY/poEf18RjDCwYMGxo6D46KrRhQXMEJ/VTFAdeigNjhmlsYJSL9i8LqImAO+8gjYXsdhnFwTJCa8s7ZpQkDKUHyKGjflc47bNs7cUIIb6g3NcfokyNdg+cqFeP311+jI4+c/83l85OGt+MTHP4vHHn8Mi+dNx933PYGnPvEw7t16H+7YvA7b774Pn/uFX8Adt2/C2tVrcO+OR/ClL3waTY014J4j5oK7zwMQIV/XhFkLFmLDujWYO30Gtty9DY8+8UksXTCLUQCPCheljXY8oDR+4t/Olfa33I7GdOhkClQnvt0oajbuxx3f/kOsf+O3seG1f4VNr/42Nr3+/8GWnf8OjU+8CY14HWcXwCPsnEsGCMPDw8lXIO+55x40Nzejt7cXemkdgvQ0snhxgh8rW5iMkz8dN1VOeQblGNKc2ZLpGHGCz0tPc7INWX5xBj9OnNl+ozUV3vIUK8hWGYJ046QLPi+fIN4gOw3zSaZ9ZstXDhYjaTG2HbIj3jlJFkdqkIsXwrkmRNCPQV1CGF8A2ApV5dZCPwevuL87OO0Cm56QiAgQpQb6VrYpKWRsMdW8sfBETJaTBI0tsmLHXJnbbj7JdK44H+b3OenGS6ZtcYJ4QboPcQbj07Z44yRlC9J9pDnZPhTrnBs/DrJ9KNZs6QbjJLM4410coYo3yQHlbD4R2F+bR7MLUBdFqI6G0TzUjcVdl/BA+1Vs6uqFbrJHuT1FqE6plBuw9cSkuMWlZViAC3iTjVK9JDn+Vvy4MaaIE8bMcSFOGCc8RbwgyqR0QbbAy1NmChy9hMVR/MVXvoYlazZi2dJ1mDu3FUMD7NzzQzhx8gJWLF2BJauW4baNG9DaXI/2y9ewaOkSbOA03WDXFZw+dw0r1q5E//VBVNXUojZXxenEAhrr6pDTPkfAiQMH0DJ3IXL5Gsxom4Y9+49i0aJ5cByNwYGHUoGpbfuZySOgSqbqRNV7t9ddxCsLfh8vLvr/4ZWF/xUvLv7PlL+Hlxb+Li43vo88Bwj6xDizkyzNJLz22ms4d+4c/vIv/zL5DQT9XHPiHFuokoypE8St8IoV/ALStnzlOPGCYgTpgnQfPwznl+PrUy3Tz/F15QuTcfKn48RVguIN6TjjJX2f7DRuxe/Hmm7lmX2TTJ7nxwijHoTuPK/rPrYBvM4xm7MH29gEVnMm4SD18KbUH0fCjofkVLdfsYbJcixOslxsJZ9yyvnFGxTnQ7xvT6aXixcv+PlpWz5xgnQf4oQ0Z7bv83Xf7/O+bjGSWbw4IfFzdDvKx2Zh7PBerhpv1LXhnaocqrv7sOB8O+adPY/7z13Ck+3X8PD1HjQVh1AEWN8D5Nj/Yexl5cl09IIzERxn0MxzkBCSudHWK1agc0rvSrGT+cwfZK1J0ySOI6Lb1i5Fx7XLOHv2NPbuP4DLV3rR2DQDSxa14NDxc7h87gR27T6IU2dOY6BnEBcvnePMw5s4fu4kZk+fhb1v78aVq1fRPHM22qbNwMxp07B4wWIeWmCwtx3HL57D7jffwtHTp3D69DncdttcvHfkFGI+jgB0uEoHJ6aOn71uOgI6iYI5dMQC3qMFGEXEhjnkKDQMRqjnk9F0hIj1j6ec81yW55yz9CRm3PAUxQoelajiDAkxtsji5BIvaZBtqMSlfeVs8VaepGxBukG2YLakbEG6QbYh4hWb5s2WtDjpPoyXzOIn48yfzvd5+QTjfCle8Dlfl0/wOV+XT/C5LF0xQpYv4aKAA4MQoyGjOAXrOAUb4joi18FG8z2w4tExjELy64kx9YnvpIyxOvs3q2tTYm6OIW0bX3kbbetvZVtvJUexk5U9WUw5v3Ol9iBdvuKdc/CvBYuRTzDbpDjBbEnZzjnvGJeOqXiD4gSzJWUbnLt5GxXjYyqxFpOV5/tMl5wQi4jmKHJsb0fyuaSXGs7lMMi74MGhXoQjIebSPse62zXch7XtvVjb3Y25g31oKI6gEDI3HmUeLwzH48Dd0jqKnMmPOTsRxwU4tuMxAVa5mOVwhRPe4gwTHDTEU2S+b8XHHuPmMhw3OOIOHNy3Dy+99CI6r7fjpRdfwvFzF/CDV17Giy+8hMsXz+KFZ76P7/z193D46DH0dHXhpZ078a1vfQf7DxzCu/v3YNe77+KNd97G0SPv4cKVK7h4+RKOvHcUPCTo7ryM994/g1Mnj+AtziAcOXgAzz/zPVzu6OGhz41tFI9MovHoJfIne1HpxFXa81IeKxkrUcAhWMTDNeHIccDnVMvo88sp5flMSS/Hl7zZy6ycclw5Pl1yVlw6RrbiDLIN4kyXdI5HgccozadtxYozOMcDKpIQRzHhLU6YQNLI4khnvhUrZDkr8fIJWXmTccozlIudzK88i5GUfTM4SGVTGoXVcGghagHegfFCh4urkI9Xw7kqBEEDO4+bO2YG/y297aqx1aVt47O3Ufvv40b05JrlTR5ZWne5OCtHslxMJd4GAekYlSekedniBekG2QbjJLM48UI5n3j5DbIFs02KE8yWlC1IF0w3Kc6Q5py7cd1bjMkkdqx6RKzbPCuIXYTQBRhsbELX/GkY0gw6uYj96QnE6OzrRuvly1h3/jK2XbyCTR2dWHO9H4t6R9A2FKJ2tIiaMAZbKURxQFQh54aTVcbMT5QpLLRtQrnQW/VlDhJq6hqxfs0KrFu7go8M1mP1mlVYt3o1lq5YinzBYeWK27F29SqsWrMGa1avSfwr161lzEqsWr2WvjXMW4d1q1Zg9Vr6GbNq7apEX7psMZYuWYg1LHP1mrWUq7F69TpoHWvW3I7VXM9PKxYvXgznylfMciddvE58LOUWobysFPGC75Nt8PlKerl48em8clyal22YrAw/TrrFpxtD+QwWYzLNm+1LxabtNCd/Fmd8lk+coJg0xBuyfGnOty3PpO/z9cn86VjfvqGH7PyLCMMBFsebgPgomzzqro12jFH3HBBcp87mkZX4Rh6bxvjHB9yBm95T3RdLnEq8YsvFyWcoF1OJt1zJrLgsXpzgx8s2+Lzp8pluUpxgtslyXJqXLVieSXE+xKdtn5Puo1KsfOnYiDMBvXXNaJ89G/vrmgDq12fNwbFFC3Bwzjy8M206DlVV4/rAMFxnB2ZfvYj1nIXfQrmhsx2rejswfbQPyA0BbhRBWADg4L9snT4nXbxkFuQTsnziyvlskKCYcQwNDybPqc+dO4+znD04d+4M7bO4cPY0zp6/QH2MPyuOOuXps5dw/uwZnGHMubMXcPLCBVw8d4r553Cez7zPnTub6BcvXcIljqbOnRV/gWWdIc4RZ3CWeWfPkz9/nnZJnqf+04KrfDRT7kSNn5xEmVhhEoqLbJaO5O3YUJca3MTkYsYMPgKaORPOlXykbnprewy+U5xvSxcnSE/DeElBfkmDbMFsSdmGtO3zaV/aVqw4QbrgXOlo+Zx4Ic05dyM27VN8FhQnpH3iDL4vi5PfeJPiDMZJGmdSnA/jnZu4LxZjfl+aT9Lny+mK8zEeFxepxgh5p8TRAfUCXDKNcJz6eVJ7kEMVgvwo62hExPigL+ccnHMfNP2W8/z9zdInKzCdUy7+g8RlleWXk/b7Punl/FPlFfdhlJNVRqWy5ctCuhzZQlZsmlOckMU759c31d1R5KI8uutq8eKMmfjq7Gbsa2zGUFUdupur0NXaiMuz23B6/iwcWzAHB2dNw6HGGpwMirgWdGGw7Srya9vRuPwar4kRjOSHuVqVy/mKeGIbTsf4O2v75BQvSM+CfEKWT1ygRRouLKK7fwSDoxFuX7MSC+fNR9/AIIb6+lDbPAtVwSB6+gcx2N+Hgf5e9Pf3I1fViNrqAAMDA+ilb+a8eSiODDFuAP19/URfgoGBIcYMI1eoSS7mhoYaDLGcfk7FDPQPo5+6vorXzzIlf5owODiYHJP0+TD7RlUsVRjjpyaVQ4xVsurqajz++OOYzdGuvvaoMipVFPnTULxQjk/7zHbuxp5YrvnMlhQnSBekC9LTEC8YL91gnOStcorXrINyDeIMPqc48cZJyjbI9mG8SflMNynOh/EmzWe2L80n6fOmizcY50vzSfp8Wpc/CxYHDgDi5OvQHCy4dri4H3CcOYgiDg7agegi6/1lFPhcF2Mvy71VqXMg3GreB40f29wJ4lbKssTJcizOl1k5vt/XLTaLy/IpzniT4nxMxstv8dINxpmcCq8YxUsaZPsQb7b0NMwnKZ+kD3HCVDmL9SWbV9ZvB/1L9tGmIVyvBa61VCMKRtHX3I5rK6+jf2YfhoMIXbUBrs4Azq0LcOzxPPZ+qYC3vlyFdx6qx8EFIdyit1HfcARwIfSy9Ug3iDMY58s4jn3zJl25N5Ep4qZBQtJ8xxHYi+PBRx5CODiAy1euYcXa9bjzzq3YsvUeLJw/Hdu23okVK1dh7szpmD9/AVatWo01fKywZfvduH39bfj8Fz6PZUsW8IBpI2M2Ag6O9wyOzQLYSbRMm4UHduzAxts34v77WCYHFdvu2oLprXpmieTlHHN+iqATpgYu2fmsBY+FaFVExUo3xPQFnOaq4gi2NiqgLqxCVVTNZ1xEscDzEEDHnwr00noE/epiTU2NqAQqV0iM1OJWeaVn5YgT5PeRxfl+0xXnw3hJ46ULznGvdcBkeLA4SaOlG4wzORXeOZeEW6xkQnDhXGk7xAmkbnqneecm5qT9KkCcID0NnzfdpGKlZ0E+oZJPfkNW3ERuFC4IsWjRLMyd14iW1nrU1PSjUOhDoeYY2qaNYu78IqqqgmQWYWJu6c5pKpxtzweVWevwy8ryZ3F+Tpb+N5GTVabP2XZkcVk+xRlvUpyPyXj5LV66wTiTxpusxFuMpMWZ9DnpaVicpPmkG4yTzOKMd650ncs2KL6kOxSDHNUQ0WzebC8YxkjLCK639uDq7T24vrkT1+7vwpUtl9B17zX0PdCBvk0cODQNYORqDuF+Xhuv1WPGm9PQcq4ahWLAxw1VyXXBQm/pfWObbk6TT7jZM5FRTDCRArtxcCIwj0Iuj/kLZuDosaPo4d3/sqVrseNjj2N6XTVaZyzAtGrG5WuwctFCLF22giOeOjQ0NGP12ttw15Y70Ns7gK6e68jzbgGl7ollh3CRQ+RGcPHyNeYtQUPTTNy5ZRMHFEtx24aNaKjKQ987BaMjIo4dmJAcJG3wTzKcc3DOoeIr8cdJiI5FonARkFo3NB3/r5HH8G96P4P/rf8T+LcDH8X/3vdz+N8GH8HmkUWAy+mIJseyWCzi+eefh2YRGhsbkX75Zfs+8YLPSRcnSE9DvDAVXnGCHyvbh+8rp1u8BkJ+jHjfli7OIFtI2+KEyfi03+ys7ZBPZfoQZ0jnKM58JsUJZvvS533dYsRloZLffOVkZnkkWT3R1NSCJYsXY/XqRbht/QrcdttarFu/CqtXrca8ubNZ93P4YV7ltmmqfNa6/dwsS2KLsQAAEABJREFUv8/5sZV0P8fXbzXHj/fLMd33m24+SeNMivNhvEnfJ9145260WcaZVJwP8b4tXZyPNCc7DcX7nGzB56SLM8g2GOdc9rZbnEmLN9vkTTwrehAVERTZ1o5EiOY59Ll+9Gzow+hSzqBXxRiuG8DQzBBodwj2FlD3chOmvTodM/fNwIyzbWjuaUVhtApVLCN0RbbZnIHDxNdN6/XclXwKk1+yHOQ3KOamQYIOmTqcYnEQBw8ex53btmP9upWIw2FcPneJjyF60NfbjeqGJgQMnjZzNmbObOMjhH7kc1XouHYeHdev4uy5i5g+Yz4euPc+rF+3jrMMa9FQ3wC4GAEcioP9OH/hIuPOYvee/Th05CgOHzmItukzeFDws9cUj4BOZik0xtzuDnxu19v4e+88h199Zyd+/bXX8Cu7XsUXdr2DlR0XONYa4ZHn0eeFkcvloB9QOnbsGK5du1YqIrVU2UKKTsxKfCVfkpxaZMVncZaW9skWzJ8l5RfkMyk9DfM5x8pNp2yB6oS3OMMERwVD8Wm3OEPaJ7uST/5KsFzJrDjxhsn8FieZFWuc/GmYz6TqXlVVFerq6qDHXhqoypfOm6qt3A8TU11vOm6q25DOM7tSvsX40o/3edN9v+nmkzTOl+INPm+6+SQrceaTVKxBtmC2pOxKsBhJQ6V48ynWdF/6vK/7MabLL5gtKdsg20eMiGaM2PFGu6MKuT6a9XlEOc4sXHIIzwG5Cw4NB+sw/cB0zDg9E23tragdqIV+O8GxfwRf5cqnK7nJk8yC8rJ44z6IP7DkiZI7GY/izTd24Z09e3D40EG89OJO/Pmf/Xc899ffxe5Dh/H8y6/g1Pvv47svvYrv//W3sPedl/Hs8y/iFcZ955nv4bt/9Vd47+gpvPn2Hhw7+h7eZ2w/ZyRixBwnOCAawl9/69t499138NauXZx16MWe3btx8MgxRmizHOO0VRH01RJpP0P2EUhOfBSj6IZRNXQdhaEOVA+1ozB8BfX9V1A9fA354hBnaHJwUenY6keTvv71r+OVV16BdJUhZK1BvJD2iTOU85Xjlef7ZBuMN1tSnHNOIoE4Q0JwYbYkzfG3bIORZpsU75yDcy65CNN38RZnUvEG4ySzOOOdc4lbto+E5MLnTCedvM02mZBc+La2WTbpZB9MOucgn9l+TFqXnQXlGrL8xlmML813K9LPn0yvVK7lav/9OOMlfV66uKlC8bcK50r1wF9HuTL8GOlTiXOuVH46VvlpWIz4LN04SR1DP06cQbzBOJPGS2ZxPp/2my2pOINsH1m8cZKTxcqvOEG6QbZgtklxBnE6NnEcJ1TkArbFOeQGYtS/51B3uoDprzWj8fU6BLsLyO0roO5SHThuABtkADFvnBkfVdHMjV+7dEx4az3CBHLMEC+MmROEeMMER8pQTIpKzCBZegvtZq6KO9U2AzNbG6Dn1U1NraivK6C2ljvaWIPGltnUG9DYVI+quirU1TShqaUJ9c11qK2q5YxBM5obqlHf1Ij65kY0NTejpbmJzx7b0NLWhObmaZg+rQWNjQ1oJV9TXYtGxtVV1aGptRXTZkzH9Ok/fWhqavLOxK2qjlUtRiGOEPARTzIgdax+AaDv6WpwFtMXu1EWHBNIKmMcl/SEmGRRKbacrxw/yapucqsc4SZHGaJcrHghnSbOYL60bbxkOZ94+dMQb8jypTmzLUfSOEnZBt2JL1++HHfccUdyZy5+yZIlia1/2LVs2bJEr6+vx/r163H77bdDOSpHULxkJSjGMNU4i5eslJPlU04lZOWIa2Zbo+Mwd+5cmWhpaUn2ff78+ZgxY0aiT5s2DfPmzYP+62ojH7XZepKE1MJ85WQqfEqmdSh+meUS/Rjp5eKMV4yg2RrVgVmzZiWufD6PdZzRve2221DHGZyNGzdixYoVbIMbk2OycOHCJE71QjnOsfFImNKile2y8lR2icleZvnFGbKy5Evz4oSp8orLii/H30qsyvDh3I1jY+U4V+K0zIcoPWYvBsgN1qFusBGNA22Y3TcLCztnYv7V+agdaoJDHmqnYy7CIMRoUEToIn9V47qtZ5zwlEo+L6yiWqmMICvTFQK0NLWgubEaTezoGxrbKJvQ1FiPhqbp1OvRyIFDs+zmBsa10W4kGtDE2ObGFjSyw2tgblNTDRqbW5jTgEZytcypb2iEBgVNjSyzqZ45jfRLr0NjU3NScRt58f60oZ6NuHOqZvgAL8fBgGNFUyWLk8qXTBrQVCXMxQEKIae9UBocUGS+VVmETCfJD+JTjoFFjL+zODnF+1K6IN4aWNkG8QbjJI2TlO1DnMF4syWNk5RtkO3DeEnjpfsoxyumks/3K062QbYgW4NLdYyFQgEaENTW1ibfXNGxevDBB6EOQP/h87777oM6Dv0OycyZM5NBosoQVE4lKMZQKc73Wbykz9+qrvw0sspQzIYNG9DV1YVt27ZBHaM6PMXqf5J8/OMf52PRAfzcz/0c1qxZkzxmW7VqldISKC6NxDG2SPs+qD1WXCKmWkYSPLaolKMQ+Z1zSZuqwZBsycXJ50FWY/v27dC3xxYtWoQHHngA+nzSE088kdwQagCluvH000/jy1/+Mh5++GF89rOf5U1hLVRvMPZSmVmQO82LM6R9srN8xjlXag/9OPlkpyFeyOKdu1GO/IozyDYYZzKLN07S4kxGiFAMRtnZFwHODIxwxBC7kHbImYMa3sTVIsc/F3MkwVgXc7t4o6axQcAGO7GtMEqtQ6Ca+a7kU8JU/JPFBCoojaHBEZw+dQIX26/j9MkzOH36fVy7cBEnT53B8VMncYa+MydP4NSpszh38SouXDyDa1cu4fLFTnR0XMHFixdw5uR54jhOnD7HMk4w9zTlaVw8dxEXL5zDqZOnyZ0izhCUJ4lTp8mfxKlTp34qcenSJVQ6YYmPFSp9vkp2xGdaMTQYiAOeVheXaEoX5TASxKyo4OCBlRJI7iQ///nP4zd/8zehzkVl33333fjX//pf46GHHsKnPvUp/PZv/3byuYUvfelL+Jf/8l/CGlSLU4Py+OOP41/9q38FSd2tqRwDV3PTW740KU7webMlBfmcc3DOSS17nBRrSALHFlncmCtTlIs3XjKdKE6YKq84xRtkpyFfmpMtXpCu86f/w3HlypVkgK3ZP3WUsnVnra8Ry9/W1sZr8yIuX74MzTAoV2UI0itBMYZKcb7P4iV9Pq0755Lz6txEaXHKnwoUr33XZ2z0dWLdFV+8eDGp6+oMNWjSNSZej9g6OjoSn/KmWr5ifThX2mafy9LLlZ8Vm8X5+Vl+4yxOg0Ltu/EaSGrf9Vssum5VH1QvVCdUHzRo0KBK9UX6nDlzsIePmjWoVFmaRRBn5Vu5vvywfSpP50xS6zEpPQvyC7fi+yDxWTniBCSdfg65yAEcHBTCADH/gghccmCgZlkxcEkbFpFNKEmNFCgx9krKG9PTQj4hzcsWb5BdDoop5/P5wDfGdY5yXFCPz3zh02ioqcXsWQvx8GN3IZev5uOBehRcAY1tzWjmjMC2rQ9jy7b1WLZqEx55+FHcc9caLJw7C46zEa2c+nNBDZr4KCEIeNC4gtKSys/et3wE7NhpnJB1gp3LAxERRBwMgI8deHo5SAg4ixCAFdQVEbkc1+vgnEvuqpYuXZo0lM457N69G7t27UqmJaXv3bsX999/f/ItCH2mxAYJmrbdvHkzNMV91113JXcYunutrq5O7jp+9Vd/FZrO5Ipuemu7DeZ0ziVqmk/IsYV8ajDGzESIExIjY5H2yTb44caZLOfzeekWLynbINtgnKRxJsX5MN6k+cw2abykOP02ie4UNYuggYHunjU9rDs/nTd1CjpXJ0+eTAZ6ilWc8g0qJwvm92VWnHF+nK+bP0vqvGZBsX4Zk+kqQ8dC9VQDJz1W0aBBAyb5BE25q6MUr7qvjvJW16PtUI6gMgXplaCcLFTK8X1+rs+ndT9OurZN9cE5lzxe0ED+xIkTia6Bw5kzZ5LrXbEaWIVhmLQHGhhcv36dN30d6OnpSW4kVJZzpWtV8ZOt2/cr3sdUfH689Ik5Ym5AvhvWDU28wVizJY0zKU4w26Q4wWyT4gSz0zLxaRSQOMaVZICQUN5CsT4817hq/nEipcifom4yFSPc5MggFMde5GaPcw4RNAJy2LRhEzbctgJN1bNxz2OP4bf+5/8Z2+/ajsd2PIjHHn8SC2cvQgsfDdyxeVPyD5zOnbyK5SvX4OGP/zz+4W/+Om5fsRaP3M8BxtggQSu9eY0/Yz7IEfCPZczzVaydg2jJFxAt/IcIl/w6Blf8g0RGS34RqFubPG5wKHJVcTLFeOjQIagxIJFU2gULFuDee+/F0NBQckeqTubP/uzPkkZEU5UaQChWUOej2QbdfejOQ9O3GjzoGxNqqB955JGkTG2jQXnOZTcy8hksXtI4SefceJmyDYrzYbykzzuXvW7FKNYg22CcpBpJ4yXFGWQbjJM0zqQ4g3G+NJ+kz0sXlwVNpX//+99PZt/066S6Y/zTP/1TqAPQOdMdoe4q3377bbz66qt4+eWX0d3dPX4sVXYWtK4svhx3q/HpcpSfRjpmMvudd95J9u3FF19M9l8dn2YOZOuYaICgY/XWW28ldf/o0aOTHoesdf6w22ll+uUYN5mcao46+ePHj0P1Q9fr66+/jp07d2Lfvn3o7OxMZgr0X2BVZ775zW8mH2DW4FED/u9973vJ4xjVF9UftRNHjhxJPgBr2+dvh3TjTYoTzPalc6Vr0edMV45gtklxgtm+rMSnfbINfhmmZ/mMk7Q4Sdk+xPkwn89JN95kFmc+SfkF6VmQT8jy+dxUYhSvOEF65iBBDhePApwyqW9sxrXOyyiOAPmaFnzjW3/KxwvXcO7EMVy+2oGOaxfR2zWEAu9Sr1y5iPb2YUT5ajQ1tuHb3/02uq6148rF8wiL6pzws9ff0BHg0wQEYR4RZqDoZiGOZiNXXIQonofQzUQxX4fRACgqsHR9JluiOwc9s97O55S6wxweHobkb/3Wb0F3GnrWrccNaiR0R6okdZa6K9Wd67lz55LGVuXIp4ZJ35hQBXPOWxGd4ihueosXbnKQ8PlyOsOSt3MT15eQ3kL5gkeNq1PhnZtYfqUc+YTxFYwpWdyYKxGV/PKloSRxGhioQ9D50znQdLI6Bp0r+XS+9OxZA4cLFy4oLZlNcs4lUh1pGs7d7MvlcsiC5TpXynFuopQ/nSfOh3M3crJ4nyuna4Crr/WqY9SAQHfBGghoIKsBg46JjpEeNbz33ntJ3XXuxnqd+2B6ue3x9zkrxrkb68vy/zCczreOgwbtgs69Boujo6PQMdFjBl3X0lVnVI90nPbv3w8NHHS8NGhQXVLd0mPgpOKkFsoTfFq2wedNr+RTjPySaZTj03Ef1HbOJakf5nomK6uSXz4h2agyi8n8ljaVOMUIliMZaJFG7EhHI9j5zAP60fEAABAASURBVIt4/e23OECoxtt7X8KbO5/BMJ9vt3dcwvsnzuHAkbfx9u7XcfbSNTzzzHN4a+/b6Ohrx5533sBz3/gaR6Yh7U4cPnGBT1pYZnpFY3bptJSWY9TPxBSPgE6oEPGxAs73IPxPbyL/b19B/B9eRvzvdgL/x0so/ofXUHXoKh9BFJHjMzKejKR0dRZf+cpXkrsKNRinT5/Gt771Lfyn//Sf8Du/8zv467/+66Qx+b3f+z288cYbydSj1qW7sK997Wv4F//iX0Bfo/yP//E/4i/+4i+gRverX/1qEveNb3wjWUd6ofw0Z3Y5n3iDxUoaJ2m2SXEGcT4m4+XPihdvML/ZvjSfpM9Lz+LEGyr55RMsNi3lE3xeszub+WhoMmgwmIbl+Ly+EZAFxYiXTEMDUH0mQI+ufIgrBz9ux44d2EH43K3q+mXRjRs3Jo/BtJ1/W9g4tk5JrdOOhe239isN801FWm5WrPl8qc8b6RsOfh2RbvVGg0qDeEE+cdKzIL/B/GZLGpeW8glpXrZ4g2yDcZLGmRTnw3hJ46X7MF6yHC+fYH7pPoyX9HnpWZx4QyV/JZ/y5Rekl4P8hnIxxivOdF9m9NyOnUmOdwvAtXPn0dPfjUOHDuLMhasY6u3Ee0feR1/fMLoHB9Dd2YOh7k6cPHcKl85eYOfQiWJcRGd7J2MuQr+TMFgcQk9vP1w+h3wQIMgVACKXo54PkKfMuwJyQSHRFRcwNjd2xyJdMPsnWQY8PviALxfFyF8bQPQnLyL+Hy8g/sOXkPvD5wDqwR+9AnfyIuLY8dyCMk6g57Hq2HWncJoDBN0paPpRA4Y333wTL730UjI1KV1T1BpUaPPkP8NnmZq21J2GpO40dDeiuzjdgei5pxoWxaehymio5FOM/M45iQTiDAkxtsjixlzJvmb5jZO0WJPiDMb5cjKfH+vryvPttF7JL5+QzjFbPsFsHX9NF//BH/wBPgh+//d/Hx8GNJDUdgiqX5WgGMGPkS34nK9rGr0cLO7ZZ5/9UPblhz0e3/72t5NHPtqfcrBtLiez8rJif/CDH9y0Lj2O0YcRnXMTrgu/3qT1OC61Fz5vdUycD+NNymd6WsonpHmz5RPM9mUWL86HHy9dPskslPOJN3yQvHI5k5Upf1aucZP5FTeVGIurFBsoKI36hnqsWrsKa9atwbq1a7F2/TKsXbuOWI01a9dj3boVlOTXiRNW07ce69cwh/7VylmzvhSzZh3lOqxbsxZrGL982VKsWLoEa2ivW7MGa1ju6vWrsHbdquQnnRUnrFUZP2VYvHhxMvWbPh9Ttx1ycTwGIMeBQw5APuIiJtgwcDnhXalyWGClGPkEi01L+YQ0b3Yln2LkF6SnkcWLE9KxZssnmG0yi/N95fziBYs1KS6NqfgU4+fJTsP3m+7H+JymljVo0zT83wVs3ZriF2wbpBuMk9T0t2C+qUjllYPlq8xyMX+bvG1PWvrbYL4sznxp6cea7sf4nAaPfn3xdas7Jn2fdONNivNhvEnfJ914SdlpiDeYz2xfmk/SeOlpmE/yg/jSObJVlkG2j3K8Yir5puL/MGNUlqBtkqyE4GZnjL7+6zh48Bj2HdmHo4cPY//B/ThwYD8OEgcOHCzpBw9QHsBe+g4eOIJD+/fiQMIdwv5D+3HowOGx+FLcgQMl+f6xozh+7D0cPPQejhxS2Ydw6PA+5u7DvoOHcYjPwyxW8uD+Up70n3ToufFUTtrN5+xvnsnaLufc+IrlN4yTniKfZ05Q5RMmkJ4hn+BR42olXj5hPNhTxBuMNtuk8SaNN2m8pHEmxaVhPsksX5qTrdg0xKfhx5jPONmm/21Krdeg9ZouKdsg22Dchy1V/odd5odZnrbPkFWuOnaD+S0+Lc3vSz/GudIsgnHl4uT3faaL92G8pM9LF+dDnMHnpRtvUpxgti/FG3zedPM5d6ONSvvMNmk5ksaZFGdwrnyZirEcX5bjLWYyv+I+rBgrayrlKTZjkMADEOcQ5GLce//H8PijD6FQVadYohr6YR6HAEDIeWvHO98YQRwgchGnrxz5gHYRRThObccoHU9KcMrKKY8hcGidOR+f+sQnMXvmTNy1+XaSeeQQJdDjdUfG3rJN/5n84Y+Ac/7R5Wnk7MNUKoxiDNoK6ZJpVOLL+VSGfD7E+ZDPt00XbzDOl5V8ikv7nSsdH/Hyl0Mlv3xCpdy0X3YaWfnpGNl+nGxBnL6h8thjj+HvAo8++ig+8pGPJD/Ys23bNmzdunXKUPyHjb+LY2Dr1HEQ9INWWfuVdWyy4nxuy5YtMPj5fozp5tfnTFQvVD8Msg3GmTTel+Yz6ftML+czXtJiTYrzYbykz0sXl4Z4g/lk+7pvT4VXTDrHt6ULihOcK7Ud0gX5BOlZkE/I8omTzyC7HKYSY7mKNX0q0nrtG7HskV0QwwU1mDtvMU4cfw8tLYuw4fZVeOiRp/DxT30Sv/alX8Rjj+7AAw89hl/54i/hwfvvwpf+wf+E++/eil/9jf8JH3/yCTz4BBuHe+5iDxRxSBAn5dtSTKG+GXNmz4B+JnbhzBm4//4H8cVf/BUsWTiHgwwOKJjBR+hc/uw99SNQOsIT4hMqWZRo1mGrJM456DMeGHuJN4xRH1hUKqeSb7IVWq5kVqx4oZLvVvyKNXxYZfrlWNmSxjvHkzRmiE9jzDVB+DHmcM6hubkZ+iXPLOgHlaaCH/aXT/XNF33Dwoc+12Iw3mxJ4z4sqcce2g99Y+fvAlq3jrUeAWTtk/a5hMvJj12l9R82x8rTZ4leeOEF3tDdaBOy6o7VIcnJ/IoxWKzZvpTPt00XbzDOl/L59q3oyjVk5clXia/kL+dTefIJ0rMgn5DlM24yv+IUI0ifDIoTJotL+28eJLBnDsICRsJ+fP0v/xiLlt2OWbNbUdfQimlzWtHY0ooTRw5i9oy5qK2uxg9e+wFmTJ+JulqgvXMQdblBHD58FKdPnEJVdT1apzehuXUamqob0Fid5xxEiDjIw4Ux3j+yF42zFqHK5dDQ1IBnX3wbCxfMA6cgwIkH6BUnQ4wbjaa4nyG+6RDoCAXxKOI4j4iGTmyYA49eoiFmhwESkePxB6DBwdNPP40vfOELyU+ukprwnqwyye9jQrJnWIxHjavmMznuGFOMN+mcG/OUhPGSYpy74RdnkC8N80lW8vl+6Wn4uWmf7Ep+3ydd8YKmlU2KT0M+H5X8+jCpPpSqziEN8eXgx5aLMV6x0n0pXTD+7NmzkG5Suu83XXwa8vmQ37enousrfVr3VGKnEqNtmAwqRzEmtX7BbEmDPjSs2HKwOF+WizXej5VufPo3MirVH9WztN9s+XwYL+nzpos3GCdpnHOl61ecj8n8FuucY/vHG8yxmVHxlmtSnME4X07Fpxg/R7o4H+J8ODdx33yfr1cqIyvO58rpVmY5/2S8epAJMTzM7KAHkXc12Lh+PYrREC5dOM1OvBWD/V0YHYyxbNUi7N23H87lsHnLbTh06DAO7DvIEfAFnDt3ATXVtajhqKGruwfzFy/E0mXL0DqtLbmrARzHABGG+jpw9vwlvP32Gzhz+jzOnL2A7RsW49DRkwxxBMZftMb1n3bl5uFB6YhESSV0OrqQGjteLHAIaRQdICsG53D4lIhm8lsI+iEkfY9cn3YulTJxeSuVS7ETsyda8gsT2YnWD+NXrjCxxJJVji95eWzGGhWz01L5QpqXLV6QngX5hEo++YV0jHO8Gse2Lctv8fL5MN6Xk/n9WOl+vHRx5WB+ffBW09n6MR7nHGTrVw9l64PI+hqgZjTE6ce3ypWX5lW+D/l9O0tXzFSQlTsVLl22b+tbStpfzZJqMF7Nmynt8zY+ctH/RdAjguXLl4//oyVdf8rxy6ik2/ZVipHP4kyKy4L5TWbFGGcxksaZFGcwzpfmk/R508vxvr9STCWfykj7ZTun1lDeylBsuYhKPstRjGB2lpzMbzlTjVP8rcQqPg3l3zRIiNmxANUAZxJ27/oBdj73A3Rca8ezz34P3/nWX+LlF3bia9/8FvYfOoZd77yBv/rmt/He0ffx+isv43pXD775re+woz+KowcPYNeed7F/z17s3v0uzl46j4tXryGKA7goRFfnJRw8cRKX3z+Klw+9h4P79uL73/46rnR2I0y2AWA/R41bFMf42evGEdCJE24w4LGKEecLGJgxG8PTZmOIMz2DM+eiOH0GhmbNgStUJ5/3CIMAEY+nGmvdZerrj/oJW1R4aV1ChZDENdUYxQlJUmoh3pByTbhLSPtkW56kbB/GSQq+z3TxBuN8aT5JnzddvME4X5rPpO+TbrxJcT6M96XvN933m24+SeMqScX5qBQrn+rQypUroWl9dZDiNABV56eOUZzq25w5c5LHH/ovjZr2V9ytwt+ucvpUyyyXb/xUy/Hj9DPI+oEy/R7B7Nmzkx9s0leCxU2bNg2SOhY6XvrWhQZPNTU1E+q3X15an+q2WZzJdDlmm9+k8VnSYiQn86djZKfxw5aRzvfLr+RTnPw2ayddEO9DnOBzvl7Jpzj5DbKzIH8Wn+YUJ6T5cvatxKbLUK4gPtBiImLU1RewYtkqrFi6AktXzMPKFUupryEWo7kxj5lzlmD58pVobWnAgoWLsGTFYqxYshbLVy4kvwbLljFv6RIsW74My1nOcs4kLF2+FMtWrMC8RYuwYD7LXL4Ey1n+8hWMY4zWsXj5CuYTK1ckvy2+gvHC8pQt7icR+l1156Yysi3F6CQaRsMQX3nvPfzXLRvwHx9+GL/30H34zzvuxu9Q/y/33oM/7ryOET7sycWcTeAJ1y8lqsFexPMhndSkb1tXpcCpxFi+Yk3PkpX88glZeeLkM8gWZEsK0g2y0/B9zjk45yaEyO8Tt2orN50jzof8gs+ldfkNaZ9vW4ykz5fTFeejXJzx6uT0q376RT8NDNT4SjY2NiY/1nXw4EHo/3zo/yXo+bh+FlgzDFqHlTFVqZwPBxxYc8BcqaypbpMfpx+w0q896ljouOgzGRosyNZjBU3960eNWlpaoN8Z6e7uhmYc/DLK6f62+jHOuZvqqPktx+xy8oPGOXfzuicra6p+xWVtr3jhVn2KV54g3YdzLjHlMyREamE+yZRrgjkVv8WYnFDAmCGfMGZOKhQrTBpYJiCdG2TF9Q2N4OSpEzhFHD95GieJEyeP4eTxczh54jiOnziDE6eOQqPjkyfO4/3T7+P4yZP0nWYs/SdP4cyJ93GC3Onjp3GKMwbJf31k7v4De7F37z7Gn6b/DOUpnE5ijzPuHLlTLIdgrr4SeOKkyjvOcln+GCf+JxEXvJ/LzTovlbiQszNv7N+L//bGq/j9N97Af37rbfwX4j9zNuj/fOtVvHpoHx82FFlEjgB0l/eVr3wF+t8M+onadMVIgsosFCuUcSe0/EJiVFhMFiO/IauYSj6LV4elOLPTUj4hzcsWr3xBtg/5fPg+6b7P1+WprVE3AAAQAElEQVQz+Lzp5jNpvEnj09L8JtN+s82fJS0mLbNifa6vrw+tra3QjIEGB5pa16BAbYTultUJ6hj29/cnNwAaoOpuWuvxy0nr8v8oIr2dvq3PP2gwpMcIOiYaDGn24MCBA9AjPs226BjputM/o9KMij7Q6JdRTi93LHRshay8dE5WjLh0nGzxaYj3ofUKfpzvl+77pIvzIc6H7zN9qn6LT0vLT/Nm2z6YnZaT5SveYiRll8NkfuUpRpA+FShWmEpsVoxyhbQv0L8A1V25pr4kNTXo4hCRq8WGTZtRU+Az22KEKIo5C7ACjfX1KPJuNI6KiEKHmHewcVhMuChinGzGLlq1HvM5Y7Bu5TxEeiJeZHziB8sqIowcZR4bttyDu+69F23NdSiynJBobJ6J2bOmIWT5rhgiX9OElcvmIqbePH0x7nvgPmy7Yx2CmOWEw4yLMByBfq6DMWEYId/chmUL57FBWo5CznF9Ibd3JIlhCHOKRPgjBZ0gHUPJ9ImazI5jjYLzfFSDsf/REPC4FxCHeeSjAlzI8aBCyKos53T8I+jHdmQLWq8gfSpQrKFcvPlNZsWZTzLLb5z8BuNMGu9L8zmX7DiyfBYj6fuli/MhLo1b8VtspTIUk/bLFm+QXQlTjVMZFmtS3GSwWF+GYQj9mp86Ps0aaHZKv8Kpu2p1kvoxH/1yp34Z8dSpU8kveaqz9MvI0rO25UeBy9pWcdo2HQP9Yy39yqOOgQZJ+/btS/7xlAYDinvuueegf5ikGZVXXnkleSQhPg2VNxXcSl46Vna5dcjnIytuMr9y/Bjp4gTTJX3Il8at+BVbKX8q/nSM7DQmW4fFTzVO8RYrfSq41Xi/TMuV9HlfD/RsWneVmgLTCFjP02I45Ooa8fTnPosHH9iBL37hc3jg7vvw+b/3G9jBKeyHH3kCH334QaxYvwZf/uIX8fhHn8LPf+4T+Ngjj+LTX/wydjDnl3/jH+ER2iuXzMHdd2/DJz/7OcyZuxif/dRn8PNf/Dxmt9QiDGo4BbkdcV0bPvLIg3j640/hiScfQ011GxYsmosvfv6L+PnP/wK2bL4Hv/4Pfhnzpzdi/vKNWLtiIZ76xNNYs2ETfuHLv4otG9fhc5/7Iu564GE89cTD2Hz3XRxEbMVTjz2M3/iHv457Od3+2c98GvNmtXK4kuOkexFRUOo48CP2cu6DbhenTjkAiGMknWHAARloa/fk0RhCn/GgW1RFqMIIFYNSzluNT6WPmypHGCfKKLcSkxUrTihTfELLLyTGB1wo31CuiMn8yrMYSdmVoBihUoz5FCeYPRWp+DSUp5kwdXxqT6RrsLB7926o0zx69Cj06XoNSqWfPXs2qafpcrJslf2jhKxtNE7bqYG+ZlC0j9p37fO1a9eSGxINjPQPlPRZIA0YDh06lPy3ReUrV5BukD0VWLzJW82pFG9lSlaKm4pPZQgWm9ZlC+b/oHKyMibza71TiVFcGs5NbMOnWo7ihHR5lexbjffLmmpuoKS2tjZ25HdDU1+6IwB3MmJXGrsClq1egfPnT2P1mlU4d/4sXMMMfJwd8YpVK/H444/h2JkL2Lh5G+7ZvB5X2q+hpr4e99y9FV1XL6CzbxBb73sY2zetx+kLl3H/PVrHEri66diydgEcO7HGhgZMrweuj9Rg7aJmtLTOxD33345VK+/E7ZsWoXb6YqyYXY3zp0/iUlcfolwOi5YuxYWLV3A719uWB9besQVb1q/BjLnzmXsPbtu8EcuntSVT6mcvnoerbsTalctRlWewekruW8DZDu37TypUAYQfZv+UL0y1jKnEKsZQqVyLkSwXJ5+hUox8ipNMQ7yPtF92Jb/vM105WTC/L/04n0/rU41TnsVKnwy3EmtlWY4vzVdecqjKEaz5/dzJdMv5UZGVtlfb6Ptl3yo+SL6fY/pk67U4yUqx8hsqxclncZKy0xDvw/f7fFr346T7ftlp+H7T/Rjj0vLDiJlKGf56Ld7nKukWL1kprpLvVnIDFaTRrv7L37Fjx+Cc4zQ+kA9HMdQziEE+Q+zp7cHA8CCuX7mMmijE2c4uXKTefq2TMwF3ozoeRldXD2pbZmLBtCZExUGcutCO2TNnoL/rGgaLwEZ24pcunEVv93V0dA0gCnLJJ/KvXb2EZ771bbz57ruoaZiLttYGnD53AaNDg+js6UV3V0fyiemaphmY0VyHcKQX7+3fg8Zps1HDeYFiPsDFM2ew9/AJtNUFGCoWsHj+HPSF/egZ7EV/7zDyuQKu9wxhZlsrwJxQgwQOUGj8SL2dc8n26ATqLkOGpiplS/8gUK7wQXItR/mC2ZWk4gyV4uSzOEnZ5SC/YbKYcn7xVoak7CzIJ2T5xMknSC8H+Q3lYoxXnOkflryVMhVrmOr6Ld6XU821OD93Mt1yflRkpe3VNvp+2beKHyb/VnJvJVb7oHjJSlCMIR3nXKl9E18uRj7B/CbFGZybWI7xWdLyJbP8PlcpRj6Dn2O6c6VtSsfItpi0lE/4/7N35uFV1Wce//zOufueDQgJm1RWEQZxqRu4IKJUEbVqrc60ttOnf0yfp//Mv/2zWtsZbaf26XSztmpntH3qBiqbKCL7FggJhATIThYCgSQkuffM+95w8HLJRmxdOjnP/d73/b3bbznnnvd3fueee7Pl2eVMm0w+2244ZfVXDMfWtbH0C0f6DVz9LkJ+fj6NDY1IBqe7s5n//MlTvPjiK+wqKeeVV//M2jf+h9deX8kvn/kJq1avZ+fOvdRVHeK1V/6Xp575bz764H1+8dxz/Oy5X/HGi7/ixd//lh///AV+9/yLvPqnF/loyxZ+89sXWPvmK6zfXApOFy//4feS2HtokVWKp/7rF/zh+RfYsW07f33tVX76zHO88erLvPHuap792S9pPtnBgR0f8tJfVvLzp5/iT398npdfeZ1Nm7fx9lsv89IfX+SHP/4Jz/zwx/z1rbd5/e01PP+b59m4YS3P//4Fdu4rB5PCyATBwebzuukE4aWXXqK0tBT9cmFbW5s0te8gFGZELz0wFCNyPuek/opzxSGJ2iqGNBSD4dqJ6aAvjaMY1EiUQ9mo3oWYX/RydZn0IiMRZOpdXsQXvFy5Sy9Qniu4uoHoObPzZCA7lZ83ymJUNxCyTC8qDuSXLb/IcRiC7BifdXkYTT5vMpK2nncegBks5gAu/d7a6c/2UmL3Z9tfTJWprd6GUapQWTZU7iJbl1keKo7aDhXH1WdS9cuGq8+WZ5fdNmXL+ysPN6bra4w5v/9c2Uio1jsSP6uzs5Pq6mr0OwlKm1uasTxJwuGgJFOD8Th4wiG8slTv9fmxLEdWGgz0wrGjlby58i2qqutElkR/NKRXvxUonQp4fSD3xfVbvMbjozep+iApO0DQ7sXrDZEI+qQuS+qKEw/7STri4thE/ZbIPdhyI91nW3K7IEyP4yUc8InOwSvxUpYfxyNrCT2dsi6QoqvHxvb7xecsyZ4UPsuL7Qlh20hQ/cJiF3Ykn0gkTCwSJBSNCx/5XEEna9La9DjOnz+f1157jUmTJhFPJOQgUc05yPCf4y6ZjPRAyaxIYygyZYPxautiOHbDsRkqnqt3aX8xXZ1L+7NR2VB6tVG4dkq1PBBUn4lsu0xdJp9tl1kerp36uLbKu1CZy/dHVT8Y+vPpTzZYjIF0/cX59GSpjKrkBJV+OfJ5HB4ynIfNDjQOrnywQK5NNh3MR3WuvfKDwbVTOly7/mxVlo2B4o3EbqhYA+lVnlmflvtHn9S17SsN/n4pthrJtVeq5ZFAfV2MxF99LH3TIMaY9IEvBI/HlkSaIB4NE4vmkieJNRqLoY/qxOJC04iTExN9XBJtPFcSWY4gSjyeIBaPCyKCHKJSTohdXBJdPBFjQtE4iidMJpaIElZZVOJJbLXLiUdJSOx4Gom0v8ZKRKNSV4RQPE9kMeKxBHGpNx6TOoSPSn3pOiRWIpYjscUmERGbOAnRxRK5RKWudHtVn25Tnz4u+s8LwuEwxpg05s6dyxNPPIE+T22MDZj0ZMgYS26YGD7Jpvtb8UliqK/GcKHl4cC1VzqQveqyMVzbT2KXWWd/cTL1Lt+fncpcfSZVeX/ItFG+PxuVqS4bKs9Gtk122bXPlKsss5zNq34wZNsPVB4sxkC6gWJ9GnL94zpS8nlzdHZwbsIgFy8DtTVbPpI2ZsfILg8WM9vWLQ/mozrXLpOqPBuZepfPttGyq8umqlNky7PLauMiW6dlV5dJVZ6NTL3y2frMsuoVmbJsXvWZyNZnly/F1vV1fdzySOjfIoZbr2WMfACkZEwfBUNXdw/1jU10yCpDKpmi5XgzJ1pb0R9Bqa+vp7auNo36urr0N5ebmpvRHwrRbzS7qKsVmzTqcHmlzU1NaZ86iaPfhVCkY4qt6l3/PlqHUpUraqU+LbtQP4U+b620rw19Pq5NH1WZ244+vk/utvHzQfUbz73nHhVVqrd/dGenl7JSsnQDsmKTkj0ExpgRA9mMMfLe9zLGpGP1lUb2bkxfDGPMJQcwxqTrN+ZCeqmBjDGX6tJvvcZcehyt2BhzPp6WM2GMOV80xgxod97oHGPM4LZ6fCjOmQ+LqL3CmMFjG/OxXu0Vw6ogy8iYi+NorMGQFeIzKzqOJZ85uYCSKXqvTtZTHrmYQjC8lQRjPu67MX38pXSmvzEypi+OMeZ8KGPMsI8p18mYi30y63PtLpUa83FcY8wF7saYQdvp1n+B0yAFYz6OZ8zHvOtizIUyV/63oMZ8HNuYj/nM2Mb0yTNlQ/HGmKFMhtQbY86PszEj47USYwyWJiL9PoJCH3/U55obGo5TUDCGy6ZMZdq06RQVFVEsUBvVK1UorzqF8iobCsFgML2crvbFxcXp2EP5DKbXOBMmTJD2FjCY3RdBp49KPfvsszz55JM8/fTTPPXUU+eh5e7us+kfrBlTUJDur/Z9JNCx6M9P5SOFHkcu+os9mMz1y6aZPtm6/sp5eXkMF/pEj0J/7Ga4UPtsZPomZLXKRaZceVeuNHPlSsvZyNTHZJXNRaY8m3dtlGbrBirrryG6UL9suDql2Totq9yFlgeCa6N0IJtsudp+9oiQiPgJx2TVMxIgGg0RiRtisZDw0fPQtmtblbpwy0qz4dpk0kybTLm77zJl/dlmy9yy+invxsmkKnehdpm6S+EHOn41piJb75b1c5EJlbufL1full3qyvVzrjK3nElVrlCZUhfq0x9cfX/nFJVl+mSfk1SnNopMXsuZyPQbDj+c87DGybZTWX9QO5UrVSg/FNRO+2Bp0r4QATo6ThMM+Gg90Ux1zdH0rFl/9jcQCBAKhS6APjKps79s+UBlj8eDbdvo0rr66lWy1j+Q/WBy9dM4+gTAYHZfFJ2OhT5Xrj9Ks3XrVjKhP86SSvbi93lk/IOCC/fDJ+mjjuNnAT2eXHwW9V9qnW5bP+9Uvxs0Uvh8PgaD1+vFRaadK/vHoj5MMIfQ0WmDMAAAD7hJREFUjJvomXE/0aKFhDx5+Lw+dHx9MlZKtc/Ke+Tcprwiu6yywaD2Lvqzc3VKtc5M6vIqV2SWXV6pQvUu3OPYLavelX1SqjHdGMorNL5ShatTqmWF8tnokwdw5e5nVuXKZ8tVpjqVK6/UhZazoTpXprzCLSvVsp5blVeqsZV3oTK1Ubi8q/t7U61PkVmPll1obnR5tdGyUoXyqlNeaX9QnSJ9u8FYBjAEgmH050MTMlM2JJHZgdz/hpS8y6qDFrEtj9zrj4q1eIjQGPVVXmEwZmggm04shJx/GTO0nzEX2px3FsYYI+8Mq35jzOfSjiE2HTNjPp9tN+bS25XZXe3bKIa3hP33HKfMffL/j3ekywoh6ZfFxDl30jjjO9x+9/eoPvEEhUV3yZnRyCQhQGHheLxywWOMTU5urvAWxrLJK8jD67EkghFkv9z4/en6k2X7y/k45RBP5OCV87bPHyAok5W+YwI5R6fEwaRX1MaOGYuRkI5j8Hh86fO2HGFik34XqvYGIx6RSIRAwK8CkYveUWhRzv5p3qUqHwYkZ2iuyMvPwyPtRGrRK3tLeGPk9o0MQ1+bhRFdQvrjkbGUyuWlMrC9XiLhsESSsr7S7eirW0Jg215CwYA28pyPGAHGGIFFMBSWi12/9N2Lfq9NjNBNwgjbFwcMHqknGglj2R4ikRDpTYxSMm46LjgpwjI+VjpuujrctqdkuPNlnHU12+u1JZqDMVq/kTBGeASZVHgE52yEwxh5HyY8Xh+xaESCWnKhHQTMuZfBGIV1vmx7vLJSP55EPCaNlpf0yecLEPB50c2W/vbFos8X9T/Hp2P18RJRB0sIHqbOXciXr7uOR+6/h4isGOTKDg5JowriBTLgEtgXZMzYqdy9/A5ifgkoB57XYyDlgAykI0jJwDrSmMFAP9tg9gPpNIzqsqnKvojQfgwGY/TDpfvrHwOD9XVUNzoCn/oIyKmsr84Ufp/Fg8tvkYS/gJ5tXq6P99BR0knYP4Gxcl6M5Yxj9twFXDX9MlJWiAcfe5wrJ48lmijme//+b0wqiFOQm09YEm9cEmBYkkwsGiEaDhCMxOWWRRTbNiREFxOdx+snnpuD5bHJi+cQ8HpALs/k7aKXMWHuvPchrp83k0lTpjG7qIBINCx+CTxGslaogJtvuIkJY8cSliSalzeWsWOmcPutXyYsdjmSNCx8xKTueE4RCxfegCbDcCBAbiyRvo1iSwJO5OQRjQWxJE0P1Ba3cTk5OXz/+9+XWAvTopQxeDxRHv3WvzJv+gTp83ge++fHGZcTJRYXhHK4eZHU6wuSSOQTzy/A7/WSI20K6X8BWB5mz7+OyeOLiIRjJGIJ4tKeiD4RJ3kGxyIQKmLelTNk8uMnGAyRm4ilE6DjJLF6PcydfxMP3Hun9L2Qu2+5FttonjJ4/UFyJZbPY0ASoz+ay6033cCYCVOZN3OqSFIYzWHS/qXLljNrSiFFky5j/szLsUwS3Rw5F+u4OHaExfesYOrkKSxevEiOG5/0IS51IbepYpLQw/gDAelzBL8/TE5OAp8k73AsTkiOjXA4JP07NxHSGYf0zUlTI/shIf0SHzku/H4PHl+ECVNms3jhAiK5hSyYdwUJ6bPGMLKP0jkvZUnzUnjsENddfzMTigsoTPuHyM1LMHHydOZMKiQutzH9AZHFo4QiQbH3EfL5iEm7gkGvxHAw0lcj4ywRDQYlSWyhkydNpOLQYWb907V89Sv3cNX8q1hwy23cdetibr5xEYsWLWTc2PHcdPV8ps2cxRhpgLEMKWPjyE6wSDG6jY7A6AiMjsAXbgTkhIicA5HzWMSfZOmtudw9xzCxrZk5hSGun3mC+5Z4GFvgo7H5OJ3tp2hrb5VrJIuOrp70v9yOLyqk5Xgrk6fOZsWKZdx2x5089i/fZPplU3j4a48zsbiYqTOv5PFH7mfm9Cu5fckSHvn649xyx1K+/sAKbrr+Ru64eylFCa+0xFw8hJKcHBF3nj7FuJnzKMrPwfhj3L3sXpbdu5zLxheSPNtDj7EIhL3Mvfomli9fypxpXyIUjnDvPctZtmwJV18t9dy+kMunjGfunHlMnjqDeVfO576H7+Weu5Yy/fK5fPX++3jooceIBv3YjgcdFwbYvv3tb3PXXXelJwr6+LYtjdQnQ5rqjlM89UvMnj2P9rY2xk+cxsOPPMh9S+5k3tyrmDhpOvdKIp8/7xoWLLiGJUsWMVb6ZFk2l00o5kzS4TuPPcSKhx7httsWcefimyVPSa6RfWWnvEydPo9bb75O6l4m43YPi66eCzJGWN10nu2mtc3hiitm4LUtZNhkrtPLPBmTG6+/irAkaXA4faqdU1aYBbOmUlddLSKLbuMjZ8wE2k4c59qr5tBc08i0q2bJ1ArZDFbKkEwHdEh2NLN5+zbOpqLcsngFDz/wIFfNuoK7li7j0W9+i6VLlvLIihUsXnI3K5Yv4+rrbuDRRx/hK0vvlDYvT09CbCNJGZC5CSnJpbZMPr7x3W8wbfpMblu4mMU33sDipUu5/oZrJJkHmDd/Bg1NJ1j+4P1MHT8Gzb2QxLG7MUkfJhbD293J9s072FPTwrW3LuWB+x9m1mVjiSTGcZccB0V5MWbNmscjj36NqVOnsWTxjdwubZ1cmIflaDQvuln6lm4ZKUyqmz27dxGK5VJQWERb43Ecb5CCeECWosKypBbjQGkJ7a3tmMQYvlQ8TgaxtS9E+t3IjkiludG30REYHYHREfgijYBBzozaYMeWE62h42QVN8zawHcfWsOLP/0PHlqxnXlXbBfdCWZcIcmou52aplZJWt10nD7NKTufK780huYTZ4knCug80051TTUlpeUkEhEOHCyTK7sJMjm4HGP5iSbyqCzbQ3vHWYonTqatuYnGxiba2k9SkBPHOEZbcwGMk5IztUOyt4cPNnwk7ZiDT660O8+coryiBo9ccdpWB9t37GbS7AXMvnwi7cfraTjTgd/rJT8aoLauhURxAdVlpRwsq6Tq6CG6zlqEZQWjqfoYNTLJCYvt7p3baG45id/nkexlS73SlIubJEJYtWoVP/jBD/jRj36EPmlmyVA6xsLpPklzu8OsohDVxxqJygVmsqubw5UHqayook3aVXmojC4rwDiZ4BzZt4uG480SU3ylr5Zts790J/v3lbPlg/fpkBWCSCCCZXpIeg1FhflyUdtAb7KLffsr8EorQ16bXq3bdLNv3w6CkWICPifdD2NZHKmtISi3aXISMfymF8S3tqGZ4rFRjp/skFtF4LM93LboJmLhMLmXX0lubp7ETqJ9sqVvkugwSuVYsSwfhQWF2FYPBRPG0yr7sUsmNyeaGqiqP41X6jxYsodIPE5zfR1GcqrPSlFbU0NVTT0TJCkbGdf07pagWgcyKdNfDNbvAgZl5SkcjhIMpyg/UCorE1H83aeoqa2n4nCtTKpysaRBjrFx8GBMSrrUTjCeoHDcGMbKsVdYOCb9BOKpjg46O7toaW0Wv7FYsqphCJBfIBMD8WtpbZX2iNw4MpI2Rt4t7aeR0HIUUFtdwe5dezlwtJHSnVs4KwPVfqqNZhnAA+X72PzRdrnXFWbb1m1UNHRwuqWasz1JkB4anQJJnJQMGqPb6AiMjsDoCHxBR8CRU25be5Lf/G4N9QffJ+x7hzPO22zZ92ee/NkGDh6TE7CcOPMlqekTWno63b9zBx98uIHNW7ay88ONbNy6lfb20wR9IXx+i8amFklSfo5V11JZeYQD+/ZRfrCU3PGTCXotVr32Cu1y8vb5fTIBSEpyaaHv6vDCQZRcAqaL0v1ltDYe4c3V66g8cpjqunr8nm6OHq3BllPy5XIb5HDpdl59fR1dlnidaWTj5p2s37QDnzfF5nUfEB8/nvzcEE2NJ2k6Wc92aXNbR4oOWTkpO1opE5x69kpyOyOrJLoqkE4W0m/62UpKStB/+FToJCGFg9PTxa69e9m/ey9r1r/LwfJytm76kKMyBpYP6hrr8Ujbqo7UUL5rE/rPmIniqZL4x5NK9dAgV8oBj0PZ4Rqqj1TQ3naaIzWtfHXFHdgycek408ArL/8JvyS4w1V1zJo5jVBuITdcuwDJftQdO8apE61s2LSavaV1XH3NtdKqFCGvh9OdHcz5p/kk4iE8KYdjFXtZvWETBeMmM+Pyydiy1F655yP+8vrr/PbXr5JbVMCxA4fpTiGTgxRJSaKWrGZAF1VHmpk5YwofbVjDq39+iQ5ZwWg/08qp7iST8mMclf1Tcaya99auJWV7OVpZxu6SQ/gCPny2w+Fj9aQcR9pGejNOklTqLFs2bqZBJhVNTfXsKTvA1h37yQ17JF4NVTIhFBf83gD1TTKpStnin8JIX3TsZSfy0e79zL/6Gsbn+Nn09puyOpKkpeU0De1N0NNN5bFaSg+U8N66DejtqoOHqqT+lIxxHUnpm0HaIVEtZPpi6EUrbGyo4rjMIg/u209FVRmvvb6K3Xt28da7b7FzT4k0uJLV69dw4OARoqaTXdLRbjxoBzUGcgA58gHTWOn7I8KMUkfG9tODZVl4PJ5RjI7B6DFwiceArfZe+fx4gWCAyoYYb25q59d/bWfr0V52HQqy97BPrlr9lJbs582VK+U8WYtHsnKVrBJ0dbVS39jC4YMHaTnRwFvvrGfb9s2sf/ttyioq5WS8hgqZIOzZ+j4bNm+hJ5nkTHsnhw7s4aRcfa5csyZ90l4nif9Ep5xJ5Sov+7NsicxvG2rl/Nwt5+6Go+W0nmylZPduSdKbZULgx2N1S8LawPZtuzndWseqt9awT67WDx+qlPgHWLd2I2dOt7B2/ftU1zexXVYMqo9Vcry1ns3vb5EEtleuNltpbj0pCamCs5IwPD4Ln0di6xgNA7bXA1avjMUR2s/Iheap0zQcr6Wjq40N6z9k055t7JHcUi85p1HG7Igk0vbT7by79gOOyRWyV2YkJSU7aD9xklrRH5er8s5kN0cqy3n3/Q8kGRqM0051bSM7t+2k4+xZWhpr2F92mD2lZfhk8nGquY72nh7aW+pl39VRVl6B1+entrKUd2WStE2SaGuHIysHNr0dp9KTlxNy60F/QRiToqxsF3ot3X6imrrqSnaUlOO1/SQDXhkLg+31im9SlvTf49316+nqStEtE6xVq1dT09BG19ku6o4d4JAcG/Vyhd7UWMvKd1bTIKtLH27aKJOXLezYvJESWQ2wbF/68+qVmD6PheXtprykjJMnWmTytIrKw0eoqzjMe9L3ddt3UHu8SfL8WZl4rKT8SJ3Yg1/2T8gGy+fDeP2caq7ljXfWUlbVQF1THetWrabs4F7Z5y2sX7eeulNNsppRzdGqUqljLQcrjrBxwzoqa5uwPT6JZ6RNXv4PAAD//1kK1n8AAAAGSURBVAMAjzVBMZlElAYAAAAASUVORK5CYII="/>
          <p:cNvSpPr>
            <a:spLocks noChangeAspect="1" noChangeArrowheads="1"/>
          </p:cNvSpPr>
          <p:nvPr/>
        </p:nvSpPr>
        <p:spPr bwMode="auto">
          <a:xfrm>
            <a:off x="3195599" y="3300761"/>
            <a:ext cx="2327972" cy="23279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blob:https://web.whatsapp.com/3e0feb3f-aa70-4f02-8c1b-33a2ced4ca18"/>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751" y="2448864"/>
            <a:ext cx="4891668" cy="26078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f57c144d66_0_20"/>
          <p:cNvSpPr txBox="1">
            <a:spLocks noGrp="1"/>
          </p:cNvSpPr>
          <p:nvPr>
            <p:ph type="title"/>
          </p:nvPr>
        </p:nvSpPr>
        <p:spPr>
          <a:xfrm>
            <a:off x="0" y="608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6. 3D printing igniter circuit cover</a:t>
            </a:r>
            <a:endParaRPr/>
          </a:p>
        </p:txBody>
      </p:sp>
      <p:sp>
        <p:nvSpPr>
          <p:cNvPr id="106" name="Google Shape;106;g3f57c144d66_0_20"/>
          <p:cNvSpPr txBox="1">
            <a:spLocks noGrp="1"/>
          </p:cNvSpPr>
          <p:nvPr>
            <p:ph type="body" idx="1"/>
          </p:nvPr>
        </p:nvSpPr>
        <p:spPr>
          <a:xfrm>
            <a:off x="0" y="6335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Purpose: The ignition circuit (trigger and ignitor circuit) fabricated by previous teams did not have any external shielding thus components were exposed to the physical elements which affected the reliability of the circuit as we noticed from the dry runs we conducted. This necessitated design and fabrication of a new case in order to improve the durability and reliability of the ignition circuit system.</a:t>
            </a:r>
            <a:endParaRPr/>
          </a:p>
          <a:p>
            <a:pPr marL="0" lvl="0" indent="0" algn="l" rtl="0">
              <a:spcBef>
                <a:spcPts val="0"/>
              </a:spcBef>
              <a:spcAft>
                <a:spcPts val="0"/>
              </a:spcAft>
              <a:buNone/>
            </a:pPr>
            <a:r>
              <a:rPr lang="en"/>
              <a:t>Result:</a:t>
            </a:r>
            <a:endParaRPr/>
          </a:p>
          <a:p>
            <a:pPr marL="0" lvl="0" indent="0" algn="l" rtl="0">
              <a:spcBef>
                <a:spcPts val="0"/>
              </a:spcBef>
              <a:spcAft>
                <a:spcPts val="0"/>
              </a:spcAft>
              <a:buNone/>
            </a:pPr>
            <a:endParaRPr/>
          </a:p>
        </p:txBody>
      </p:sp>
      <p:pic>
        <p:nvPicPr>
          <p:cNvPr id="107" name="Google Shape;107;g3f57c144d66_0_20"/>
          <p:cNvPicPr preferRelativeResize="0"/>
          <p:nvPr/>
        </p:nvPicPr>
        <p:blipFill>
          <a:blip r:embed="rId3">
            <a:alphaModFix/>
          </a:blip>
          <a:stretch>
            <a:fillRect/>
          </a:stretch>
        </p:blipFill>
        <p:spPr>
          <a:xfrm rot="-5400000">
            <a:off x="2706849" y="1520928"/>
            <a:ext cx="2269150" cy="40340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f5a7cd6857_0_6"/>
          <p:cNvSpPr txBox="1">
            <a:spLocks noGrp="1"/>
          </p:cNvSpPr>
          <p:nvPr>
            <p:ph type="title"/>
          </p:nvPr>
        </p:nvSpPr>
        <p:spPr>
          <a:xfrm>
            <a:off x="0" y="895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7. 5 grain motor design + open rocket flight simulation</a:t>
            </a:r>
            <a:endParaRPr/>
          </a:p>
        </p:txBody>
      </p:sp>
      <p:sp>
        <p:nvSpPr>
          <p:cNvPr id="113" name="Google Shape;113;g3f5a7cd6857_0_6"/>
          <p:cNvSpPr txBox="1">
            <a:spLocks noGrp="1"/>
          </p:cNvSpPr>
          <p:nvPr>
            <p:ph type="body" idx="1"/>
          </p:nvPr>
        </p:nvSpPr>
        <p:spPr>
          <a:xfrm>
            <a:off x="0" y="66225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t>Purpose: In preparation for the 5 grain static test, we had to redesign the 5 grain configuration to fit the new dimensions of the new stainless steel casing.</a:t>
            </a:r>
            <a:endParaRPr sz="1500"/>
          </a:p>
          <a:p>
            <a:pPr marL="0" lvl="0" indent="0" algn="l" rtl="0">
              <a:spcBef>
                <a:spcPts val="0"/>
              </a:spcBef>
              <a:spcAft>
                <a:spcPts val="0"/>
              </a:spcAft>
              <a:buNone/>
            </a:pPr>
            <a:r>
              <a:rPr lang="en" sz="1500"/>
              <a:t>Major change: Since our current casing has a wider diameter, this has led to a corresponding increase in propellant mass hence thrust, which in turn exceeds our target apogee from 3.5 Km to ~5 Km.</a:t>
            </a:r>
            <a:endParaRPr sz="1500"/>
          </a:p>
          <a:p>
            <a:pPr marL="0" lvl="0" indent="0" algn="l" rtl="0">
              <a:spcBef>
                <a:spcPts val="0"/>
              </a:spcBef>
              <a:spcAft>
                <a:spcPts val="0"/>
              </a:spcAft>
              <a:buNone/>
            </a:pPr>
            <a:r>
              <a:rPr lang="en" sz="1500"/>
              <a:t>The thrust output of the new SRM cannot be reduced to a four grain as we will not reach the target apogee.</a:t>
            </a:r>
            <a:endParaRPr sz="1500"/>
          </a:p>
        </p:txBody>
      </p:sp>
      <p:pic>
        <p:nvPicPr>
          <p:cNvPr id="114" name="Google Shape;114;g3f5a7cd6857_0_6"/>
          <p:cNvPicPr preferRelativeResize="0"/>
          <p:nvPr/>
        </p:nvPicPr>
        <p:blipFill>
          <a:blip r:embed="rId3">
            <a:alphaModFix/>
          </a:blip>
          <a:stretch>
            <a:fillRect/>
          </a:stretch>
        </p:blipFill>
        <p:spPr>
          <a:xfrm>
            <a:off x="787201" y="2687825"/>
            <a:ext cx="3496501" cy="2455674"/>
          </a:xfrm>
          <a:prstGeom prst="rect">
            <a:avLst/>
          </a:prstGeom>
          <a:noFill/>
          <a:ln>
            <a:noFill/>
          </a:ln>
        </p:spPr>
      </p:pic>
      <p:pic>
        <p:nvPicPr>
          <p:cNvPr id="115" name="Google Shape;115;g3f5a7cd6857_0_6"/>
          <p:cNvPicPr preferRelativeResize="0"/>
          <p:nvPr/>
        </p:nvPicPr>
        <p:blipFill>
          <a:blip r:embed="rId4">
            <a:alphaModFix/>
          </a:blip>
          <a:stretch>
            <a:fillRect/>
          </a:stretch>
        </p:blipFill>
        <p:spPr>
          <a:xfrm>
            <a:off x="4375975" y="2988949"/>
            <a:ext cx="4768026" cy="1218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3f5a7cd6857_0_11"/>
          <p:cNvSpPr txBox="1">
            <a:spLocks noGrp="1"/>
          </p:cNvSpPr>
          <p:nvPr>
            <p:ph type="title"/>
          </p:nvPr>
        </p:nvSpPr>
        <p:spPr>
          <a:xfrm>
            <a:off x="0" y="784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8. Drafting of purchase request for second disbursement</a:t>
            </a:r>
            <a:endParaRPr/>
          </a:p>
        </p:txBody>
      </p:sp>
      <p:sp>
        <p:nvSpPr>
          <p:cNvPr id="121" name="Google Shape;121;g3f5a7cd6857_0_11"/>
          <p:cNvSpPr txBox="1">
            <a:spLocks noGrp="1"/>
          </p:cNvSpPr>
          <p:nvPr>
            <p:ph type="body" idx="1"/>
          </p:nvPr>
        </p:nvSpPr>
        <p:spPr>
          <a:xfrm>
            <a:off x="0" y="7081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Purpose</a:t>
            </a:r>
            <a:r>
              <a:rPr lang="en"/>
              <a:t>: As a result of continuous work being done on the project, most consumables i.e Sorbitol, Latex gloves etc have started to get depleted. This has led us to draft a purchase request with proper justification in order to restock some of the utilised materials and also replacement of faulty items.</a:t>
            </a:r>
            <a:endParaRPr/>
          </a:p>
          <a:p>
            <a:pPr marL="0" lvl="0" indent="0" algn="l" rtl="0">
              <a:spcBef>
                <a:spcPts val="0"/>
              </a:spcBef>
              <a:spcAft>
                <a:spcPts val="0"/>
              </a:spcAft>
              <a:buNone/>
            </a:pPr>
            <a:r>
              <a:rPr lang="en"/>
              <a:t>Link to the new purchase request: </a:t>
            </a:r>
            <a:r>
              <a:rPr lang="en" u="sng">
                <a:solidFill>
                  <a:schemeClr val="hlink"/>
                </a:solidFill>
                <a:hlinkClick r:id="rId3"/>
              </a:rPr>
              <a:t>https://docs.google.com/spreadsheets/d/1ItQDAlRLaYcg9si493R-wpe7q-Kaqn-85Dn_sr7F3AY/edit?usp=sharing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311700" y="1283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Next week's tasks</a:t>
            </a:r>
            <a:endParaRPr/>
          </a:p>
        </p:txBody>
      </p:sp>
      <p:sp>
        <p:nvSpPr>
          <p:cNvPr id="127" name="Google Shape;127;p11"/>
          <p:cNvSpPr txBox="1">
            <a:spLocks noGrp="1"/>
          </p:cNvSpPr>
          <p:nvPr>
            <p:ph type="body" idx="1"/>
          </p:nvPr>
        </p:nvSpPr>
        <p:spPr>
          <a:xfrm>
            <a:off x="311700" y="80302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AutoNum type="arabicPeriod"/>
            </a:pPr>
            <a:r>
              <a:rPr lang="en"/>
              <a:t>Ignitor preparation and testing</a:t>
            </a:r>
            <a:endParaRPr/>
          </a:p>
          <a:p>
            <a:pPr marL="457200" lvl="0" indent="-342900" algn="l" rtl="0">
              <a:lnSpc>
                <a:spcPct val="115000"/>
              </a:lnSpc>
              <a:spcBef>
                <a:spcPts val="0"/>
              </a:spcBef>
              <a:spcAft>
                <a:spcPts val="0"/>
              </a:spcAft>
              <a:buSzPts val="1800"/>
              <a:buAutoNum type="arabicPeriod"/>
            </a:pPr>
            <a:r>
              <a:rPr lang="en"/>
              <a:t>Purchasing of items </a:t>
            </a:r>
            <a:endParaRPr/>
          </a:p>
          <a:p>
            <a:pPr marL="457200" lvl="0" indent="-342900" algn="l" rtl="0">
              <a:lnSpc>
                <a:spcPct val="115000"/>
              </a:lnSpc>
              <a:spcBef>
                <a:spcPts val="0"/>
              </a:spcBef>
              <a:spcAft>
                <a:spcPts val="0"/>
              </a:spcAft>
              <a:buSzPts val="1800"/>
              <a:buAutoNum type="arabicPeriod"/>
            </a:pPr>
            <a:r>
              <a:rPr lang="en"/>
              <a:t>One grain static test</a:t>
            </a:r>
            <a:endParaRPr/>
          </a:p>
          <a:p>
            <a:pPr marL="457200" lvl="0" indent="-342900" algn="l" rtl="0">
              <a:lnSpc>
                <a:spcPct val="115000"/>
              </a:lnSpc>
              <a:spcBef>
                <a:spcPts val="0"/>
              </a:spcBef>
              <a:spcAft>
                <a:spcPts val="0"/>
              </a:spcAft>
              <a:buSzPts val="1800"/>
              <a:buAutoNum type="arabicPeriod"/>
            </a:pPr>
            <a:r>
              <a:rPr lang="en"/>
              <a:t>Old grains disposal</a:t>
            </a:r>
            <a:endParaRPr/>
          </a:p>
          <a:p>
            <a:pPr marL="457200" lvl="0" indent="-342900" algn="l" rtl="0">
              <a:lnSpc>
                <a:spcPct val="115000"/>
              </a:lnSpc>
              <a:spcBef>
                <a:spcPts val="0"/>
              </a:spcBef>
              <a:spcAft>
                <a:spcPts val="0"/>
              </a:spcAft>
              <a:buSzPts val="1800"/>
              <a:buAutoNum type="arabicPeriod"/>
            </a:pPr>
            <a:r>
              <a:rPr lang="en"/>
              <a:t>Liner thickness testing (Burn test)</a:t>
            </a:r>
            <a:endParaRPr/>
          </a:p>
          <a:p>
            <a:pPr marL="457200" lvl="0" indent="-342900" algn="l" rtl="0">
              <a:lnSpc>
                <a:spcPct val="115000"/>
              </a:lnSpc>
              <a:spcBef>
                <a:spcPts val="0"/>
              </a:spcBef>
              <a:spcAft>
                <a:spcPts val="0"/>
              </a:spcAft>
              <a:buSzPts val="1800"/>
              <a:buAutoNum type="arabicPeriod"/>
            </a:pPr>
            <a:r>
              <a:rPr lang="en"/>
              <a:t>Load cell sensitivity analysis</a:t>
            </a:r>
            <a:endParaRPr/>
          </a:p>
          <a:p>
            <a:pPr marL="457200" lvl="0" indent="-342900" algn="l" rtl="0">
              <a:lnSpc>
                <a:spcPct val="115000"/>
              </a:lnSpc>
              <a:spcBef>
                <a:spcPts val="0"/>
              </a:spcBef>
              <a:spcAft>
                <a:spcPts val="0"/>
              </a:spcAft>
              <a:buSzPts val="1800"/>
              <a:buAutoNum type="arabicPeriod"/>
            </a:pPr>
            <a:r>
              <a:rPr lang="en"/>
              <a:t>3D print trigger circuit casing</a:t>
            </a:r>
            <a:endParaRPr/>
          </a:p>
          <a:p>
            <a:pPr marL="457200" lvl="0" indent="0" algn="l" rtl="0">
              <a:lnSpc>
                <a:spcPct val="115000"/>
              </a:lnSpc>
              <a:spcBef>
                <a:spcPts val="1200"/>
              </a:spcBef>
              <a:spcAft>
                <a:spcPts val="0"/>
              </a:spcAft>
              <a:buSzPts val="1800"/>
              <a:buNone/>
            </a:pPr>
            <a:endParaRPr/>
          </a:p>
          <a:p>
            <a:pPr marL="457200" lvl="0" indent="0" algn="l" rtl="0">
              <a:lnSpc>
                <a:spcPct val="115000"/>
              </a:lnSpc>
              <a:spcBef>
                <a:spcPts val="1200"/>
              </a:spcBef>
              <a:spcAft>
                <a:spcPts val="0"/>
              </a:spcAft>
              <a:buSzPts val="1800"/>
              <a:buNone/>
            </a:pPr>
            <a:endParaRPr/>
          </a:p>
          <a:p>
            <a:pPr marL="0" lvl="0" indent="0" algn="l" rtl="0">
              <a:lnSpc>
                <a:spcPct val="115000"/>
              </a:lnSpc>
              <a:spcBef>
                <a:spcPts val="1200"/>
              </a:spcBef>
              <a:spcAft>
                <a:spcPts val="1200"/>
              </a:spcAft>
              <a:buSzPts val="1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Challenges experienced</a:t>
            </a:r>
            <a:endParaRPr/>
          </a:p>
        </p:txBody>
      </p:sp>
      <p:sp>
        <p:nvSpPr>
          <p:cNvPr id="133" name="Google Shape;133;p12"/>
          <p:cNvSpPr txBox="1">
            <a:spLocks noGrp="1"/>
          </p:cNvSpPr>
          <p:nvPr>
            <p:ph type="body" idx="1"/>
          </p:nvPr>
        </p:nvSpPr>
        <p:spPr>
          <a:xfrm>
            <a:off x="246175" y="1086950"/>
            <a:ext cx="8729700" cy="3838500"/>
          </a:xfrm>
          <a:prstGeom prst="rect">
            <a:avLst/>
          </a:prstGeom>
          <a:noFill/>
          <a:ln>
            <a:noFill/>
          </a:ln>
        </p:spPr>
        <p:txBody>
          <a:bodyPr spcFirstLastPara="1" wrap="square" lIns="91425" tIns="91425" rIns="91425" bIns="91425" anchor="t" anchorCtr="0">
            <a:normAutofit fontScale="92500" lnSpcReduction="10000"/>
          </a:bodyPr>
          <a:lstStyle/>
          <a:p>
            <a:pPr marL="457200" lvl="0" indent="-325755" algn="l" rtl="0">
              <a:lnSpc>
                <a:spcPct val="115000"/>
              </a:lnSpc>
              <a:spcBef>
                <a:spcPts val="0"/>
              </a:spcBef>
              <a:spcAft>
                <a:spcPts val="0"/>
              </a:spcAft>
              <a:buSzPct val="100000"/>
              <a:buAutoNum type="arabicPeriod"/>
            </a:pPr>
            <a:r>
              <a:rPr lang="en"/>
              <a:t>Faulty load cell led to no data being recorded during the 5th static test</a:t>
            </a:r>
            <a:endParaRPr/>
          </a:p>
          <a:p>
            <a:pPr marL="457200" lvl="0" indent="-325756" algn="l" rtl="0">
              <a:lnSpc>
                <a:spcPct val="115000"/>
              </a:lnSpc>
              <a:spcBef>
                <a:spcPts val="0"/>
              </a:spcBef>
              <a:spcAft>
                <a:spcPts val="0"/>
              </a:spcAft>
              <a:buSzPct val="100000"/>
              <a:buAutoNum type="arabicPeriod"/>
            </a:pPr>
            <a:r>
              <a:rPr lang="en"/>
              <a:t>Unavailability of project car led us to use a wheelbarrow to transport the test stand which was tedious.</a:t>
            </a:r>
            <a:endParaRPr/>
          </a:p>
          <a:p>
            <a:pPr marL="457200" lvl="0" indent="-220028" algn="l" rtl="0">
              <a:lnSpc>
                <a:spcPct val="115000"/>
              </a:lnSpc>
              <a:spcBef>
                <a:spcPts val="0"/>
              </a:spcBef>
              <a:spcAft>
                <a:spcPts val="0"/>
              </a:spcAft>
              <a:buSzPct val="100000"/>
              <a:buNone/>
            </a:pPr>
            <a:endParaRPr/>
          </a:p>
          <a:p>
            <a:pPr marL="457200" lvl="0" indent="0" algn="l" rtl="0">
              <a:lnSpc>
                <a:spcPct val="115000"/>
              </a:lnSpc>
              <a:spcBef>
                <a:spcPts val="1200"/>
              </a:spcBef>
              <a:spcAft>
                <a:spcPts val="0"/>
              </a:spcAft>
              <a:buSzPct val="100000"/>
              <a:buNone/>
            </a:pPr>
            <a:endParaRPr/>
          </a:p>
          <a:p>
            <a:pPr marL="457200" lvl="0" indent="0" algn="l" rtl="0">
              <a:lnSpc>
                <a:spcPct val="115000"/>
              </a:lnSpc>
              <a:spcBef>
                <a:spcPts val="1200"/>
              </a:spcBef>
              <a:spcAft>
                <a:spcPts val="0"/>
              </a:spcAft>
              <a:buSzPct val="100000"/>
              <a:buNone/>
            </a:pPr>
            <a:endParaRPr/>
          </a:p>
          <a:p>
            <a:pPr marL="457200" lvl="0" indent="0" algn="l" rtl="0">
              <a:lnSpc>
                <a:spcPct val="115000"/>
              </a:lnSpc>
              <a:spcBef>
                <a:spcPts val="1200"/>
              </a:spcBef>
              <a:spcAft>
                <a:spcPts val="0"/>
              </a:spcAft>
              <a:buSzPct val="100000"/>
              <a:buNone/>
            </a:pPr>
            <a:endParaRPr/>
          </a:p>
          <a:p>
            <a:pPr marL="0" lvl="0" indent="0" algn="l" rtl="0">
              <a:lnSpc>
                <a:spcPct val="115000"/>
              </a:lnSpc>
              <a:spcBef>
                <a:spcPts val="1200"/>
              </a:spcBef>
              <a:spcAft>
                <a:spcPts val="0"/>
              </a:spcAft>
              <a:buSzPct val="100000"/>
              <a:buNone/>
            </a:pPr>
            <a:r>
              <a:rPr lang="en" b="1"/>
              <a:t>Supervisors’ note:</a:t>
            </a:r>
            <a:endParaRPr b="1"/>
          </a:p>
          <a:p>
            <a:pPr marL="0" lvl="0" indent="0" algn="l" rtl="0">
              <a:lnSpc>
                <a:spcPct val="115000"/>
              </a:lnSpc>
              <a:spcBef>
                <a:spcPts val="1200"/>
              </a:spcBef>
              <a:spcAft>
                <a:spcPts val="0"/>
              </a:spcAft>
              <a:buSzPct val="100000"/>
              <a:buNone/>
            </a:pPr>
            <a:r>
              <a:rPr lang="en" b="1"/>
              <a:t>Visit Solid Propulsion github projects @ </a:t>
            </a:r>
            <a:r>
              <a:rPr lang="en" b="1" u="sng">
                <a:solidFill>
                  <a:schemeClr val="hlink"/>
                </a:solidFill>
                <a:hlinkClick r:id="rId3"/>
              </a:rPr>
              <a:t>https://github.com/orgs/nakujaproject/projects/26</a:t>
            </a:r>
            <a:r>
              <a:rPr lang="en" b="1"/>
              <a:t> to review the tasks done.</a:t>
            </a:r>
            <a:endParaRPr b="1"/>
          </a:p>
          <a:p>
            <a:pPr marL="0" lvl="0" indent="0" algn="l" rtl="0">
              <a:lnSpc>
                <a:spcPct val="115000"/>
              </a:lnSpc>
              <a:spcBef>
                <a:spcPts val="1200"/>
              </a:spcBef>
              <a:spcAft>
                <a:spcPts val="1200"/>
              </a:spcAft>
              <a:buSzPct val="1000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3"/>
          <p:cNvSpPr txBox="1">
            <a:spLocks noGrp="1"/>
          </p:cNvSpPr>
          <p:nvPr>
            <p:ph type="title"/>
          </p:nvPr>
        </p:nvSpPr>
        <p:spPr>
          <a:xfrm>
            <a:off x="0" y="1227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Potential concerns</a:t>
            </a:r>
            <a:endParaRPr/>
          </a:p>
        </p:txBody>
      </p:sp>
      <p:sp>
        <p:nvSpPr>
          <p:cNvPr id="139" name="Google Shape;139;p13"/>
          <p:cNvSpPr txBox="1">
            <a:spLocks noGrp="1"/>
          </p:cNvSpPr>
          <p:nvPr>
            <p:ph type="body" idx="1"/>
          </p:nvPr>
        </p:nvSpPr>
        <p:spPr>
          <a:xfrm>
            <a:off x="63825" y="722550"/>
            <a:ext cx="8676300" cy="3698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AutoNum type="arabicPeriod"/>
            </a:pPr>
            <a:r>
              <a:rPr lang="en"/>
              <a:t>Team members i.e. Recovery and Solid Propulsion are required to clean their respective working areas (Rapid Prototyping 1 and Exhibition Space) 15 mins before closing time every working day.</a:t>
            </a:r>
            <a:endParaRPr/>
          </a:p>
          <a:p>
            <a:pPr marL="457200" lvl="0" indent="-342900" algn="l" rtl="0">
              <a:lnSpc>
                <a:spcPct val="115000"/>
              </a:lnSpc>
              <a:spcBef>
                <a:spcPts val="0"/>
              </a:spcBef>
              <a:spcAft>
                <a:spcPts val="0"/>
              </a:spcAft>
              <a:buSzPts val="1800"/>
              <a:buAutoNum type="arabicPeriod"/>
            </a:pPr>
            <a:r>
              <a:rPr lang="en"/>
              <a:t>The purchased pipe has a ‘flash' which might act as a failure point during the 5 grain static test.</a:t>
            </a:r>
            <a:endParaRPr/>
          </a:p>
        </p:txBody>
      </p:sp>
      <p:pic>
        <p:nvPicPr>
          <p:cNvPr id="140" name="Google Shape;140;p13"/>
          <p:cNvPicPr preferRelativeResize="0"/>
          <p:nvPr/>
        </p:nvPicPr>
        <p:blipFill rotWithShape="1">
          <a:blip r:embed="rId3">
            <a:alphaModFix/>
          </a:blip>
          <a:srcRect t="22940" b="37885"/>
          <a:stretch/>
        </p:blipFill>
        <p:spPr>
          <a:xfrm>
            <a:off x="2263725" y="2405975"/>
            <a:ext cx="2893201" cy="2014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4"/>
          <p:cNvSpPr txBox="1">
            <a:spLocks noGrp="1"/>
          </p:cNvSpPr>
          <p:nvPr>
            <p:ph type="title"/>
          </p:nvPr>
        </p:nvSpPr>
        <p:spPr>
          <a:xfrm>
            <a:off x="519856" y="415289"/>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Thank you for your attention!</a:t>
            </a:r>
            <a:endParaRPr/>
          </a:p>
        </p:txBody>
      </p:sp>
      <p:pic>
        <p:nvPicPr>
          <p:cNvPr id="146" name="Google Shape;146;p14"/>
          <p:cNvPicPr preferRelativeResize="0"/>
          <p:nvPr/>
        </p:nvPicPr>
        <p:blipFill>
          <a:blip r:embed="rId3">
            <a:alphaModFix/>
          </a:blip>
          <a:stretch>
            <a:fillRect/>
          </a:stretch>
        </p:blipFill>
        <p:spPr>
          <a:xfrm>
            <a:off x="3348013" y="1084364"/>
            <a:ext cx="2864286" cy="385071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2550</TotalTime>
  <Words>953</Words>
  <Application>Microsoft Office PowerPoint</Application>
  <PresentationFormat>On-screen Show (16:9)</PresentationFormat>
  <Paragraphs>62</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Simple Light</vt:lpstr>
      <vt:lpstr>Nakuja Internship 2026 Solid Propulsion Team  Weekly report #6 </vt:lpstr>
      <vt:lpstr>Tasks completed this week</vt:lpstr>
      <vt:lpstr>Cooking of propellant grain to be used as control</vt:lpstr>
      <vt:lpstr>2. One grain static test # 3 &amp; 4 - Addition of surfactant</vt:lpstr>
      <vt:lpstr>3. One grain static test #5 -Addition of suppressant</vt:lpstr>
      <vt:lpstr>4. Old grains disposal</vt:lpstr>
      <vt:lpstr>5. Test stand analysis</vt:lpstr>
      <vt:lpstr>6. 3D printing igniter circuit cover</vt:lpstr>
      <vt:lpstr>7. 5 grain motor design + open rocket flight simulation</vt:lpstr>
      <vt:lpstr>8. Drafting of purchase request for second disbursement</vt:lpstr>
      <vt:lpstr>Next week's tasks</vt:lpstr>
      <vt:lpstr>Challenges experienced</vt:lpstr>
      <vt:lpstr>Potential concerns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Nakuja Internship 2026 Solid Propulsion Team  Weekly report #6</dc:title>
  <dc:creator>Collins Ngash</dc:creator>
  <cp:lastModifiedBy>USER</cp:lastModifiedBy>
  <cp:revision>3</cp:revision>
  <dcterms:modified xsi:type="dcterms:W3CDTF">2026-07-29T04:32:44Z</dcterms:modified>
</cp:coreProperties>
</file>