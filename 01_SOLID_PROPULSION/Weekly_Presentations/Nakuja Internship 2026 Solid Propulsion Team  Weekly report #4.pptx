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02858c2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02858c2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02858c2d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02858c2d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02858c2d1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02858c2d1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02858c2d1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02858c2d1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02858c2d1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02858c2d1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3216629f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3216629f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41f5d5ed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41f5d5ed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02858c2d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02858c2d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02858c2d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02858c2d1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4f53692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4f53692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02858c2d1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02858c2d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nakujaproject/Internship-2026/blob/main/01_SOLID_PROPULSION/01_Propellant/Grains/GrainProcedure%20Update%202.pdf" TargetMode="External"/><Relationship Id="rId4" Type="http://schemas.openxmlformats.org/officeDocument/2006/relationships/image" Target="../media/image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github.com/nakujaproject/Internship-2026/blob/main/01_SOLID_PROPULSION/Static_Tests/One_Grain_Tests/dry_run_report.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github.com/orgs/nakujaproject/projects/2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66308" y="15454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Nakuja Internship 2026</a:t>
            </a:r>
            <a:endParaRPr/>
          </a:p>
          <a:p>
            <a:pPr indent="0" lvl="0" marL="0" rtl="0" algn="ctr">
              <a:spcBef>
                <a:spcPts val="0"/>
              </a:spcBef>
              <a:spcAft>
                <a:spcPts val="0"/>
              </a:spcAft>
              <a:buNone/>
            </a:pPr>
            <a:r>
              <a:rPr lang="en"/>
              <a:t>Solid Propulsion Team</a:t>
            </a:r>
            <a:endParaRPr/>
          </a:p>
          <a:p>
            <a:pPr indent="0" lvl="0" marL="0" rtl="0" algn="ctr">
              <a:spcBef>
                <a:spcPts val="0"/>
              </a:spcBef>
              <a:spcAft>
                <a:spcPts val="0"/>
              </a:spcAft>
              <a:buNone/>
            </a:pPr>
            <a:r>
              <a:rPr lang="en"/>
              <a:t> Weekly report #4</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66300" y="3412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Presented by: Paschal Peter</a:t>
            </a:r>
            <a:endParaRPr/>
          </a:p>
        </p:txBody>
      </p:sp>
      <p:sp>
        <p:nvSpPr>
          <p:cNvPr id="56" name="Google Shape;56;p13"/>
          <p:cNvSpPr txBox="1"/>
          <p:nvPr/>
        </p:nvSpPr>
        <p:spPr>
          <a:xfrm>
            <a:off x="3504900" y="4309225"/>
            <a:ext cx="2134200" cy="46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July 10, 2026</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Tasks completed this week</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Pyrogenic ignitor testing </a:t>
            </a:r>
            <a:endParaRPr/>
          </a:p>
          <a:p>
            <a:pPr indent="-342900" lvl="0" marL="457200" rtl="0" algn="l">
              <a:spcBef>
                <a:spcPts val="0"/>
              </a:spcBef>
              <a:spcAft>
                <a:spcPts val="0"/>
              </a:spcAft>
              <a:buSzPts val="1800"/>
              <a:buAutoNum type="arabicPeriod"/>
            </a:pPr>
            <a:r>
              <a:rPr lang="en"/>
              <a:t>Cooking of grains for one grain static test</a:t>
            </a:r>
            <a:endParaRPr/>
          </a:p>
          <a:p>
            <a:pPr indent="-342900" lvl="0" marL="457200" rtl="0" algn="l">
              <a:spcBef>
                <a:spcPts val="0"/>
              </a:spcBef>
              <a:spcAft>
                <a:spcPts val="0"/>
              </a:spcAft>
              <a:buSzPts val="1800"/>
              <a:buAutoNum type="arabicPeriod"/>
            </a:pPr>
            <a:r>
              <a:rPr lang="en"/>
              <a:t>Catalyst determination from Chemistry labs</a:t>
            </a:r>
            <a:endParaRPr/>
          </a:p>
          <a:p>
            <a:pPr indent="-342900" lvl="0" marL="457200" rtl="0" algn="l">
              <a:spcBef>
                <a:spcPts val="0"/>
              </a:spcBef>
              <a:spcAft>
                <a:spcPts val="0"/>
              </a:spcAft>
              <a:buSzPts val="1800"/>
              <a:buAutoNum type="arabicPeriod"/>
            </a:pPr>
            <a:r>
              <a:rPr lang="en"/>
              <a:t>Dry run</a:t>
            </a:r>
            <a:endParaRPr/>
          </a:p>
          <a:p>
            <a:pPr indent="-342900" lvl="0" marL="457200" rtl="0" algn="l">
              <a:spcBef>
                <a:spcPts val="0"/>
              </a:spcBef>
              <a:spcAft>
                <a:spcPts val="0"/>
              </a:spcAft>
              <a:buSzPts val="1800"/>
              <a:buAutoNum type="arabicPeriod"/>
            </a:pPr>
            <a:r>
              <a:rPr lang="en"/>
              <a:t>One grain static fire test</a:t>
            </a:r>
            <a:endParaRPr/>
          </a:p>
          <a:p>
            <a:pPr indent="0" lvl="0" marL="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t>Pyrogenic ignitor testing</a:t>
            </a:r>
            <a:endParaRPr/>
          </a:p>
        </p:txBody>
      </p:sp>
      <p:sp>
        <p:nvSpPr>
          <p:cNvPr id="68" name="Google Shape;68;p15"/>
          <p:cNvSpPr txBox="1"/>
          <p:nvPr>
            <p:ph idx="1" type="body"/>
          </p:nvPr>
        </p:nvSpPr>
        <p:spPr>
          <a:xfrm>
            <a:off x="100500" y="572700"/>
            <a:ext cx="8962500" cy="446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Purpose: For effective Solid Rocket Motor (SRM) ignition, the pyrogenic ignitor used has to have a very </a:t>
            </a:r>
            <a:r>
              <a:rPr b="1" lang="en" sz="1200"/>
              <a:t>short burn time</a:t>
            </a:r>
            <a:r>
              <a:rPr lang="en" sz="1200"/>
              <a:t> to provide as much heat to the grains as possible and reach the </a:t>
            </a:r>
            <a:r>
              <a:rPr b="1" lang="en" sz="1200"/>
              <a:t>required SRM chamber pressure</a:t>
            </a:r>
            <a:r>
              <a:rPr lang="en" sz="1200"/>
              <a:t>.  </a:t>
            </a:r>
            <a:endParaRPr sz="1200"/>
          </a:p>
          <a:p>
            <a:pPr indent="0" lvl="0" marL="0" rtl="0" algn="l">
              <a:spcBef>
                <a:spcPts val="1200"/>
              </a:spcBef>
              <a:spcAft>
                <a:spcPts val="0"/>
              </a:spcAft>
              <a:buNone/>
            </a:pPr>
            <a:r>
              <a:rPr lang="en" sz="1200"/>
              <a:t>The first test done was to try to reduce the burn time of the ignitor by increasing the number of nichrome wires in the </a:t>
            </a:r>
            <a:r>
              <a:rPr lang="en" sz="1200"/>
              <a:t>ignitor</a:t>
            </a:r>
            <a:r>
              <a:rPr lang="en" sz="1200"/>
              <a:t> from one to three.</a:t>
            </a:r>
            <a:endParaRPr sz="1200"/>
          </a:p>
          <a:p>
            <a:pPr indent="0" lvl="0" marL="0" rtl="0" algn="l">
              <a:spcBef>
                <a:spcPts val="1200"/>
              </a:spcBef>
              <a:spcAft>
                <a:spcPts val="0"/>
              </a:spcAft>
              <a:buNone/>
            </a:pPr>
            <a:r>
              <a:rPr lang="en" sz="1200"/>
              <a:t>Previous design:                                              New design:</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rPr lang="en" sz="1200"/>
              <a:t>Result: This resulted in a shorter burn time i.e 5.25 seconds for the previous design and 5.12 seconds for the new design, a 2.5% improvement. Our aim is to reduce the burn time upon subsequent tests.</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rPr lang="en" sz="1200"/>
              <a:t> </a:t>
            </a:r>
            <a:endParaRPr sz="1200"/>
          </a:p>
          <a:p>
            <a:pPr indent="0" lvl="0" marL="0" rtl="0" algn="l">
              <a:spcBef>
                <a:spcPts val="1200"/>
              </a:spcBef>
              <a:spcAft>
                <a:spcPts val="0"/>
              </a:spcAft>
              <a:buNone/>
            </a:pPr>
            <a:r>
              <a:t/>
            </a:r>
            <a:endParaRPr sz="1200"/>
          </a:p>
          <a:p>
            <a:pPr indent="0" lvl="0" marL="0" rtl="0" algn="l">
              <a:spcBef>
                <a:spcPts val="1200"/>
              </a:spcBef>
              <a:spcAft>
                <a:spcPts val="1200"/>
              </a:spcAft>
              <a:buNone/>
            </a:pPr>
            <a:r>
              <a:t/>
            </a:r>
            <a:endParaRPr sz="1200"/>
          </a:p>
        </p:txBody>
      </p:sp>
      <p:pic>
        <p:nvPicPr>
          <p:cNvPr id="69" name="Google Shape;69;p15"/>
          <p:cNvPicPr preferRelativeResize="0"/>
          <p:nvPr/>
        </p:nvPicPr>
        <p:blipFill>
          <a:blip r:embed="rId3">
            <a:alphaModFix/>
          </a:blip>
          <a:stretch>
            <a:fillRect/>
          </a:stretch>
        </p:blipFill>
        <p:spPr>
          <a:xfrm>
            <a:off x="4135550" y="2249143"/>
            <a:ext cx="2632500" cy="1480781"/>
          </a:xfrm>
          <a:prstGeom prst="rect">
            <a:avLst/>
          </a:prstGeom>
          <a:noFill/>
          <a:ln>
            <a:noFill/>
          </a:ln>
        </p:spPr>
      </p:pic>
      <p:pic>
        <p:nvPicPr>
          <p:cNvPr id="70" name="Google Shape;70;p15"/>
          <p:cNvPicPr preferRelativeResize="0"/>
          <p:nvPr/>
        </p:nvPicPr>
        <p:blipFill>
          <a:blip r:embed="rId4">
            <a:alphaModFix/>
          </a:blip>
          <a:stretch>
            <a:fillRect/>
          </a:stretch>
        </p:blipFill>
        <p:spPr>
          <a:xfrm>
            <a:off x="468775" y="2303425"/>
            <a:ext cx="2632500" cy="1480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53500" y="685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800">
                <a:solidFill>
                  <a:schemeClr val="dk2"/>
                </a:solidFill>
              </a:rPr>
              <a:t>2. </a:t>
            </a:r>
            <a:r>
              <a:rPr lang="en" sz="1800">
                <a:solidFill>
                  <a:schemeClr val="dk2"/>
                </a:solidFill>
              </a:rPr>
              <a:t>Cooking of grains for one grain static test</a:t>
            </a:r>
            <a:endParaRPr sz="1800">
              <a:solidFill>
                <a:schemeClr val="dk2"/>
              </a:solidFill>
            </a:endParaRPr>
          </a:p>
          <a:p>
            <a:pPr indent="0" lvl="0" marL="0" rtl="0" algn="l">
              <a:spcBef>
                <a:spcPts val="1200"/>
              </a:spcBef>
              <a:spcAft>
                <a:spcPts val="0"/>
              </a:spcAft>
              <a:buNone/>
            </a:pPr>
            <a:r>
              <a:t/>
            </a:r>
            <a:endParaRPr/>
          </a:p>
        </p:txBody>
      </p:sp>
      <p:sp>
        <p:nvSpPr>
          <p:cNvPr id="76" name="Google Shape;76;p16"/>
          <p:cNvSpPr txBox="1"/>
          <p:nvPr>
            <p:ph idx="1" type="body"/>
          </p:nvPr>
        </p:nvSpPr>
        <p:spPr>
          <a:xfrm>
            <a:off x="85950" y="641225"/>
            <a:ext cx="8972100" cy="404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Purpose:  Two Potassium Nitrate &amp; Sorbitol (KNSB) propellant grains were prepared using the standard procedure documented </a:t>
            </a:r>
            <a:r>
              <a:rPr lang="en" u="sng">
                <a:solidFill>
                  <a:schemeClr val="hlink"/>
                </a:solidFill>
                <a:hlinkClick r:id="rId3"/>
              </a:rPr>
              <a:t>here</a:t>
            </a:r>
            <a:r>
              <a:rPr lang="en"/>
              <a:t>. This KNSB grain will be used as the </a:t>
            </a:r>
            <a:r>
              <a:rPr lang="en"/>
              <a:t>control</a:t>
            </a:r>
            <a:r>
              <a:rPr lang="en"/>
              <a:t> for our grain analysis test campaign.</a:t>
            </a:r>
            <a:endParaRPr/>
          </a:p>
          <a:p>
            <a:pPr indent="0" lvl="0" marL="0" rtl="0" algn="l">
              <a:spcBef>
                <a:spcPts val="1200"/>
              </a:spcBef>
              <a:spcAft>
                <a:spcPts val="0"/>
              </a:spcAft>
              <a:buNone/>
            </a:pPr>
            <a:r>
              <a:rPr lang="en"/>
              <a:t>The second prepared grain had an altered oxidiser to fuel ratio of 60:40 as opposed to the standard 65:35 making a slightly fuel rich mixture in an attempt to reduce thrust output</a:t>
            </a:r>
            <a:endParaRPr/>
          </a:p>
          <a:p>
            <a:pPr indent="0" lvl="0" marL="0" rtl="0" algn="l">
              <a:spcBef>
                <a:spcPts val="1200"/>
              </a:spcBef>
              <a:spcAft>
                <a:spcPts val="0"/>
              </a:spcAft>
              <a:buNone/>
            </a:pPr>
            <a:r>
              <a:rPr lang="en"/>
              <a:t>Control grain:                               Fuel rich propellant: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77" name="Google Shape;77;p16"/>
          <p:cNvPicPr preferRelativeResize="0"/>
          <p:nvPr/>
        </p:nvPicPr>
        <p:blipFill>
          <a:blip r:embed="rId4">
            <a:alphaModFix/>
          </a:blip>
          <a:stretch>
            <a:fillRect/>
          </a:stretch>
        </p:blipFill>
        <p:spPr>
          <a:xfrm>
            <a:off x="1673250" y="2902225"/>
            <a:ext cx="1654450" cy="2154450"/>
          </a:xfrm>
          <a:prstGeom prst="rect">
            <a:avLst/>
          </a:prstGeom>
          <a:noFill/>
          <a:ln>
            <a:noFill/>
          </a:ln>
        </p:spPr>
      </p:pic>
      <p:pic>
        <p:nvPicPr>
          <p:cNvPr id="78" name="Google Shape;78;p16"/>
          <p:cNvPicPr preferRelativeResize="0"/>
          <p:nvPr/>
        </p:nvPicPr>
        <p:blipFill>
          <a:blip r:embed="rId5">
            <a:alphaModFix/>
          </a:blip>
          <a:stretch>
            <a:fillRect/>
          </a:stretch>
        </p:blipFill>
        <p:spPr>
          <a:xfrm>
            <a:off x="5742500" y="2982600"/>
            <a:ext cx="2934900" cy="1650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Catalyst determination from chemistry labs </a:t>
            </a:r>
            <a:endParaRPr/>
          </a:p>
        </p:txBody>
      </p:sp>
      <p:sp>
        <p:nvSpPr>
          <p:cNvPr id="84" name="Google Shape;84;p17"/>
          <p:cNvSpPr txBox="1"/>
          <p:nvPr>
            <p:ph idx="1" type="body"/>
          </p:nvPr>
        </p:nvSpPr>
        <p:spPr>
          <a:xfrm>
            <a:off x="94925" y="492350"/>
            <a:ext cx="8520600" cy="20793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Purpose: This experiment was done to help theoretically determine the correct epoxy to catalyst ratio to be used during liner preparation. </a:t>
            </a:r>
            <a:r>
              <a:rPr lang="en"/>
              <a:t>Fourier-transform infrared spectroscopy (FTIR)</a:t>
            </a:r>
            <a:r>
              <a:rPr lang="en"/>
              <a:t> and Atomic </a:t>
            </a:r>
            <a:r>
              <a:rPr lang="en"/>
              <a:t>Absorption</a:t>
            </a:r>
            <a:r>
              <a:rPr lang="en"/>
              <a:t> Spectroscopy (AAS) tests were done.</a:t>
            </a:r>
            <a:endParaRPr/>
          </a:p>
          <a:p>
            <a:pPr indent="0" lvl="0" marL="0" rtl="0" algn="l">
              <a:spcBef>
                <a:spcPts val="1200"/>
              </a:spcBef>
              <a:spcAft>
                <a:spcPts val="0"/>
              </a:spcAft>
              <a:buNone/>
            </a:pPr>
            <a:r>
              <a:rPr lang="en"/>
              <a:t>Result: The report is currently being written and will be </a:t>
            </a:r>
            <a:r>
              <a:rPr lang="en"/>
              <a:t>uploaded</a:t>
            </a:r>
            <a:r>
              <a:rPr lang="en"/>
              <a:t> to github once complete. The following were </a:t>
            </a:r>
            <a:r>
              <a:rPr lang="en"/>
              <a:t>the FTIR test results. We await AAS test results. </a:t>
            </a:r>
            <a:endParaRPr/>
          </a:p>
          <a:p>
            <a:pPr indent="0" lvl="0" marL="0" rtl="0" algn="l">
              <a:spcBef>
                <a:spcPts val="1200"/>
              </a:spcBef>
              <a:spcAft>
                <a:spcPts val="1200"/>
              </a:spcAft>
              <a:buNone/>
            </a:pPr>
            <a:r>
              <a:t/>
            </a:r>
            <a:endParaRPr/>
          </a:p>
        </p:txBody>
      </p:sp>
      <p:pic>
        <p:nvPicPr>
          <p:cNvPr id="85" name="Google Shape;85;p17"/>
          <p:cNvPicPr preferRelativeResize="0"/>
          <p:nvPr/>
        </p:nvPicPr>
        <p:blipFill>
          <a:blip r:embed="rId3">
            <a:alphaModFix/>
          </a:blip>
          <a:stretch>
            <a:fillRect/>
          </a:stretch>
        </p:blipFill>
        <p:spPr>
          <a:xfrm>
            <a:off x="1524938" y="2327550"/>
            <a:ext cx="5791825" cy="2536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94925" y="60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Dry run</a:t>
            </a:r>
            <a:endParaRPr/>
          </a:p>
        </p:txBody>
      </p:sp>
      <p:sp>
        <p:nvSpPr>
          <p:cNvPr id="91" name="Google Shape;91;p18"/>
          <p:cNvSpPr txBox="1"/>
          <p:nvPr>
            <p:ph idx="1" type="body"/>
          </p:nvPr>
        </p:nvSpPr>
        <p:spPr>
          <a:xfrm>
            <a:off x="144175" y="633450"/>
            <a:ext cx="8745300" cy="415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Purpose: This was done in preparation of the static test which is to be held on Friday 10/07/2026 and these were the objectives met:</a:t>
            </a:r>
            <a:endParaRPr/>
          </a:p>
          <a:p>
            <a:pPr indent="-304800" lvl="0" marL="457200" rtl="0" algn="l">
              <a:spcBef>
                <a:spcPts val="1200"/>
              </a:spcBef>
              <a:spcAft>
                <a:spcPts val="0"/>
              </a:spcAft>
              <a:buSzPts val="1200"/>
              <a:buAutoNum type="alphaLcPeriod"/>
            </a:pPr>
            <a:r>
              <a:rPr lang="en" sz="1200"/>
              <a:t>Verify remote ignition circuit functionality using an empty Solid Rocket Motor (SRM). </a:t>
            </a:r>
            <a:endParaRPr sz="1200"/>
          </a:p>
          <a:p>
            <a:pPr indent="-304800" lvl="0" marL="457200" rtl="0" algn="l">
              <a:spcBef>
                <a:spcPts val="0"/>
              </a:spcBef>
              <a:spcAft>
                <a:spcPts val="0"/>
              </a:spcAft>
              <a:buSzPts val="1200"/>
              <a:buAutoNum type="alphaLcPeriod"/>
            </a:pPr>
            <a:r>
              <a:rPr lang="en" sz="1200"/>
              <a:t>Practice team coordination, timing, and emergency procedures. </a:t>
            </a:r>
            <a:endParaRPr sz="1200"/>
          </a:p>
          <a:p>
            <a:pPr indent="-304800" lvl="0" marL="457200" rtl="0" algn="l">
              <a:spcBef>
                <a:spcPts val="0"/>
              </a:spcBef>
              <a:spcAft>
                <a:spcPts val="0"/>
              </a:spcAft>
              <a:buSzPts val="1200"/>
              <a:buAutoNum type="alphaLcPeriod"/>
            </a:pPr>
            <a:r>
              <a:rPr lang="en" sz="1200"/>
              <a:t>Measure total setup-to-ignition time. 1hr 5mins (2:55 pm to 4pm) in our third attempt</a:t>
            </a:r>
            <a:endParaRPr sz="1200"/>
          </a:p>
          <a:p>
            <a:pPr indent="-304800" lvl="0" marL="457200" rtl="0" algn="l">
              <a:spcBef>
                <a:spcPts val="0"/>
              </a:spcBef>
              <a:spcAft>
                <a:spcPts val="0"/>
              </a:spcAft>
              <a:buSzPts val="1200"/>
              <a:buAutoNum type="alphaLcPeriod"/>
            </a:pPr>
            <a:r>
              <a:rPr lang="en" sz="1200"/>
              <a:t>Ensure all members are familiar with roles and safety protocols. </a:t>
            </a:r>
            <a:endParaRPr sz="1200"/>
          </a:p>
          <a:p>
            <a:pPr indent="-304800" lvl="0" marL="457200" rtl="0" algn="l">
              <a:spcBef>
                <a:spcPts val="0"/>
              </a:spcBef>
              <a:spcAft>
                <a:spcPts val="0"/>
              </a:spcAft>
              <a:buSzPts val="1200"/>
              <a:buAutoNum type="alphaLcPeriod"/>
            </a:pPr>
            <a:r>
              <a:rPr lang="en" sz="1200"/>
              <a:t>Identify any issues before the actual static test. </a:t>
            </a:r>
            <a:endParaRPr sz="1200"/>
          </a:p>
          <a:p>
            <a:pPr indent="0" lvl="0" marL="0" rtl="0" algn="l">
              <a:spcBef>
                <a:spcPts val="1200"/>
              </a:spcBef>
              <a:spcAft>
                <a:spcPts val="0"/>
              </a:spcAft>
              <a:buNone/>
            </a:pPr>
            <a:r>
              <a:rPr lang="en"/>
              <a:t>Challenges faced</a:t>
            </a:r>
            <a:r>
              <a:rPr lang="en"/>
              <a:t>:</a:t>
            </a:r>
            <a:endParaRPr/>
          </a:p>
          <a:p>
            <a:pPr indent="-304800" lvl="0" marL="457200" rtl="0" algn="l">
              <a:spcBef>
                <a:spcPts val="1200"/>
              </a:spcBef>
              <a:spcAft>
                <a:spcPts val="0"/>
              </a:spcAft>
              <a:buSzPts val="1200"/>
              <a:buAutoNum type="alphaLcPeriod"/>
            </a:pPr>
            <a:r>
              <a:rPr lang="en" sz="1200"/>
              <a:t>Load cell battery failure</a:t>
            </a:r>
            <a:endParaRPr sz="1200"/>
          </a:p>
          <a:p>
            <a:pPr indent="-304800" lvl="0" marL="457200" rtl="0" algn="l">
              <a:spcBef>
                <a:spcPts val="0"/>
              </a:spcBef>
              <a:spcAft>
                <a:spcPts val="0"/>
              </a:spcAft>
              <a:buSzPts val="1200"/>
              <a:buAutoNum type="alphaLcPeriod"/>
            </a:pPr>
            <a:r>
              <a:rPr lang="en" sz="1200"/>
              <a:t>Uncommanded ignition failure</a:t>
            </a:r>
            <a:endParaRPr sz="1200"/>
          </a:p>
          <a:p>
            <a:pPr indent="0" lvl="0" marL="0" rtl="0" algn="l">
              <a:spcBef>
                <a:spcPts val="1200"/>
              </a:spcBef>
              <a:spcAft>
                <a:spcPts val="1200"/>
              </a:spcAft>
              <a:buNone/>
            </a:pPr>
            <a:r>
              <a:rPr lang="en"/>
              <a:t>The dry run report is documented </a:t>
            </a:r>
            <a:r>
              <a:rPr lang="en" u="sng">
                <a:solidFill>
                  <a:schemeClr val="hlink"/>
                </a:solidFill>
                <a:hlinkClick r:id="rId3"/>
              </a:rPr>
              <a:t>here</a:t>
            </a:r>
            <a:r>
              <a:rPr lang="en"/>
              <a:t> with the relevant photos and video uploaded to the joint album</a:t>
            </a:r>
            <a:r>
              <a:rPr lang="en"/>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45650" y="100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One grain static fire test</a:t>
            </a:r>
            <a:endParaRPr/>
          </a:p>
        </p:txBody>
      </p:sp>
      <p:sp>
        <p:nvSpPr>
          <p:cNvPr id="97" name="Google Shape;97;p19"/>
          <p:cNvSpPr txBox="1"/>
          <p:nvPr>
            <p:ph idx="1" type="body"/>
          </p:nvPr>
        </p:nvSpPr>
        <p:spPr>
          <a:xfrm>
            <a:off x="134325" y="718925"/>
            <a:ext cx="8831100" cy="40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Purpose: This one grain static fire test will be used as the control or reference test in the coming subsequent tests. We will gather the data from this test and use it to improve our propellant grains.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Result: The static fire test was unsuccessful due to a faulty ignition wire which caused a short circuit which destroyed the mosfet, thus ignition did not take place.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128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week's tasks</a:t>
            </a:r>
            <a:endParaRPr/>
          </a:p>
        </p:txBody>
      </p:sp>
      <p:sp>
        <p:nvSpPr>
          <p:cNvPr id="103" name="Google Shape;103;p20"/>
          <p:cNvSpPr txBox="1"/>
          <p:nvPr>
            <p:ph idx="1" type="body"/>
          </p:nvPr>
        </p:nvSpPr>
        <p:spPr>
          <a:xfrm>
            <a:off x="311700" y="80302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lang="en"/>
              <a:t>Pyrogenic ignitor testing</a:t>
            </a:r>
            <a:endParaRPr/>
          </a:p>
          <a:p>
            <a:pPr indent="-342900" lvl="0" marL="457200" rtl="0" algn="l">
              <a:spcBef>
                <a:spcPts val="0"/>
              </a:spcBef>
              <a:spcAft>
                <a:spcPts val="0"/>
              </a:spcAft>
              <a:buSzPts val="1800"/>
              <a:buAutoNum type="arabicPeriod"/>
            </a:pPr>
            <a:r>
              <a:rPr lang="en"/>
              <a:t>Cooking of grains for one grain static test</a:t>
            </a:r>
            <a:endParaRPr/>
          </a:p>
          <a:p>
            <a:pPr indent="-342900" lvl="0" marL="457200" rtl="0" algn="l">
              <a:spcBef>
                <a:spcPts val="0"/>
              </a:spcBef>
              <a:spcAft>
                <a:spcPts val="0"/>
              </a:spcAft>
              <a:buSzPts val="1800"/>
              <a:buAutoNum type="arabicPeriod"/>
            </a:pPr>
            <a:r>
              <a:rPr lang="en"/>
              <a:t>Liner thickness testing (Burn test)</a:t>
            </a:r>
            <a:endParaRPr/>
          </a:p>
          <a:p>
            <a:pPr indent="-342900" lvl="0" marL="457200" rtl="0" algn="l">
              <a:spcBef>
                <a:spcPts val="0"/>
              </a:spcBef>
              <a:spcAft>
                <a:spcPts val="0"/>
              </a:spcAft>
              <a:buSzPts val="1800"/>
              <a:buAutoNum type="arabicPeriod"/>
            </a:pPr>
            <a:r>
              <a:rPr lang="en"/>
              <a:t>Purchasing of items i.e. Stainless steel casing, crafting paper</a:t>
            </a:r>
            <a:endParaRPr/>
          </a:p>
          <a:p>
            <a:pPr indent="-342900" lvl="0" marL="457200" rtl="0" algn="l">
              <a:spcBef>
                <a:spcPts val="0"/>
              </a:spcBef>
              <a:spcAft>
                <a:spcPts val="0"/>
              </a:spcAft>
              <a:buSzPts val="1800"/>
              <a:buAutoNum type="arabicPeriod"/>
            </a:pPr>
            <a:r>
              <a:rPr lang="en"/>
              <a:t>Nozzle and Bulkhead machining</a:t>
            </a:r>
            <a:endParaRPr/>
          </a:p>
          <a:p>
            <a:pPr indent="-342900" lvl="0" marL="457200" rtl="0" algn="l">
              <a:spcBef>
                <a:spcPts val="0"/>
              </a:spcBef>
              <a:spcAft>
                <a:spcPts val="0"/>
              </a:spcAft>
              <a:buSzPts val="1800"/>
              <a:buAutoNum type="arabicPeriod"/>
            </a:pPr>
            <a:r>
              <a:rPr lang="en"/>
              <a:t>3D print ignition circuit casing</a:t>
            </a:r>
            <a:endParaRPr/>
          </a:p>
          <a:p>
            <a:pPr indent="-342900" lvl="0" marL="457200" rtl="0" algn="l">
              <a:spcBef>
                <a:spcPts val="0"/>
              </a:spcBef>
              <a:spcAft>
                <a:spcPts val="0"/>
              </a:spcAft>
              <a:buSzPts val="1800"/>
              <a:buAutoNum type="arabicPeriod"/>
            </a:pPr>
            <a:r>
              <a:rPr lang="en"/>
              <a:t>One grain static fire test</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experienced</a:t>
            </a:r>
            <a:endParaRPr/>
          </a:p>
        </p:txBody>
      </p:sp>
      <p:sp>
        <p:nvSpPr>
          <p:cNvPr id="109" name="Google Shape;109;p21"/>
          <p:cNvSpPr txBox="1"/>
          <p:nvPr>
            <p:ph idx="1" type="body"/>
          </p:nvPr>
        </p:nvSpPr>
        <p:spPr>
          <a:xfrm>
            <a:off x="246175" y="1086950"/>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None encountered</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0"/>
              </a:spcAft>
              <a:buNone/>
            </a:pPr>
            <a:r>
              <a:rPr b="1" lang="en"/>
              <a:t>Supervisors’ note:</a:t>
            </a:r>
            <a:endParaRPr b="1"/>
          </a:p>
          <a:p>
            <a:pPr indent="0" lvl="0" marL="0" rtl="0" algn="l">
              <a:spcBef>
                <a:spcPts val="1200"/>
              </a:spcBef>
              <a:spcAft>
                <a:spcPts val="0"/>
              </a:spcAft>
              <a:buNone/>
            </a:pPr>
            <a:r>
              <a:rPr b="1" lang="en"/>
              <a:t>Visit Solid Propulsion github projects @ </a:t>
            </a:r>
            <a:r>
              <a:rPr b="1" lang="en" u="sng">
                <a:solidFill>
                  <a:schemeClr val="hlink"/>
                </a:solidFill>
                <a:hlinkClick r:id="rId3"/>
              </a:rPr>
              <a:t>https://github.com/orgs/nakujaproject/projects/26</a:t>
            </a:r>
            <a:r>
              <a:rPr b="1" lang="en"/>
              <a:t> to review the tasks done.</a:t>
            </a:r>
            <a:endParaRPr b="1"/>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concerns</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The load cell has a rating of 3000N while our expected peak thrust is 2500N which might require replacement of load cell</a:t>
            </a:r>
            <a:endParaRPr/>
          </a:p>
          <a:p>
            <a:pPr indent="-342900" lvl="0" marL="457200" rtl="0" algn="l">
              <a:spcBef>
                <a:spcPts val="0"/>
              </a:spcBef>
              <a:spcAft>
                <a:spcPts val="0"/>
              </a:spcAft>
              <a:buSzPts val="1800"/>
              <a:buAutoNum type="arabicPeriod"/>
            </a:pPr>
            <a:r>
              <a:rPr lang="en"/>
              <a:t>Concerns on test stand stability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 for your Attention!</a:t>
            </a:r>
            <a:endParaRPr/>
          </a:p>
        </p:txBody>
      </p:sp>
      <p:pic>
        <p:nvPicPr>
          <p:cNvPr id="121" name="Google Shape;121;p23"/>
          <p:cNvPicPr preferRelativeResize="0"/>
          <p:nvPr/>
        </p:nvPicPr>
        <p:blipFill>
          <a:blip r:embed="rId3">
            <a:alphaModFix/>
          </a:blip>
          <a:stretch>
            <a:fillRect/>
          </a:stretch>
        </p:blipFill>
        <p:spPr>
          <a:xfrm>
            <a:off x="1253250" y="933650"/>
            <a:ext cx="6637495" cy="38209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