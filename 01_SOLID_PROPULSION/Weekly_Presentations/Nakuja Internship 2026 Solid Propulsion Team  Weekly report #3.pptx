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02858c2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02858c2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02858c2d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02858c2d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02858c2d1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02858c2d1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02858c2d1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02858c2d1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02858c2d1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02858c2d1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02858c2d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02858c2d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02858c2d1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02858c2d1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02858c2d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02858c2d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02858c2d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02858c2d1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02858c2d1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02858c2d1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ocs.google.com/document/d/1tc-LvfmBLr1dBrcV1fSMpZ0FVgUXRoszm2JYe_RCPrE/edit?usp=sharing" TargetMode="External"/><Relationship Id="rId4" Type="http://schemas.openxmlformats.org/officeDocument/2006/relationships/image" Target="../media/image3.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nakujaproject/Internship-2026/tree/main/01_SOLID_PROPULSION/Static_Tests/One_Grain_Tests"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github.com/orgs/nakujaproject/projects/2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66308" y="15454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Nakuja Internship 2026</a:t>
            </a:r>
            <a:endParaRPr/>
          </a:p>
          <a:p>
            <a:pPr indent="0" lvl="0" marL="0" rtl="0" algn="ctr">
              <a:spcBef>
                <a:spcPts val="0"/>
              </a:spcBef>
              <a:spcAft>
                <a:spcPts val="0"/>
              </a:spcAft>
              <a:buNone/>
            </a:pPr>
            <a:r>
              <a:rPr lang="en"/>
              <a:t>Solid Propulsion Team</a:t>
            </a:r>
            <a:endParaRPr/>
          </a:p>
          <a:p>
            <a:pPr indent="0" lvl="0" marL="0" rtl="0" algn="ctr">
              <a:spcBef>
                <a:spcPts val="0"/>
              </a:spcBef>
              <a:spcAft>
                <a:spcPts val="0"/>
              </a:spcAft>
              <a:buNone/>
            </a:pPr>
            <a:r>
              <a:rPr lang="en"/>
              <a:t> Weekly report #3</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66300" y="3412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Presented by: Ben Wetu</a:t>
            </a:r>
            <a:endParaRPr/>
          </a:p>
        </p:txBody>
      </p:sp>
      <p:sp>
        <p:nvSpPr>
          <p:cNvPr id="56" name="Google Shape;56;p13"/>
          <p:cNvSpPr txBox="1"/>
          <p:nvPr/>
        </p:nvSpPr>
        <p:spPr>
          <a:xfrm>
            <a:off x="3504900" y="4309225"/>
            <a:ext cx="2134200" cy="46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July 3, 2026</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Tasks completed this week</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Cooked one propellant grain</a:t>
            </a:r>
            <a:endParaRPr/>
          </a:p>
          <a:p>
            <a:pPr indent="-342900" lvl="0" marL="457200" rtl="0" algn="l">
              <a:spcBef>
                <a:spcPts val="0"/>
              </a:spcBef>
              <a:spcAft>
                <a:spcPts val="0"/>
              </a:spcAft>
              <a:buSzPts val="1800"/>
              <a:buAutoNum type="arabicPeriod"/>
            </a:pPr>
            <a:r>
              <a:rPr lang="en"/>
              <a:t>Prepared 3 pyrogenic ignitors</a:t>
            </a:r>
            <a:endParaRPr/>
          </a:p>
          <a:p>
            <a:pPr indent="-342900" lvl="0" marL="457200" rtl="0" algn="l">
              <a:spcBef>
                <a:spcPts val="0"/>
              </a:spcBef>
              <a:spcAft>
                <a:spcPts val="0"/>
              </a:spcAft>
              <a:buSzPts val="1800"/>
              <a:buAutoNum type="arabicPeriod"/>
            </a:pPr>
            <a:r>
              <a:rPr lang="en"/>
              <a:t>Validated the error we got from open motor for the one grain test</a:t>
            </a:r>
            <a:endParaRPr/>
          </a:p>
          <a:p>
            <a:pPr indent="-342900" lvl="0" marL="457200" rtl="0" algn="l">
              <a:spcBef>
                <a:spcPts val="0"/>
              </a:spcBef>
              <a:spcAft>
                <a:spcPts val="0"/>
              </a:spcAft>
              <a:buSzPts val="1800"/>
              <a:buAutoNum type="arabicPeriod"/>
            </a:pPr>
            <a:r>
              <a:rPr lang="en"/>
              <a:t>Motor assembly</a:t>
            </a:r>
            <a:endParaRPr/>
          </a:p>
          <a:p>
            <a:pPr indent="-342900" lvl="0" marL="457200" rtl="0" algn="l">
              <a:spcBef>
                <a:spcPts val="0"/>
              </a:spcBef>
              <a:spcAft>
                <a:spcPts val="0"/>
              </a:spcAft>
              <a:buSzPts val="1800"/>
              <a:buAutoNum type="arabicPeriod"/>
            </a:pPr>
            <a:r>
              <a:rPr lang="en"/>
              <a:t>Designed a new ignitor circuit casing</a:t>
            </a:r>
            <a:endParaRPr/>
          </a:p>
          <a:p>
            <a:pPr indent="0" lvl="0" marL="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Cooked one grain</a:t>
            </a:r>
            <a:endParaRPr/>
          </a:p>
          <a:p>
            <a:pPr indent="0" lvl="0" marL="457200" rtl="0" algn="l">
              <a:spcBef>
                <a:spcPts val="0"/>
              </a:spcBef>
              <a:spcAft>
                <a:spcPts val="0"/>
              </a:spcAft>
              <a:buNone/>
            </a:pPr>
            <a:r>
              <a:t/>
            </a:r>
            <a:endParaRPr/>
          </a:p>
        </p:txBody>
      </p:sp>
      <p:sp>
        <p:nvSpPr>
          <p:cNvPr id="68" name="Google Shape;68;p15"/>
          <p:cNvSpPr txBox="1"/>
          <p:nvPr>
            <p:ph idx="1" type="body"/>
          </p:nvPr>
        </p:nvSpPr>
        <p:spPr>
          <a:xfrm>
            <a:off x="100500" y="572700"/>
            <a:ext cx="6197400" cy="34164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lang="en" sz="3525"/>
              <a:t>Purpose: This Potassium Nitrate &amp; Sorbitol (KNSB) propellant grain will be used as the control grain for the upcoming grain analysis and testing campaign. This propellant grain will be used for microscopic analysis to determine the number of voids or air bubbles formed during the curing process.</a:t>
            </a:r>
            <a:endParaRPr sz="3525"/>
          </a:p>
          <a:p>
            <a:pPr indent="0" lvl="0" marL="0" rtl="0" algn="l">
              <a:spcBef>
                <a:spcPts val="1200"/>
              </a:spcBef>
              <a:spcAft>
                <a:spcPts val="0"/>
              </a:spcAft>
              <a:buNone/>
            </a:pPr>
            <a:r>
              <a:rPr lang="en" sz="3525"/>
              <a:t>The grains were compressed with a force of 236.88 N with a compression length of 2.8 cm. The spring details are </a:t>
            </a:r>
            <a:r>
              <a:rPr lang="en" sz="3525" u="sng">
                <a:solidFill>
                  <a:schemeClr val="hlink"/>
                </a:solidFill>
                <a:hlinkClick r:id="rId3"/>
              </a:rPr>
              <a:t>here</a:t>
            </a:r>
            <a:r>
              <a:rPr lang="en" sz="3525"/>
              <a:t>.</a:t>
            </a:r>
            <a:endParaRPr sz="3525"/>
          </a:p>
          <a:p>
            <a:pPr indent="0" lvl="0" marL="0" rtl="0" algn="l">
              <a:spcBef>
                <a:spcPts val="1200"/>
              </a:spcBef>
              <a:spcAft>
                <a:spcPts val="0"/>
              </a:spcAft>
              <a:buNone/>
            </a:pPr>
            <a:r>
              <a:rPr lang="en" sz="3525"/>
              <a:t>Sections for microscopic analysis:</a:t>
            </a:r>
            <a:endParaRPr sz="3525"/>
          </a:p>
          <a:p>
            <a:pPr indent="0" lvl="0" marL="0" rtl="0" algn="l">
              <a:spcBef>
                <a:spcPts val="1200"/>
              </a:spcBef>
              <a:spcAft>
                <a:spcPts val="0"/>
              </a:spcAft>
              <a:buNone/>
            </a:pPr>
            <a:r>
              <a:t/>
            </a:r>
            <a:endParaRPr sz="2644"/>
          </a:p>
          <a:p>
            <a:pPr indent="0" lvl="0" marL="0" rtl="0" algn="l">
              <a:spcBef>
                <a:spcPts val="1200"/>
              </a:spcBef>
              <a:spcAft>
                <a:spcPts val="0"/>
              </a:spcAft>
              <a:buNone/>
            </a:pPr>
            <a:r>
              <a:rPr lang="en"/>
              <a:t>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69" name="Google Shape;69;p15"/>
          <p:cNvPicPr preferRelativeResize="0"/>
          <p:nvPr/>
        </p:nvPicPr>
        <p:blipFill>
          <a:blip r:embed="rId4">
            <a:alphaModFix/>
          </a:blip>
          <a:stretch>
            <a:fillRect/>
          </a:stretch>
        </p:blipFill>
        <p:spPr>
          <a:xfrm>
            <a:off x="6535800" y="572700"/>
            <a:ext cx="1817299" cy="3934275"/>
          </a:xfrm>
          <a:prstGeom prst="rect">
            <a:avLst/>
          </a:prstGeom>
          <a:noFill/>
          <a:ln>
            <a:noFill/>
          </a:ln>
        </p:spPr>
      </p:pic>
      <p:pic>
        <p:nvPicPr>
          <p:cNvPr id="70" name="Google Shape;70;p15"/>
          <p:cNvPicPr preferRelativeResize="0"/>
          <p:nvPr/>
        </p:nvPicPr>
        <p:blipFill>
          <a:blip r:embed="rId5">
            <a:alphaModFix/>
          </a:blip>
          <a:stretch>
            <a:fillRect/>
          </a:stretch>
        </p:blipFill>
        <p:spPr>
          <a:xfrm>
            <a:off x="1541612" y="2799875"/>
            <a:ext cx="3684124" cy="20723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53500" y="68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Preparation of pyrogenic ignitor</a:t>
            </a:r>
            <a:endParaRPr/>
          </a:p>
        </p:txBody>
      </p:sp>
      <p:sp>
        <p:nvSpPr>
          <p:cNvPr id="76" name="Google Shape;76;p16"/>
          <p:cNvSpPr txBox="1"/>
          <p:nvPr>
            <p:ph idx="1" type="body"/>
          </p:nvPr>
        </p:nvSpPr>
        <p:spPr>
          <a:xfrm>
            <a:off x="171850" y="641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embarked on designing a new pyrogenic ignitor by adding Black Powder (Potassium Nitrate, Sulphur, Charcoal) to the previous KNSB + FeO3 ignitor.</a:t>
            </a:r>
            <a:endParaRPr/>
          </a:p>
          <a:p>
            <a:pPr indent="0" lvl="0" marL="0" rtl="0" algn="l">
              <a:spcBef>
                <a:spcPts val="1200"/>
              </a:spcBef>
              <a:spcAft>
                <a:spcPts val="0"/>
              </a:spcAft>
              <a:buNone/>
            </a:pPr>
            <a:r>
              <a:rPr lang="en"/>
              <a:t>This was done to improve the ignition properties of the pyrogenic ignitor thus leading to a faster and more reliable Solid Rocket Motor ignition with the right chamber pressure.</a:t>
            </a:r>
            <a:endParaRPr/>
          </a:p>
          <a:p>
            <a:pPr indent="0" lvl="0" marL="0" rtl="0" algn="l">
              <a:spcBef>
                <a:spcPts val="1200"/>
              </a:spcBef>
              <a:spcAft>
                <a:spcPts val="1200"/>
              </a:spcAft>
              <a:buNone/>
            </a:pPr>
            <a:r>
              <a:rPr lang="en"/>
              <a:t>Tests on the new ignitor design shall be done next week.</a:t>
            </a:r>
            <a:endParaRPr/>
          </a:p>
        </p:txBody>
      </p:sp>
      <p:pic>
        <p:nvPicPr>
          <p:cNvPr id="77" name="Google Shape;77;p16"/>
          <p:cNvPicPr preferRelativeResize="0"/>
          <p:nvPr/>
        </p:nvPicPr>
        <p:blipFill>
          <a:blip r:embed="rId3">
            <a:alphaModFix/>
          </a:blip>
          <a:stretch>
            <a:fillRect/>
          </a:stretch>
        </p:blipFill>
        <p:spPr>
          <a:xfrm>
            <a:off x="4744175" y="2969422"/>
            <a:ext cx="4020026" cy="1631700"/>
          </a:xfrm>
          <a:prstGeom prst="rect">
            <a:avLst/>
          </a:prstGeom>
          <a:noFill/>
          <a:ln>
            <a:noFill/>
          </a:ln>
        </p:spPr>
      </p:pic>
      <p:pic>
        <p:nvPicPr>
          <p:cNvPr id="78" name="Google Shape;78;p16"/>
          <p:cNvPicPr preferRelativeResize="0"/>
          <p:nvPr/>
        </p:nvPicPr>
        <p:blipFill>
          <a:blip r:embed="rId4">
            <a:alphaModFix/>
          </a:blip>
          <a:stretch>
            <a:fillRect/>
          </a:stretch>
        </p:blipFill>
        <p:spPr>
          <a:xfrm>
            <a:off x="745425" y="3018976"/>
            <a:ext cx="3494776" cy="1840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949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Error validation from Open Motor</a:t>
            </a:r>
            <a:endParaRPr/>
          </a:p>
        </p:txBody>
      </p:sp>
      <p:sp>
        <p:nvSpPr>
          <p:cNvPr id="84" name="Google Shape;84;p17"/>
          <p:cNvSpPr txBox="1"/>
          <p:nvPr>
            <p:ph idx="1" type="body"/>
          </p:nvPr>
        </p:nvSpPr>
        <p:spPr>
          <a:xfrm>
            <a:off x="94925" y="4923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Upon </a:t>
            </a:r>
            <a:r>
              <a:rPr lang="en"/>
              <a:t>simulating, the motor performance for the one grain test, we encountered an open motor error; low exit pressure nozzle flow may separate but upon research from Richard Nakka and consulting with early N4 members, we concluded the following (full documentation available </a:t>
            </a:r>
            <a:r>
              <a:rPr lang="en" u="sng">
                <a:solidFill>
                  <a:schemeClr val="hlink"/>
                </a:solidFill>
                <a:hlinkClick r:id="rId3"/>
              </a:rPr>
              <a:t>here</a:t>
            </a:r>
            <a:r>
              <a:rPr lang="en"/>
              <a:t>) also uploaded to github:</a:t>
            </a:r>
            <a:endParaRPr/>
          </a:p>
          <a:p>
            <a:pPr indent="-342900" lvl="0" marL="457200" rtl="0" algn="l">
              <a:spcBef>
                <a:spcPts val="1200"/>
              </a:spcBef>
              <a:spcAft>
                <a:spcPts val="0"/>
              </a:spcAft>
              <a:buSzPts val="1800"/>
              <a:buAutoNum type="arabicPeriod"/>
            </a:pPr>
            <a:r>
              <a:rPr lang="en"/>
              <a:t>No need to change the grain diameter and nozzle size in order to test hardware to be used in the 5 grain static test.</a:t>
            </a:r>
            <a:endParaRPr/>
          </a:p>
          <a:p>
            <a:pPr indent="-342900" lvl="0" marL="457200" rtl="0" algn="l">
              <a:spcBef>
                <a:spcPts val="0"/>
              </a:spcBef>
              <a:spcAft>
                <a:spcPts val="0"/>
              </a:spcAft>
              <a:buSzPts val="1800"/>
              <a:buAutoNum type="arabicPeriod"/>
            </a:pPr>
            <a:r>
              <a:rPr lang="en"/>
              <a:t>It is possible to obtain the pressure exponent without a pressure sensor using the following relation: </a:t>
            </a:r>
            <a:endParaRPr/>
          </a:p>
        </p:txBody>
      </p:sp>
      <p:pic>
        <p:nvPicPr>
          <p:cNvPr id="85" name="Google Shape;85;p17"/>
          <p:cNvPicPr preferRelativeResize="0"/>
          <p:nvPr/>
        </p:nvPicPr>
        <p:blipFill>
          <a:blip r:embed="rId4">
            <a:alphaModFix/>
          </a:blip>
          <a:stretch>
            <a:fillRect/>
          </a:stretch>
        </p:blipFill>
        <p:spPr>
          <a:xfrm>
            <a:off x="2866925" y="3048600"/>
            <a:ext cx="5847624" cy="1964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Motor Assembly for one grain test</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machining sub-team began and completed assembling the dry solid rocket motor in preparation for a one grain test.</a:t>
            </a:r>
            <a:endParaRPr/>
          </a:p>
        </p:txBody>
      </p:sp>
      <p:pic>
        <p:nvPicPr>
          <p:cNvPr id="92" name="Google Shape;92;p18"/>
          <p:cNvPicPr preferRelativeResize="0"/>
          <p:nvPr/>
        </p:nvPicPr>
        <p:blipFill>
          <a:blip r:embed="rId3">
            <a:alphaModFix/>
          </a:blip>
          <a:stretch>
            <a:fillRect/>
          </a:stretch>
        </p:blipFill>
        <p:spPr>
          <a:xfrm>
            <a:off x="1857725" y="1971875"/>
            <a:ext cx="4616876" cy="2597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272275" y="70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Designed new ignitor circuit casing</a:t>
            </a:r>
            <a:endParaRPr/>
          </a:p>
        </p:txBody>
      </p:sp>
      <p:sp>
        <p:nvSpPr>
          <p:cNvPr id="98" name="Google Shape;98;p19"/>
          <p:cNvSpPr txBox="1"/>
          <p:nvPr>
            <p:ph idx="1" type="body"/>
          </p:nvPr>
        </p:nvSpPr>
        <p:spPr>
          <a:xfrm>
            <a:off x="223000" y="6006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ignitor </a:t>
            </a:r>
            <a:r>
              <a:rPr lang="en"/>
              <a:t>circuit</a:t>
            </a:r>
            <a:r>
              <a:rPr lang="en"/>
              <a:t> i.e. the one used to ignite the nichrome wire to fire the solid rocket motor, needed a new casing </a:t>
            </a:r>
            <a:r>
              <a:rPr lang="en"/>
              <a:t>design</a:t>
            </a:r>
            <a:r>
              <a:rPr lang="en"/>
              <a:t> and the following was the proposed design which is ready for 3D printing as soon as the filament is purchased</a:t>
            </a:r>
            <a:endParaRPr/>
          </a:p>
        </p:txBody>
      </p:sp>
      <p:pic>
        <p:nvPicPr>
          <p:cNvPr id="99" name="Google Shape;99;p19"/>
          <p:cNvPicPr preferRelativeResize="0"/>
          <p:nvPr/>
        </p:nvPicPr>
        <p:blipFill>
          <a:blip r:embed="rId3">
            <a:alphaModFix/>
          </a:blip>
          <a:stretch>
            <a:fillRect/>
          </a:stretch>
        </p:blipFill>
        <p:spPr>
          <a:xfrm>
            <a:off x="957075" y="1758325"/>
            <a:ext cx="6515824" cy="294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28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week's tasks</a:t>
            </a:r>
            <a:endParaRPr/>
          </a:p>
        </p:txBody>
      </p:sp>
      <p:sp>
        <p:nvSpPr>
          <p:cNvPr id="105" name="Google Shape;105;p20"/>
          <p:cNvSpPr txBox="1"/>
          <p:nvPr>
            <p:ph idx="1" type="body"/>
          </p:nvPr>
        </p:nvSpPr>
        <p:spPr>
          <a:xfrm>
            <a:off x="311700" y="80302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lang="en"/>
              <a:t>Pyrogenic ignitor testing</a:t>
            </a:r>
            <a:endParaRPr/>
          </a:p>
          <a:p>
            <a:pPr indent="-342900" lvl="0" marL="457200" rtl="0" algn="l">
              <a:spcBef>
                <a:spcPts val="0"/>
              </a:spcBef>
              <a:spcAft>
                <a:spcPts val="0"/>
              </a:spcAft>
              <a:buSzPts val="1800"/>
              <a:buAutoNum type="arabicPeriod"/>
            </a:pPr>
            <a:r>
              <a:rPr lang="en"/>
              <a:t>Cooking of grains for one grain static test</a:t>
            </a:r>
            <a:endParaRPr/>
          </a:p>
          <a:p>
            <a:pPr indent="-342900" lvl="0" marL="457200" rtl="0" algn="l">
              <a:spcBef>
                <a:spcPts val="0"/>
              </a:spcBef>
              <a:spcAft>
                <a:spcPts val="0"/>
              </a:spcAft>
              <a:buSzPts val="1800"/>
              <a:buAutoNum type="arabicPeriod"/>
            </a:pPr>
            <a:r>
              <a:rPr lang="en"/>
              <a:t>Old grains disposal</a:t>
            </a:r>
            <a:endParaRPr/>
          </a:p>
          <a:p>
            <a:pPr indent="-342900" lvl="0" marL="457200" rtl="0" algn="l">
              <a:spcBef>
                <a:spcPts val="0"/>
              </a:spcBef>
              <a:spcAft>
                <a:spcPts val="0"/>
              </a:spcAft>
              <a:buSzPts val="1800"/>
              <a:buAutoNum type="arabicPeriod"/>
            </a:pPr>
            <a:r>
              <a:rPr lang="en"/>
              <a:t>Liner thickness testing (Burn test)</a:t>
            </a:r>
            <a:endParaRPr/>
          </a:p>
          <a:p>
            <a:pPr indent="-342900" lvl="0" marL="457200" rtl="0" algn="l">
              <a:spcBef>
                <a:spcPts val="0"/>
              </a:spcBef>
              <a:spcAft>
                <a:spcPts val="0"/>
              </a:spcAft>
              <a:buSzPts val="1800"/>
              <a:buAutoNum type="arabicPeriod"/>
            </a:pPr>
            <a:r>
              <a:rPr lang="en"/>
              <a:t>Purchasing of items i.e. Stainless steel casing, crafting paper</a:t>
            </a:r>
            <a:endParaRPr/>
          </a:p>
          <a:p>
            <a:pPr indent="-342900" lvl="0" marL="457200" rtl="0" algn="l">
              <a:spcBef>
                <a:spcPts val="0"/>
              </a:spcBef>
              <a:spcAft>
                <a:spcPts val="0"/>
              </a:spcAft>
              <a:buSzPts val="1800"/>
              <a:buAutoNum type="arabicPeriod"/>
            </a:pPr>
            <a:r>
              <a:rPr lang="en"/>
              <a:t>Motor assembly for one grain test</a:t>
            </a:r>
            <a:endParaRPr/>
          </a:p>
          <a:p>
            <a:pPr indent="-342900" lvl="0" marL="457200" rtl="0" algn="l">
              <a:spcBef>
                <a:spcPts val="0"/>
              </a:spcBef>
              <a:spcAft>
                <a:spcPts val="0"/>
              </a:spcAft>
              <a:buSzPts val="1800"/>
              <a:buAutoNum type="arabicPeriod"/>
            </a:pPr>
            <a:r>
              <a:rPr lang="en"/>
              <a:t>3D print ignition circuit casing</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experienced</a:t>
            </a:r>
            <a:endParaRPr/>
          </a:p>
        </p:txBody>
      </p:sp>
      <p:sp>
        <p:nvSpPr>
          <p:cNvPr id="111" name="Google Shape;111;p21"/>
          <p:cNvSpPr txBox="1"/>
          <p:nvPr>
            <p:ph idx="1" type="body"/>
          </p:nvPr>
        </p:nvSpPr>
        <p:spPr>
          <a:xfrm>
            <a:off x="246175" y="1086950"/>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Delayed</a:t>
            </a:r>
            <a:r>
              <a:rPr lang="en"/>
              <a:t> procurement of items led to stalling of some tasks.</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0"/>
              </a:spcAft>
              <a:buNone/>
            </a:pPr>
            <a:r>
              <a:rPr b="1" lang="en"/>
              <a:t>Supervisors’ note:</a:t>
            </a:r>
            <a:endParaRPr b="1"/>
          </a:p>
          <a:p>
            <a:pPr indent="0" lvl="0" marL="0" rtl="0" algn="l">
              <a:spcBef>
                <a:spcPts val="1200"/>
              </a:spcBef>
              <a:spcAft>
                <a:spcPts val="0"/>
              </a:spcAft>
              <a:buNone/>
            </a:pPr>
            <a:r>
              <a:rPr b="1" lang="en"/>
              <a:t>Visit Solid Propulsion github projects @ </a:t>
            </a:r>
            <a:r>
              <a:rPr b="1" lang="en" u="sng">
                <a:solidFill>
                  <a:schemeClr val="hlink"/>
                </a:solidFill>
                <a:hlinkClick r:id="rId3"/>
              </a:rPr>
              <a:t>https://github.com/orgs/nakujaproject/projects/26</a:t>
            </a:r>
            <a:r>
              <a:rPr b="1" lang="en"/>
              <a:t> to review the tasks done.</a:t>
            </a:r>
            <a:endParaRPr b="1"/>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 for your Attention!</a:t>
            </a:r>
            <a:endParaRPr/>
          </a:p>
        </p:txBody>
      </p:sp>
      <p:pic>
        <p:nvPicPr>
          <p:cNvPr id="117" name="Google Shape;117;p22"/>
          <p:cNvPicPr preferRelativeResize="0"/>
          <p:nvPr/>
        </p:nvPicPr>
        <p:blipFill>
          <a:blip r:embed="rId3">
            <a:alphaModFix/>
          </a:blip>
          <a:stretch>
            <a:fillRect/>
          </a:stretch>
        </p:blipFill>
        <p:spPr>
          <a:xfrm>
            <a:off x="1450448" y="1017725"/>
            <a:ext cx="5782625" cy="3854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