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18" roundtripDataSignature="AMtx7miBuYH+kx49mxSdjhiSlsp1Y6Fch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6" Type="http://schemas.openxmlformats.org/officeDocument/2006/relationships/slide" Target="slides/slide1.xml"/><Relationship Id="rId18" Type="http://customschemas.google.com/relationships/presentationmetadata" Target="meta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 name="Google Shape;52;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9" name="Google Shape;59;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5" name="Google Shape;65;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4" name="Google Shape;74;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0" name="Google Shape;80;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7" name="Google Shape;87;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1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3f3ae6e77ca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3f3ae6e77ca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2" name="Google Shape;112;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8" name="Google Shape;118;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3: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14: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16"/>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1" name="Google Shape;11;p16"/>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 name="Shape 13"/>
        <p:cNvGrpSpPr/>
        <p:nvPr/>
      </p:nvGrpSpPr>
      <p:grpSpPr>
        <a:xfrm>
          <a:off x="0" y="0"/>
          <a:ext cx="0" cy="0"/>
          <a:chOff x="0" y="0"/>
          <a:chExt cx="0" cy="0"/>
        </a:xfrm>
      </p:grpSpPr>
      <p:sp>
        <p:nvSpPr>
          <p:cNvPr id="14" name="Google Shape;14;p1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5" name="Google Shape;15;p1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6" name="Google Shape;16;p1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18"/>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9" name="Google Shape;19;p1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1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2" name="Google Shape;22;p19"/>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3" name="Google Shape;23;p19"/>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4" name="Google Shape;24;p1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2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7" name="Google Shape;27;p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21"/>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0" name="Google Shape;30;p21"/>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1" name="Google Shape;31;p2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22"/>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4" name="Google Shape;34;p2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23"/>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23"/>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8" name="Google Shape;38;p23"/>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23"/>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0" name="Google Shape;40;p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24"/>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43" name="Google Shape;43;p2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25"/>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25"/>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47" name="Google Shape;47;p2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2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1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1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9.png"/><Relationship Id="rId4" Type="http://schemas.openxmlformats.org/officeDocument/2006/relationships/image" Target="../media/image1.jpg"/><Relationship Id="rId5" Type="http://schemas.openxmlformats.org/officeDocument/2006/relationships/image" Target="../media/image7.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hyperlink" Target="http://drive.google.com/file/d/1UrinT76GhRR4bcC651OjXlpTvsN3jfSh/view" TargetMode="External"/><Relationship Id="rId4" Type="http://schemas.openxmlformats.org/officeDocument/2006/relationships/image" Target="../media/image12.jpg"/><Relationship Id="rId5" Type="http://schemas.openxmlformats.org/officeDocument/2006/relationships/image" Target="../media/image3.png"/><Relationship Id="rId6"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0.png"/><Relationship Id="rId4" Type="http://schemas.openxmlformats.org/officeDocument/2006/relationships/hyperlink" Target="http://drive.google.com/file/d/1e1ef1215lrHgGstLTmkN-tzPpJPcX6Bb/view" TargetMode="External"/><Relationship Id="rId5" Type="http://schemas.openxmlformats.org/officeDocument/2006/relationships/image" Target="../media/image2.jpg"/><Relationship Id="rId6"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hyperlink" Target="https://github.com/orgs/nakujaproject/projects/26"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
          <p:cNvSpPr txBox="1"/>
          <p:nvPr>
            <p:ph type="ctrTitle"/>
          </p:nvPr>
        </p:nvSpPr>
        <p:spPr>
          <a:xfrm>
            <a:off x="366308" y="1545450"/>
            <a:ext cx="8520600" cy="2052600"/>
          </a:xfrm>
          <a:prstGeom prst="rect">
            <a:avLst/>
          </a:prstGeom>
          <a:noFill/>
          <a:ln>
            <a:noFill/>
          </a:ln>
        </p:spPr>
        <p:txBody>
          <a:bodyPr anchorCtr="0" anchor="b" bIns="91425" lIns="91425" spcFirstLastPara="1" rIns="91425" wrap="square" tIns="91425">
            <a:normAutofit fontScale="90000"/>
          </a:bodyPr>
          <a:lstStyle/>
          <a:p>
            <a:pPr indent="0" lvl="0" marL="0" rtl="0" algn="ctr">
              <a:lnSpc>
                <a:spcPct val="100000"/>
              </a:lnSpc>
              <a:spcBef>
                <a:spcPts val="0"/>
              </a:spcBef>
              <a:spcAft>
                <a:spcPts val="0"/>
              </a:spcAft>
              <a:buSzPct val="111111"/>
              <a:buNone/>
            </a:pPr>
            <a:r>
              <a:rPr lang="en"/>
              <a:t>Nakuja Internship 2026</a:t>
            </a:r>
            <a:endParaRPr/>
          </a:p>
          <a:p>
            <a:pPr indent="0" lvl="0" marL="0" rtl="0" algn="ctr">
              <a:lnSpc>
                <a:spcPct val="100000"/>
              </a:lnSpc>
              <a:spcBef>
                <a:spcPts val="0"/>
              </a:spcBef>
              <a:spcAft>
                <a:spcPts val="0"/>
              </a:spcAft>
              <a:buSzPct val="111111"/>
              <a:buNone/>
            </a:pPr>
            <a:r>
              <a:rPr lang="en"/>
              <a:t>Solid Propulsion Team</a:t>
            </a:r>
            <a:endParaRPr/>
          </a:p>
          <a:p>
            <a:pPr indent="0" lvl="0" marL="0" rtl="0" algn="ctr">
              <a:lnSpc>
                <a:spcPct val="100000"/>
              </a:lnSpc>
              <a:spcBef>
                <a:spcPts val="0"/>
              </a:spcBef>
              <a:spcAft>
                <a:spcPts val="0"/>
              </a:spcAft>
              <a:buSzPct val="111111"/>
              <a:buNone/>
            </a:pPr>
            <a:r>
              <a:rPr lang="en"/>
              <a:t> Weekly report #5</a:t>
            </a:r>
            <a:endParaRPr/>
          </a:p>
          <a:p>
            <a:pPr indent="0" lvl="0" marL="0" rtl="0" algn="ctr">
              <a:lnSpc>
                <a:spcPct val="100000"/>
              </a:lnSpc>
              <a:spcBef>
                <a:spcPts val="0"/>
              </a:spcBef>
              <a:spcAft>
                <a:spcPts val="0"/>
              </a:spcAft>
              <a:buSzPct val="111111"/>
              <a:buNone/>
            </a:pPr>
            <a:r>
              <a:t/>
            </a:r>
            <a:endParaRPr/>
          </a:p>
        </p:txBody>
      </p:sp>
      <p:sp>
        <p:nvSpPr>
          <p:cNvPr id="55" name="Google Shape;55;p1"/>
          <p:cNvSpPr txBox="1"/>
          <p:nvPr>
            <p:ph idx="1" type="subTitle"/>
          </p:nvPr>
        </p:nvSpPr>
        <p:spPr>
          <a:xfrm>
            <a:off x="366300" y="3412900"/>
            <a:ext cx="8520600" cy="792600"/>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2800"/>
              <a:buNone/>
            </a:pPr>
            <a:r>
              <a:rPr lang="en"/>
              <a:t>Presented by: Collins Kinyua</a:t>
            </a:r>
            <a:endParaRPr/>
          </a:p>
        </p:txBody>
      </p:sp>
      <p:sp>
        <p:nvSpPr>
          <p:cNvPr id="56" name="Google Shape;56;p1"/>
          <p:cNvSpPr txBox="1"/>
          <p:nvPr/>
        </p:nvSpPr>
        <p:spPr>
          <a:xfrm>
            <a:off x="3504900" y="4309225"/>
            <a:ext cx="2134200" cy="4641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chemeClr val="dk2"/>
                </a:solidFill>
                <a:latin typeface="Arial"/>
                <a:ea typeface="Arial"/>
                <a:cs typeface="Arial"/>
                <a:sym typeface="Arial"/>
              </a:rPr>
              <a:t>July 17, 2026</a:t>
            </a:r>
            <a:endParaRPr b="0" i="0" sz="1800" u="none" cap="none" strike="noStrike">
              <a:solidFill>
                <a:schemeClr val="dk2"/>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Tasks completed this week</a:t>
            </a:r>
            <a:endParaRPr/>
          </a:p>
        </p:txBody>
      </p:sp>
      <p:sp>
        <p:nvSpPr>
          <p:cNvPr id="62" name="Google Shape;62;p2"/>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Font typeface="Arial"/>
              <a:buAutoNum type="arabicPeriod"/>
            </a:pPr>
            <a:r>
              <a:rPr lang="en"/>
              <a:t>Cooking of grains for one grain static test (addition of surfactant &amp; suppressant)</a:t>
            </a:r>
            <a:endParaRPr/>
          </a:p>
          <a:p>
            <a:pPr indent="-342900" lvl="0" marL="457200" rtl="0" algn="l">
              <a:lnSpc>
                <a:spcPct val="115000"/>
              </a:lnSpc>
              <a:spcBef>
                <a:spcPts val="0"/>
              </a:spcBef>
              <a:spcAft>
                <a:spcPts val="0"/>
              </a:spcAft>
              <a:buSzPts val="1800"/>
              <a:buFont typeface="Arial"/>
              <a:buAutoNum type="arabicPeriod"/>
            </a:pPr>
            <a:r>
              <a:rPr lang="en"/>
              <a:t>Pyrogenic ignitor cooking and testing</a:t>
            </a:r>
            <a:endParaRPr/>
          </a:p>
          <a:p>
            <a:pPr indent="-342900" lvl="0" marL="457200" rtl="0" algn="l">
              <a:lnSpc>
                <a:spcPct val="115000"/>
              </a:lnSpc>
              <a:spcBef>
                <a:spcPts val="0"/>
              </a:spcBef>
              <a:spcAft>
                <a:spcPts val="0"/>
              </a:spcAft>
              <a:buSzPts val="1800"/>
              <a:buFont typeface="Arial"/>
              <a:buAutoNum type="arabicPeriod"/>
            </a:pPr>
            <a:r>
              <a:rPr lang="en"/>
              <a:t>Purchasing of items i.e. Stainless steel casing, crafting paper</a:t>
            </a:r>
            <a:endParaRPr/>
          </a:p>
          <a:p>
            <a:pPr indent="-342900" lvl="0" marL="457200" rtl="0" algn="l">
              <a:lnSpc>
                <a:spcPct val="115000"/>
              </a:lnSpc>
              <a:spcBef>
                <a:spcPts val="0"/>
              </a:spcBef>
              <a:spcAft>
                <a:spcPts val="0"/>
              </a:spcAft>
              <a:buSzPts val="1800"/>
              <a:buFont typeface="Arial"/>
              <a:buAutoNum type="arabicPeriod"/>
            </a:pPr>
            <a:r>
              <a:rPr lang="en"/>
              <a:t>Design and fabrication of new igniter circuit</a:t>
            </a:r>
            <a:endParaRPr/>
          </a:p>
          <a:p>
            <a:pPr indent="-342900" lvl="0" marL="457200" rtl="0" algn="l">
              <a:lnSpc>
                <a:spcPct val="115000"/>
              </a:lnSpc>
              <a:spcBef>
                <a:spcPts val="0"/>
              </a:spcBef>
              <a:spcAft>
                <a:spcPts val="0"/>
              </a:spcAft>
              <a:buSzPts val="1800"/>
              <a:buFont typeface="Arial"/>
              <a:buAutoNum type="arabicPeriod"/>
            </a:pPr>
            <a:r>
              <a:rPr lang="en"/>
              <a:t>One grain static fire test</a:t>
            </a:r>
            <a:endParaRPr/>
          </a:p>
          <a:p>
            <a:pPr indent="0" lvl="0" marL="457200" rtl="0" algn="l">
              <a:lnSpc>
                <a:spcPct val="115000"/>
              </a:lnSpc>
              <a:spcBef>
                <a:spcPts val="1200"/>
              </a:spcBef>
              <a:spcAft>
                <a:spcPts val="1200"/>
              </a:spcAft>
              <a:buSzPts val="1800"/>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3"/>
          <p:cNvSpPr txBox="1"/>
          <p:nvPr>
            <p:ph type="title"/>
          </p:nvPr>
        </p:nvSpPr>
        <p:spPr>
          <a:xfrm>
            <a:off x="58939" y="80752"/>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1. Cooking of grain for static test – Addition of surfactant</a:t>
            </a:r>
            <a:endParaRPr/>
          </a:p>
        </p:txBody>
      </p:sp>
      <p:sp>
        <p:nvSpPr>
          <p:cNvPr id="68" name="Google Shape;68;p3"/>
          <p:cNvSpPr txBox="1"/>
          <p:nvPr>
            <p:ph idx="1" type="body"/>
          </p:nvPr>
        </p:nvSpPr>
        <p:spPr>
          <a:xfrm>
            <a:off x="148149" y="675937"/>
            <a:ext cx="8824866" cy="3174952"/>
          </a:xfrm>
          <a:prstGeom prst="rect">
            <a:avLst/>
          </a:prstGeom>
          <a:noFill/>
          <a:ln>
            <a:noFill/>
          </a:ln>
        </p:spPr>
        <p:txBody>
          <a:bodyPr anchorCtr="0" anchor="t" bIns="91425" lIns="91425" spcFirstLastPara="1" rIns="91425" wrap="square" tIns="91425">
            <a:normAutofit fontScale="92500" lnSpcReduction="20000"/>
          </a:bodyPr>
          <a:lstStyle/>
          <a:p>
            <a:pPr indent="0" lvl="0" marL="0" rtl="0" algn="l">
              <a:lnSpc>
                <a:spcPct val="115000"/>
              </a:lnSpc>
              <a:spcBef>
                <a:spcPts val="1200"/>
              </a:spcBef>
              <a:spcAft>
                <a:spcPts val="0"/>
              </a:spcAft>
              <a:buSzPct val="100000"/>
              <a:buNone/>
            </a:pPr>
            <a:r>
              <a:rPr lang="en"/>
              <a:t>Purpose: This grain contained ~1.8% of Sodium Laureth Sulphate (SLES) which is used as a surfactant i.e. it lowers the surface tension between the fuel (Sorbitol) and oxidizer (KNO3) which improved castability and removed air bubbles.</a:t>
            </a:r>
            <a:endParaRPr/>
          </a:p>
          <a:p>
            <a:pPr indent="0" lvl="0" marL="0" rtl="0" algn="l">
              <a:lnSpc>
                <a:spcPct val="115000"/>
              </a:lnSpc>
              <a:spcBef>
                <a:spcPts val="2400"/>
              </a:spcBef>
              <a:spcAft>
                <a:spcPts val="0"/>
              </a:spcAft>
              <a:buSzPct val="89276"/>
              <a:buNone/>
            </a:pPr>
            <a:r>
              <a:rPr b="1" lang="en" sz="2016"/>
              <a:t>Major breakthrough</a:t>
            </a:r>
            <a:r>
              <a:rPr lang="en"/>
              <a:t>: We were able to </a:t>
            </a:r>
            <a:r>
              <a:rPr b="1" lang="en">
                <a:solidFill>
                  <a:srgbClr val="FF0000"/>
                </a:solidFill>
              </a:rPr>
              <a:t>mitigate voids</a:t>
            </a:r>
            <a:r>
              <a:rPr lang="en"/>
              <a:t> and </a:t>
            </a:r>
            <a:r>
              <a:rPr b="1" lang="en">
                <a:solidFill>
                  <a:srgbClr val="0000FF"/>
                </a:solidFill>
              </a:rPr>
              <a:t>air bubbles</a:t>
            </a:r>
            <a:r>
              <a:rPr lang="en"/>
              <a:t> within the grains</a:t>
            </a:r>
            <a:endParaRPr/>
          </a:p>
          <a:p>
            <a:pPr indent="0" lvl="0" marL="0" rtl="0" algn="l">
              <a:lnSpc>
                <a:spcPct val="115000"/>
              </a:lnSpc>
              <a:spcBef>
                <a:spcPts val="2400"/>
              </a:spcBef>
              <a:spcAft>
                <a:spcPts val="0"/>
              </a:spcAft>
              <a:buSzPct val="100000"/>
              <a:buNone/>
            </a:pPr>
            <a:r>
              <a:rPr lang="en"/>
              <a:t>Grain during cooking:                              Grain after curing:                       Grain core:</a:t>
            </a:r>
            <a:endParaRPr/>
          </a:p>
          <a:p>
            <a:pPr indent="0" lvl="0" marL="0" rtl="0" algn="l">
              <a:lnSpc>
                <a:spcPct val="115000"/>
              </a:lnSpc>
              <a:spcBef>
                <a:spcPts val="2400"/>
              </a:spcBef>
              <a:spcAft>
                <a:spcPts val="0"/>
              </a:spcAft>
              <a:buSzPct val="100000"/>
              <a:buNone/>
            </a:pPr>
            <a:r>
              <a:t/>
            </a:r>
            <a:endParaRPr/>
          </a:p>
          <a:p>
            <a:pPr indent="0" lvl="0" marL="0" rtl="0" algn="l">
              <a:lnSpc>
                <a:spcPct val="115000"/>
              </a:lnSpc>
              <a:spcBef>
                <a:spcPts val="2400"/>
              </a:spcBef>
              <a:spcAft>
                <a:spcPts val="1200"/>
              </a:spcAft>
              <a:buSzPct val="100000"/>
              <a:buNone/>
            </a:pPr>
            <a:r>
              <a:t/>
            </a:r>
            <a:endParaRPr/>
          </a:p>
        </p:txBody>
      </p:sp>
      <p:pic>
        <p:nvPicPr>
          <p:cNvPr id="69" name="Google Shape;69;p3"/>
          <p:cNvPicPr preferRelativeResize="0"/>
          <p:nvPr/>
        </p:nvPicPr>
        <p:blipFill rotWithShape="1">
          <a:blip r:embed="rId3">
            <a:alphaModFix/>
          </a:blip>
          <a:srcRect b="0" l="0" r="0" t="0"/>
          <a:stretch/>
        </p:blipFill>
        <p:spPr>
          <a:xfrm>
            <a:off x="810322" y="3054889"/>
            <a:ext cx="1287410" cy="1961944"/>
          </a:xfrm>
          <a:prstGeom prst="rect">
            <a:avLst/>
          </a:prstGeom>
          <a:noFill/>
          <a:ln>
            <a:noFill/>
          </a:ln>
        </p:spPr>
      </p:pic>
      <p:pic>
        <p:nvPicPr>
          <p:cNvPr id="70" name="Google Shape;70;p3"/>
          <p:cNvPicPr preferRelativeResize="0"/>
          <p:nvPr/>
        </p:nvPicPr>
        <p:blipFill rotWithShape="1">
          <a:blip r:embed="rId4">
            <a:alphaModFix/>
          </a:blip>
          <a:srcRect b="0" l="0" r="0" t="0"/>
          <a:stretch/>
        </p:blipFill>
        <p:spPr>
          <a:xfrm>
            <a:off x="4036446" y="3092606"/>
            <a:ext cx="1443170" cy="1924227"/>
          </a:xfrm>
          <a:prstGeom prst="rect">
            <a:avLst/>
          </a:prstGeom>
          <a:noFill/>
          <a:ln>
            <a:noFill/>
          </a:ln>
        </p:spPr>
      </p:pic>
      <p:pic>
        <p:nvPicPr>
          <p:cNvPr id="71" name="Google Shape;71;p3"/>
          <p:cNvPicPr preferRelativeResize="0"/>
          <p:nvPr/>
        </p:nvPicPr>
        <p:blipFill rotWithShape="1">
          <a:blip r:embed="rId5">
            <a:alphaModFix/>
          </a:blip>
          <a:srcRect b="0" l="0" r="0" t="0"/>
          <a:stretch/>
        </p:blipFill>
        <p:spPr>
          <a:xfrm>
            <a:off x="7225990" y="3043696"/>
            <a:ext cx="1479853" cy="1973137"/>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p4"/>
          <p:cNvSpPr txBox="1"/>
          <p:nvPr>
            <p:ph type="title"/>
          </p:nvPr>
        </p:nvSpPr>
        <p:spPr>
          <a:xfrm>
            <a:off x="311700" y="51900"/>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2. Cooking of pyrogenic igniter and testing</a:t>
            </a:r>
            <a:endParaRPr/>
          </a:p>
        </p:txBody>
      </p:sp>
      <p:sp>
        <p:nvSpPr>
          <p:cNvPr id="77" name="Google Shape;77;p4"/>
          <p:cNvSpPr txBox="1"/>
          <p:nvPr>
            <p:ph idx="1" type="body"/>
          </p:nvPr>
        </p:nvSpPr>
        <p:spPr>
          <a:xfrm>
            <a:off x="113300" y="624600"/>
            <a:ext cx="8718900" cy="45189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1200"/>
              </a:spcBef>
              <a:spcAft>
                <a:spcPts val="0"/>
              </a:spcAft>
              <a:buSzPts val="1800"/>
              <a:buNone/>
            </a:pPr>
            <a:r>
              <a:rPr lang="en"/>
              <a:t>Purpose: This ignitor contained a new cooking method in an attempt to increase the burn rate of the ignitor by using black powder in the middle section of the ignitor and  as our main pyrogen to generate required temperature and pressure while the KNSB is used as the binder.</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6"/>
          <p:cNvSpPr txBox="1"/>
          <p:nvPr>
            <p:ph type="title"/>
          </p:nvPr>
        </p:nvSpPr>
        <p:spPr>
          <a:xfrm>
            <a:off x="224350" y="0"/>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3. Purchasing of items i.e. Stainless steel casing &amp; craft paper</a:t>
            </a:r>
            <a:endParaRPr/>
          </a:p>
        </p:txBody>
      </p:sp>
      <p:sp>
        <p:nvSpPr>
          <p:cNvPr id="83" name="Google Shape;83;p6"/>
          <p:cNvSpPr txBox="1"/>
          <p:nvPr>
            <p:ph idx="1" type="body"/>
          </p:nvPr>
        </p:nvSpPr>
        <p:spPr>
          <a:xfrm>
            <a:off x="224350" y="974151"/>
            <a:ext cx="8665200" cy="3929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n"/>
              <a:t>Purpose: This was done in preparation for the five grain test, the Stainless Steel </a:t>
            </a:r>
            <a:r>
              <a:rPr lang="en"/>
              <a:t>G 304</a:t>
            </a:r>
            <a:r>
              <a:rPr lang="en"/>
              <a:t> schedule 10 round tube will be used as the casing while the craft paper will be used as ablative liner.</a:t>
            </a:r>
            <a:endParaRPr/>
          </a:p>
          <a:p>
            <a:pPr indent="0" lvl="0" marL="0" rtl="0" algn="l">
              <a:lnSpc>
                <a:spcPct val="115000"/>
              </a:lnSpc>
              <a:spcBef>
                <a:spcPts val="0"/>
              </a:spcBef>
              <a:spcAft>
                <a:spcPts val="0"/>
              </a:spcAft>
              <a:buSzPts val="1800"/>
              <a:buNone/>
            </a:pPr>
            <a:r>
              <a:t/>
            </a:r>
            <a:endParaRPr/>
          </a:p>
        </p:txBody>
      </p:sp>
      <p:pic>
        <p:nvPicPr>
          <p:cNvPr id="84" name="Google Shape;84;p6"/>
          <p:cNvPicPr preferRelativeResize="0"/>
          <p:nvPr/>
        </p:nvPicPr>
        <p:blipFill>
          <a:blip r:embed="rId3">
            <a:alphaModFix/>
          </a:blip>
          <a:stretch>
            <a:fillRect/>
          </a:stretch>
        </p:blipFill>
        <p:spPr>
          <a:xfrm>
            <a:off x="733700" y="2147025"/>
            <a:ext cx="3675347" cy="27565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8"/>
          <p:cNvSpPr txBox="1"/>
          <p:nvPr>
            <p:ph type="title"/>
          </p:nvPr>
        </p:nvSpPr>
        <p:spPr>
          <a:xfrm>
            <a:off x="88676" y="1402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4. Design and fabrication of new trigger circuit</a:t>
            </a:r>
            <a:endParaRPr/>
          </a:p>
        </p:txBody>
      </p:sp>
      <p:sp>
        <p:nvSpPr>
          <p:cNvPr id="90" name="Google Shape;90;p8"/>
          <p:cNvSpPr txBox="1"/>
          <p:nvPr>
            <p:ph idx="1" type="body"/>
          </p:nvPr>
        </p:nvSpPr>
        <p:spPr>
          <a:xfrm>
            <a:off x="252227" y="788201"/>
            <a:ext cx="8661314" cy="4029125"/>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n"/>
              <a:t>Problem statement: During last weeks’ (10/07) dry run and static test, the igniter circuit proved to be unreliable as  we experienced various faults i.e. Miss-fire, incorrect data from load cell, short circuit that destroyed a mosfet.</a:t>
            </a:r>
            <a:endParaRPr/>
          </a:p>
          <a:p>
            <a:pPr indent="0" lvl="0" marL="0" rtl="0" algn="l">
              <a:lnSpc>
                <a:spcPct val="115000"/>
              </a:lnSpc>
              <a:spcBef>
                <a:spcPts val="0"/>
              </a:spcBef>
              <a:spcAft>
                <a:spcPts val="0"/>
              </a:spcAft>
              <a:buSzPts val="1800"/>
              <a:buNone/>
            </a:pPr>
            <a:r>
              <a:rPr lang="en"/>
              <a:t>Due to this challenges, the ignition circuit sub-team decided to fabricate a new pcb which to improve on reliability.</a:t>
            </a:r>
            <a:endParaRPr/>
          </a:p>
          <a:p>
            <a:pPr indent="0" lvl="0" marL="0" rtl="0" algn="l">
              <a:lnSpc>
                <a:spcPct val="115000"/>
              </a:lnSpc>
              <a:spcBef>
                <a:spcPts val="0"/>
              </a:spcBef>
              <a:spcAft>
                <a:spcPts val="0"/>
              </a:spcAft>
              <a:buSzPts val="1800"/>
              <a:buNone/>
            </a:pPr>
            <a:r>
              <a:t/>
            </a:r>
            <a:endParaRPr/>
          </a:p>
          <a:p>
            <a:pPr indent="0" lvl="0" marL="0" rtl="0" algn="l">
              <a:lnSpc>
                <a:spcPct val="115000"/>
              </a:lnSpc>
              <a:spcBef>
                <a:spcPts val="0"/>
              </a:spcBef>
              <a:spcAft>
                <a:spcPts val="0"/>
              </a:spcAft>
              <a:buSzPts val="1800"/>
              <a:buNone/>
            </a:pPr>
            <a:r>
              <a:rPr lang="en"/>
              <a:t>Result:</a:t>
            </a:r>
            <a:endParaRPr/>
          </a:p>
        </p:txBody>
      </p:sp>
      <p:pic>
        <p:nvPicPr>
          <p:cNvPr id="91" name="Google Shape;91;p8"/>
          <p:cNvPicPr preferRelativeResize="0"/>
          <p:nvPr/>
        </p:nvPicPr>
        <p:blipFill>
          <a:blip r:embed="rId3">
            <a:alphaModFix/>
          </a:blip>
          <a:stretch>
            <a:fillRect/>
          </a:stretch>
        </p:blipFill>
        <p:spPr>
          <a:xfrm>
            <a:off x="2584575" y="2509775"/>
            <a:ext cx="3301200" cy="24759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0"/>
          <p:cNvSpPr txBox="1"/>
          <p:nvPr>
            <p:ph type="title"/>
          </p:nvPr>
        </p:nvSpPr>
        <p:spPr>
          <a:xfrm>
            <a:off x="0" y="0"/>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5. One grain static test #1</a:t>
            </a:r>
            <a:endParaRPr/>
          </a:p>
        </p:txBody>
      </p:sp>
      <p:sp>
        <p:nvSpPr>
          <p:cNvPr id="97" name="Google Shape;97;p10"/>
          <p:cNvSpPr txBox="1"/>
          <p:nvPr>
            <p:ph idx="1" type="body"/>
          </p:nvPr>
        </p:nvSpPr>
        <p:spPr>
          <a:xfrm>
            <a:off x="0" y="646949"/>
            <a:ext cx="8963400" cy="43155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n"/>
              <a:t>Purpose: This test was done as a control variable using the current grain preparation methods and the data will be compared against subsequent tests.</a:t>
            </a:r>
            <a:endParaRPr/>
          </a:p>
          <a:p>
            <a:pPr indent="0" lvl="0" marL="0" rtl="0" algn="l">
              <a:lnSpc>
                <a:spcPct val="115000"/>
              </a:lnSpc>
              <a:spcBef>
                <a:spcPts val="0"/>
              </a:spcBef>
              <a:spcAft>
                <a:spcPts val="0"/>
              </a:spcAft>
              <a:buSzPts val="1800"/>
              <a:buNone/>
            </a:pPr>
            <a:r>
              <a:rPr lang="en"/>
              <a:t>Video footage:                                                            Thrust curve comparison:</a:t>
            </a:r>
            <a:endParaRPr/>
          </a:p>
          <a:p>
            <a:pPr indent="0" lvl="0" marL="228600" rtl="0" algn="l">
              <a:lnSpc>
                <a:spcPct val="115000"/>
              </a:lnSpc>
              <a:spcBef>
                <a:spcPts val="0"/>
              </a:spcBef>
              <a:spcAft>
                <a:spcPts val="0"/>
              </a:spcAft>
              <a:buSzPts val="1800"/>
              <a:buNone/>
            </a:pPr>
            <a:r>
              <a:t/>
            </a:r>
            <a:endParaRPr/>
          </a:p>
          <a:p>
            <a:pPr indent="0" lvl="0" marL="0" rtl="0" algn="l">
              <a:lnSpc>
                <a:spcPct val="115000"/>
              </a:lnSpc>
              <a:spcBef>
                <a:spcPts val="0"/>
              </a:spcBef>
              <a:spcAft>
                <a:spcPts val="0"/>
              </a:spcAft>
              <a:buSzPts val="1800"/>
              <a:buNone/>
            </a:pPr>
            <a:r>
              <a:t/>
            </a:r>
            <a:endParaRPr/>
          </a:p>
          <a:p>
            <a:pPr indent="0" lvl="0" marL="228600" rtl="0" algn="l">
              <a:lnSpc>
                <a:spcPct val="115000"/>
              </a:lnSpc>
              <a:spcBef>
                <a:spcPts val="0"/>
              </a:spcBef>
              <a:spcAft>
                <a:spcPts val="0"/>
              </a:spcAft>
              <a:buSzPts val="1800"/>
              <a:buNone/>
            </a:pPr>
            <a:r>
              <a:t/>
            </a:r>
            <a:endParaRPr/>
          </a:p>
        </p:txBody>
      </p:sp>
      <p:pic>
        <p:nvPicPr>
          <p:cNvPr id="98" name="Google Shape;98;p10" title="WhatsApp Video 2026-07-17 at 07.57.34.mp4">
            <a:hlinkClick r:id="rId3"/>
          </p:cNvPr>
          <p:cNvPicPr preferRelativeResize="0"/>
          <p:nvPr/>
        </p:nvPicPr>
        <p:blipFill>
          <a:blip r:embed="rId4">
            <a:alphaModFix/>
          </a:blip>
          <a:stretch>
            <a:fillRect/>
          </a:stretch>
        </p:blipFill>
        <p:spPr>
          <a:xfrm>
            <a:off x="89250" y="1790275"/>
            <a:ext cx="4334024" cy="2453233"/>
          </a:xfrm>
          <a:prstGeom prst="rect">
            <a:avLst/>
          </a:prstGeom>
          <a:noFill/>
          <a:ln>
            <a:noFill/>
          </a:ln>
        </p:spPr>
      </p:pic>
      <p:pic>
        <p:nvPicPr>
          <p:cNvPr id="99" name="Google Shape;99;p10"/>
          <p:cNvPicPr preferRelativeResize="0"/>
          <p:nvPr/>
        </p:nvPicPr>
        <p:blipFill>
          <a:blip r:embed="rId5">
            <a:alphaModFix/>
          </a:blip>
          <a:stretch>
            <a:fillRect/>
          </a:stretch>
        </p:blipFill>
        <p:spPr>
          <a:xfrm>
            <a:off x="4467400" y="1790263"/>
            <a:ext cx="4496000" cy="1858101"/>
          </a:xfrm>
          <a:prstGeom prst="rect">
            <a:avLst/>
          </a:prstGeom>
          <a:noFill/>
          <a:ln>
            <a:noFill/>
          </a:ln>
        </p:spPr>
      </p:pic>
      <p:pic>
        <p:nvPicPr>
          <p:cNvPr id="100" name="Google Shape;100;p10"/>
          <p:cNvPicPr preferRelativeResize="0"/>
          <p:nvPr/>
        </p:nvPicPr>
        <p:blipFill>
          <a:blip r:embed="rId6">
            <a:alphaModFix/>
          </a:blip>
          <a:stretch>
            <a:fillRect/>
          </a:stretch>
        </p:blipFill>
        <p:spPr>
          <a:xfrm>
            <a:off x="5574150" y="3778346"/>
            <a:ext cx="2282500" cy="13016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8"/>
                                        </p:tgtEl>
                                        <p:attrNameLst>
                                          <p:attrName>style.visibility</p:attrName>
                                        </p:attrNameLst>
                                      </p:cBhvr>
                                      <p:to>
                                        <p:strVal val="visible"/>
                                      </p:to>
                                    </p:set>
                                    <p:animEffect filter="fade" transition="in">
                                      <p:cBhvr>
                                        <p:cTn dur="1000"/>
                                        <p:tgtEl>
                                          <p:spTgt spid="9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g3f3ae6e77ca_0_5"/>
          <p:cNvSpPr txBox="1"/>
          <p:nvPr>
            <p:ph type="title"/>
          </p:nvPr>
        </p:nvSpPr>
        <p:spPr>
          <a:xfrm>
            <a:off x="56200" y="895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6. One grain test #2</a:t>
            </a:r>
            <a:endParaRPr/>
          </a:p>
        </p:txBody>
      </p:sp>
      <p:sp>
        <p:nvSpPr>
          <p:cNvPr id="106" name="Google Shape;106;g3f3ae6e77ca_0_5"/>
          <p:cNvSpPr txBox="1"/>
          <p:nvPr>
            <p:ph idx="1" type="body"/>
          </p:nvPr>
        </p:nvSpPr>
        <p:spPr>
          <a:xfrm>
            <a:off x="56200" y="73032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Purpose: This test was done with a propellant grain with an altered Oxidiser to Fuel ratio of 60:40 as opposed to the standard 65:35, which means that the propellant is fuel rich which should correspond to a lower thrust output. This was done in an attempt to lower the thrust output.</a:t>
            </a:r>
            <a:endParaRPr/>
          </a:p>
          <a:p>
            <a:pPr indent="0" lvl="0" marL="0" rtl="0" algn="l">
              <a:spcBef>
                <a:spcPts val="0"/>
              </a:spcBef>
              <a:spcAft>
                <a:spcPts val="0"/>
              </a:spcAft>
              <a:buNone/>
            </a:pPr>
            <a:r>
              <a:rPr lang="en"/>
              <a:t>Video footage:                                                    Thrust curve:</a:t>
            </a:r>
            <a:endParaRPr/>
          </a:p>
        </p:txBody>
      </p:sp>
      <p:pic>
        <p:nvPicPr>
          <p:cNvPr id="107" name="Google Shape;107;g3f3ae6e77ca_0_5"/>
          <p:cNvPicPr preferRelativeResize="0"/>
          <p:nvPr/>
        </p:nvPicPr>
        <p:blipFill rotWithShape="1">
          <a:blip r:embed="rId3">
            <a:alphaModFix/>
          </a:blip>
          <a:srcRect b="0" l="7244" r="0" t="12011"/>
          <a:stretch/>
        </p:blipFill>
        <p:spPr>
          <a:xfrm>
            <a:off x="4873300" y="2359825"/>
            <a:ext cx="3649800" cy="2089624"/>
          </a:xfrm>
          <a:prstGeom prst="rect">
            <a:avLst/>
          </a:prstGeom>
          <a:noFill/>
          <a:ln>
            <a:noFill/>
          </a:ln>
        </p:spPr>
      </p:pic>
      <p:pic>
        <p:nvPicPr>
          <p:cNvPr id="108" name="Google Shape;108;g3f3ae6e77ca_0_5" title="WhatsApp Video 2026-07-17 at 13.20.06.mp4">
            <a:hlinkClick r:id="rId4"/>
          </p:cNvPr>
          <p:cNvPicPr preferRelativeResize="0"/>
          <p:nvPr/>
        </p:nvPicPr>
        <p:blipFill>
          <a:blip r:embed="rId5">
            <a:alphaModFix/>
          </a:blip>
          <a:stretch>
            <a:fillRect/>
          </a:stretch>
        </p:blipFill>
        <p:spPr>
          <a:xfrm>
            <a:off x="213175" y="2359825"/>
            <a:ext cx="4221925" cy="2379803"/>
          </a:xfrm>
          <a:prstGeom prst="rect">
            <a:avLst/>
          </a:prstGeom>
          <a:noFill/>
          <a:ln>
            <a:noFill/>
          </a:ln>
        </p:spPr>
      </p:pic>
      <p:pic>
        <p:nvPicPr>
          <p:cNvPr id="109" name="Google Shape;109;g3f3ae6e77ca_0_5"/>
          <p:cNvPicPr preferRelativeResize="0"/>
          <p:nvPr/>
        </p:nvPicPr>
        <p:blipFill>
          <a:blip r:embed="rId6">
            <a:alphaModFix/>
          </a:blip>
          <a:stretch>
            <a:fillRect/>
          </a:stretch>
        </p:blipFill>
        <p:spPr>
          <a:xfrm>
            <a:off x="4435099" y="4570800"/>
            <a:ext cx="4708900" cy="5727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8"/>
                                        </p:tgtEl>
                                        <p:attrNameLst>
                                          <p:attrName>style.visibility</p:attrName>
                                        </p:attrNameLst>
                                      </p:cBhvr>
                                      <p:to>
                                        <p:strVal val="visible"/>
                                      </p:to>
                                    </p:set>
                                    <p:animEffect filter="fade" transition="in">
                                      <p:cBhvr>
                                        <p:cTn dur="1000"/>
                                        <p:tgtEl>
                                          <p:spTgt spid="10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11"/>
          <p:cNvSpPr txBox="1"/>
          <p:nvPr>
            <p:ph type="title"/>
          </p:nvPr>
        </p:nvSpPr>
        <p:spPr>
          <a:xfrm>
            <a:off x="311700" y="128350"/>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Next week's tasks</a:t>
            </a:r>
            <a:endParaRPr/>
          </a:p>
        </p:txBody>
      </p:sp>
      <p:sp>
        <p:nvSpPr>
          <p:cNvPr id="115" name="Google Shape;115;p11"/>
          <p:cNvSpPr txBox="1"/>
          <p:nvPr>
            <p:ph idx="1" type="body"/>
          </p:nvPr>
        </p:nvSpPr>
        <p:spPr>
          <a:xfrm>
            <a:off x="311700" y="803025"/>
            <a:ext cx="8520600" cy="3416400"/>
          </a:xfrm>
          <a:prstGeom prst="rect">
            <a:avLst/>
          </a:prstGeom>
          <a:noFill/>
          <a:ln>
            <a:noFill/>
          </a:ln>
        </p:spPr>
        <p:txBody>
          <a:bodyPr anchorCtr="0" anchor="t" bIns="91425" lIns="91425" spcFirstLastPara="1" rIns="91425" wrap="square" tIns="91425">
            <a:normAutofit lnSpcReduction="20000"/>
          </a:bodyPr>
          <a:lstStyle/>
          <a:p>
            <a:pPr indent="-342900" lvl="0" marL="457200" rtl="0" algn="l">
              <a:lnSpc>
                <a:spcPct val="115000"/>
              </a:lnSpc>
              <a:spcBef>
                <a:spcPts val="0"/>
              </a:spcBef>
              <a:spcAft>
                <a:spcPts val="0"/>
              </a:spcAft>
              <a:buSzPts val="1800"/>
              <a:buAutoNum type="arabicPeriod"/>
            </a:pPr>
            <a:r>
              <a:rPr lang="en"/>
              <a:t>Ignitor preparation and testing</a:t>
            </a:r>
            <a:endParaRPr/>
          </a:p>
          <a:p>
            <a:pPr indent="-342900" lvl="0" marL="457200" rtl="0" algn="l">
              <a:lnSpc>
                <a:spcPct val="115000"/>
              </a:lnSpc>
              <a:spcBef>
                <a:spcPts val="0"/>
              </a:spcBef>
              <a:spcAft>
                <a:spcPts val="0"/>
              </a:spcAft>
              <a:buSzPts val="1800"/>
              <a:buAutoNum type="arabicPeriod"/>
            </a:pPr>
            <a:r>
              <a:rPr lang="en"/>
              <a:t>Cooking of grains for testing </a:t>
            </a:r>
            <a:endParaRPr/>
          </a:p>
          <a:p>
            <a:pPr indent="-342900" lvl="0" marL="457200" rtl="0" algn="l">
              <a:lnSpc>
                <a:spcPct val="115000"/>
              </a:lnSpc>
              <a:spcBef>
                <a:spcPts val="0"/>
              </a:spcBef>
              <a:spcAft>
                <a:spcPts val="0"/>
              </a:spcAft>
              <a:buSzPts val="1800"/>
              <a:buAutoNum type="arabicPeriod"/>
            </a:pPr>
            <a:r>
              <a:rPr lang="en"/>
              <a:t>One grain static test</a:t>
            </a:r>
            <a:endParaRPr/>
          </a:p>
          <a:p>
            <a:pPr indent="-342900" lvl="0" marL="457200" rtl="0" algn="l">
              <a:lnSpc>
                <a:spcPct val="115000"/>
              </a:lnSpc>
              <a:spcBef>
                <a:spcPts val="0"/>
              </a:spcBef>
              <a:spcAft>
                <a:spcPts val="0"/>
              </a:spcAft>
              <a:buSzPts val="1800"/>
              <a:buAutoNum type="arabicPeriod"/>
            </a:pPr>
            <a:r>
              <a:rPr lang="en"/>
              <a:t>Old grains disposal</a:t>
            </a:r>
            <a:endParaRPr/>
          </a:p>
          <a:p>
            <a:pPr indent="-342900" lvl="0" marL="457200" rtl="0" algn="l">
              <a:lnSpc>
                <a:spcPct val="115000"/>
              </a:lnSpc>
              <a:spcBef>
                <a:spcPts val="0"/>
              </a:spcBef>
              <a:spcAft>
                <a:spcPts val="0"/>
              </a:spcAft>
              <a:buSzPts val="1800"/>
              <a:buAutoNum type="arabicPeriod"/>
            </a:pPr>
            <a:r>
              <a:rPr lang="en"/>
              <a:t>Liner thickness testing (Burn test)</a:t>
            </a:r>
            <a:endParaRPr/>
          </a:p>
          <a:p>
            <a:pPr indent="-342900" lvl="0" marL="457200" rtl="0" algn="l">
              <a:lnSpc>
                <a:spcPct val="115000"/>
              </a:lnSpc>
              <a:spcBef>
                <a:spcPts val="0"/>
              </a:spcBef>
              <a:spcAft>
                <a:spcPts val="0"/>
              </a:spcAft>
              <a:buSzPts val="1800"/>
              <a:buAutoNum type="arabicPeriod"/>
            </a:pPr>
            <a:r>
              <a:rPr lang="en"/>
              <a:t>Motor assembly for one grain test</a:t>
            </a:r>
            <a:endParaRPr/>
          </a:p>
          <a:p>
            <a:pPr indent="-342900" lvl="0" marL="457200" rtl="0" algn="l">
              <a:lnSpc>
                <a:spcPct val="115000"/>
              </a:lnSpc>
              <a:spcBef>
                <a:spcPts val="0"/>
              </a:spcBef>
              <a:spcAft>
                <a:spcPts val="0"/>
              </a:spcAft>
              <a:buSzPts val="1800"/>
              <a:buAutoNum type="arabicPeriod"/>
            </a:pPr>
            <a:r>
              <a:rPr lang="en"/>
              <a:t>3D print ignition circuit casing</a:t>
            </a:r>
            <a:endParaRPr/>
          </a:p>
          <a:p>
            <a:pPr indent="0" lvl="0" marL="457200" rtl="0" algn="l">
              <a:lnSpc>
                <a:spcPct val="115000"/>
              </a:lnSpc>
              <a:spcBef>
                <a:spcPts val="1200"/>
              </a:spcBef>
              <a:spcAft>
                <a:spcPts val="0"/>
              </a:spcAft>
              <a:buSzPts val="1800"/>
              <a:buNone/>
            </a:pPr>
            <a:r>
              <a:t/>
            </a:r>
            <a:endParaRPr/>
          </a:p>
          <a:p>
            <a:pPr indent="0" lvl="0" marL="457200" rtl="0" algn="l">
              <a:lnSpc>
                <a:spcPct val="115000"/>
              </a:lnSpc>
              <a:spcBef>
                <a:spcPts val="1200"/>
              </a:spcBef>
              <a:spcAft>
                <a:spcPts val="0"/>
              </a:spcAft>
              <a:buSzPts val="1800"/>
              <a:buNone/>
            </a:pPr>
            <a:r>
              <a:t/>
            </a:r>
            <a:endParaRPr/>
          </a:p>
          <a:p>
            <a:pPr indent="0" lvl="0" marL="0" rtl="0" algn="l">
              <a:lnSpc>
                <a:spcPct val="115000"/>
              </a:lnSpc>
              <a:spcBef>
                <a:spcPts val="1200"/>
              </a:spcBef>
              <a:spcAft>
                <a:spcPts val="1200"/>
              </a:spcAft>
              <a:buSzPts val="1800"/>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1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Challenges experienced</a:t>
            </a:r>
            <a:endParaRPr/>
          </a:p>
        </p:txBody>
      </p:sp>
      <p:sp>
        <p:nvSpPr>
          <p:cNvPr id="121" name="Google Shape;121;p12"/>
          <p:cNvSpPr txBox="1"/>
          <p:nvPr>
            <p:ph idx="1" type="body"/>
          </p:nvPr>
        </p:nvSpPr>
        <p:spPr>
          <a:xfrm>
            <a:off x="246175" y="1086950"/>
            <a:ext cx="8729700" cy="3838500"/>
          </a:xfrm>
          <a:prstGeom prst="rect">
            <a:avLst/>
          </a:prstGeom>
          <a:noFill/>
          <a:ln>
            <a:noFill/>
          </a:ln>
        </p:spPr>
        <p:txBody>
          <a:bodyPr anchorCtr="0" anchor="t" bIns="91425" lIns="91425" spcFirstLastPara="1" rIns="91425" wrap="square" tIns="91425">
            <a:normAutofit fontScale="92500" lnSpcReduction="20000"/>
          </a:bodyPr>
          <a:lstStyle/>
          <a:p>
            <a:pPr indent="-325755" lvl="0" marL="457200" rtl="0" algn="l">
              <a:lnSpc>
                <a:spcPct val="115000"/>
              </a:lnSpc>
              <a:spcBef>
                <a:spcPts val="0"/>
              </a:spcBef>
              <a:spcAft>
                <a:spcPts val="0"/>
              </a:spcAft>
              <a:buSzPct val="100000"/>
              <a:buAutoNum type="arabicPeriod"/>
            </a:pPr>
            <a:r>
              <a:rPr lang="en"/>
              <a:t>Unavailability of power led to delays in 3D printing.</a:t>
            </a:r>
            <a:endParaRPr/>
          </a:p>
          <a:p>
            <a:pPr indent="-325756" lvl="0" marL="457200" rtl="0" algn="l">
              <a:lnSpc>
                <a:spcPct val="115000"/>
              </a:lnSpc>
              <a:spcBef>
                <a:spcPts val="0"/>
              </a:spcBef>
              <a:spcAft>
                <a:spcPts val="0"/>
              </a:spcAft>
              <a:buSzPct val="100000"/>
              <a:buAutoNum type="arabicPeriod"/>
            </a:pPr>
            <a:r>
              <a:rPr lang="en"/>
              <a:t>Unavailability of project car led us to use a wheelbarrow to transport the test stand </a:t>
            </a:r>
            <a:r>
              <a:rPr lang="en"/>
              <a:t>which was tedious.</a:t>
            </a:r>
            <a:endParaRPr/>
          </a:p>
          <a:p>
            <a:pPr indent="-220028" lvl="0" marL="457200" rtl="0" algn="l">
              <a:lnSpc>
                <a:spcPct val="115000"/>
              </a:lnSpc>
              <a:spcBef>
                <a:spcPts val="0"/>
              </a:spcBef>
              <a:spcAft>
                <a:spcPts val="0"/>
              </a:spcAft>
              <a:buSzPct val="100000"/>
              <a:buNone/>
            </a:pPr>
            <a:r>
              <a:t/>
            </a:r>
            <a:endParaRPr/>
          </a:p>
          <a:p>
            <a:pPr indent="0" lvl="0" marL="457200" rtl="0" algn="l">
              <a:lnSpc>
                <a:spcPct val="115000"/>
              </a:lnSpc>
              <a:spcBef>
                <a:spcPts val="1200"/>
              </a:spcBef>
              <a:spcAft>
                <a:spcPts val="0"/>
              </a:spcAft>
              <a:buSzPct val="100000"/>
              <a:buNone/>
            </a:pPr>
            <a:r>
              <a:t/>
            </a:r>
            <a:endParaRPr/>
          </a:p>
          <a:p>
            <a:pPr indent="0" lvl="0" marL="457200" rtl="0" algn="l">
              <a:lnSpc>
                <a:spcPct val="115000"/>
              </a:lnSpc>
              <a:spcBef>
                <a:spcPts val="1200"/>
              </a:spcBef>
              <a:spcAft>
                <a:spcPts val="0"/>
              </a:spcAft>
              <a:buSzPct val="100000"/>
              <a:buNone/>
            </a:pPr>
            <a:r>
              <a:t/>
            </a:r>
            <a:endParaRPr/>
          </a:p>
          <a:p>
            <a:pPr indent="0" lvl="0" marL="457200" rtl="0" algn="l">
              <a:lnSpc>
                <a:spcPct val="115000"/>
              </a:lnSpc>
              <a:spcBef>
                <a:spcPts val="1200"/>
              </a:spcBef>
              <a:spcAft>
                <a:spcPts val="0"/>
              </a:spcAft>
              <a:buSzPct val="100000"/>
              <a:buNone/>
            </a:pPr>
            <a:r>
              <a:t/>
            </a:r>
            <a:endParaRPr/>
          </a:p>
          <a:p>
            <a:pPr indent="0" lvl="0" marL="0" rtl="0" algn="l">
              <a:lnSpc>
                <a:spcPct val="115000"/>
              </a:lnSpc>
              <a:spcBef>
                <a:spcPts val="1200"/>
              </a:spcBef>
              <a:spcAft>
                <a:spcPts val="0"/>
              </a:spcAft>
              <a:buSzPct val="100000"/>
              <a:buNone/>
            </a:pPr>
            <a:r>
              <a:rPr b="1" lang="en"/>
              <a:t>Supervisors’ note:</a:t>
            </a:r>
            <a:endParaRPr b="1"/>
          </a:p>
          <a:p>
            <a:pPr indent="0" lvl="0" marL="0" rtl="0" algn="l">
              <a:lnSpc>
                <a:spcPct val="115000"/>
              </a:lnSpc>
              <a:spcBef>
                <a:spcPts val="1200"/>
              </a:spcBef>
              <a:spcAft>
                <a:spcPts val="0"/>
              </a:spcAft>
              <a:buSzPct val="100000"/>
              <a:buNone/>
            </a:pPr>
            <a:r>
              <a:rPr b="1" lang="en"/>
              <a:t>Visit Solid Propulsion github projects @ </a:t>
            </a:r>
            <a:r>
              <a:rPr b="1" lang="en" u="sng">
                <a:solidFill>
                  <a:schemeClr val="hlink"/>
                </a:solidFill>
                <a:hlinkClick r:id="rId3"/>
              </a:rPr>
              <a:t>https://github.com/orgs/nakujaproject/projects/26</a:t>
            </a:r>
            <a:r>
              <a:rPr b="1" lang="en"/>
              <a:t> to review the tasks done.</a:t>
            </a:r>
            <a:endParaRPr b="1"/>
          </a:p>
          <a:p>
            <a:pPr indent="0" lvl="0" marL="0" rtl="0" algn="l">
              <a:lnSpc>
                <a:spcPct val="115000"/>
              </a:lnSpc>
              <a:spcBef>
                <a:spcPts val="1200"/>
              </a:spcBef>
              <a:spcAft>
                <a:spcPts val="1200"/>
              </a:spcAft>
              <a:buSzPct val="100000"/>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Potential concerns</a:t>
            </a:r>
            <a:endParaRPr/>
          </a:p>
        </p:txBody>
      </p:sp>
      <p:sp>
        <p:nvSpPr>
          <p:cNvPr id="127" name="Google Shape;127;p13"/>
          <p:cNvSpPr txBox="1"/>
          <p:nvPr>
            <p:ph idx="1" type="body"/>
          </p:nvPr>
        </p:nvSpPr>
        <p:spPr>
          <a:xfrm>
            <a:off x="311700" y="1152475"/>
            <a:ext cx="8676300" cy="36984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AutoNum type="arabicPeriod"/>
            </a:pPr>
            <a:r>
              <a:rPr lang="en"/>
              <a:t>Due to a higher expected thrust output value for the five grain test, our load cell cannot record the expected peak thrust thus a new load cell is required.</a:t>
            </a:r>
            <a:endParaRPr/>
          </a:p>
          <a:p>
            <a:pPr indent="-342900" lvl="0" marL="457200" rtl="0" algn="l">
              <a:lnSpc>
                <a:spcPct val="115000"/>
              </a:lnSpc>
              <a:spcBef>
                <a:spcPts val="0"/>
              </a:spcBef>
              <a:spcAft>
                <a:spcPts val="0"/>
              </a:spcAft>
              <a:buSzPts val="1800"/>
              <a:buAutoNum type="arabicPeriod"/>
            </a:pPr>
            <a:r>
              <a:rPr lang="en"/>
              <a:t>An increase in Solid Rocket Motor diameter and requires redesign of the body tube and flight </a:t>
            </a:r>
            <a:r>
              <a:rPr lang="en"/>
              <a:t>computer avionics bay to compensate for this change.</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14"/>
          <p:cNvSpPr txBox="1"/>
          <p:nvPr>
            <p:ph type="title"/>
          </p:nvPr>
        </p:nvSpPr>
        <p:spPr>
          <a:xfrm>
            <a:off x="519856" y="415289"/>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Thank you for your attention!</a:t>
            </a:r>
            <a:endParaRPr/>
          </a:p>
        </p:txBody>
      </p:sp>
      <p:pic>
        <p:nvPicPr>
          <p:cNvPr id="133" name="Google Shape;133;p14"/>
          <p:cNvPicPr preferRelativeResize="0"/>
          <p:nvPr/>
        </p:nvPicPr>
        <p:blipFill>
          <a:blip r:embed="rId3">
            <a:alphaModFix/>
          </a:blip>
          <a:stretch>
            <a:fillRect/>
          </a:stretch>
        </p:blipFill>
        <p:spPr>
          <a:xfrm>
            <a:off x="3046123" y="988000"/>
            <a:ext cx="2619850" cy="392617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Collins Ngash</dc:creator>
</cp:coreProperties>
</file>