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showSpecialPlsOnTitleSld="0">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16" roundtripDataSignature="AMtx7miihfxz9LD67PhxMV62GK83W7wzM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6" Type="http://customschemas.google.com/relationships/presentationmetadata" Target="meta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 name="Google Shape;52;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3f7035e86f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9" name="Google Shape;59;g3f7035e86f4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3f7035e864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6" name="Google Shape;66;g3f7035e8640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3f7035e8640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5" name="Google Shape;75;g3f7035e8640_0_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3f7035e8640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3" name="Google Shape;83;g3f7035e8640_0_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f64fae6c6a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4" name="Google Shape;94;g3f64fae6c6a_0_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3f3f1a97ab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3f3f1a97ab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f3e9c9aa36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3f3e9c9aa36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1" name="Google Shape;121;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8" name="Google Shape;128;p14: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16"/>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1" name="Google Shape;11;p16"/>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1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3" name="Shape 13"/>
        <p:cNvGrpSpPr/>
        <p:nvPr/>
      </p:nvGrpSpPr>
      <p:grpSpPr>
        <a:xfrm>
          <a:off x="0" y="0"/>
          <a:ext cx="0" cy="0"/>
          <a:chOff x="0" y="0"/>
          <a:chExt cx="0" cy="0"/>
        </a:xfrm>
      </p:grpSpPr>
      <p:sp>
        <p:nvSpPr>
          <p:cNvPr id="14" name="Google Shape;14;p1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5" name="Google Shape;15;p17"/>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6" name="Google Shape;16;p1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p18"/>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9" name="Google Shape;19;p1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1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2" name="Google Shape;22;p19"/>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3" name="Google Shape;23;p19"/>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4" name="Google Shape;24;p1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2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7" name="Google Shape;27;p2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21"/>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0" name="Google Shape;30;p21"/>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1" name="Google Shape;31;p2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22"/>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4" name="Google Shape;34;p2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23"/>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p23"/>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38" name="Google Shape;38;p23"/>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23"/>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0" name="Google Shape;40;p2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24"/>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43" name="Google Shape;43;p2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25"/>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25"/>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47" name="Google Shape;47;p2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2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1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1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9.png"/><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hyperlink" Target="http://drive.google.com/file/d/1i3ig_bHF8BiefudmPvNtBJ22D23ItaGB/view" TargetMode="External"/><Relationship Id="rId4" Type="http://schemas.openxmlformats.org/officeDocument/2006/relationships/image" Target="../media/image13.jpg"/><Relationship Id="rId5" Type="http://schemas.openxmlformats.org/officeDocument/2006/relationships/image" Target="../media/image12.png"/><Relationship Id="rId6" Type="http://schemas.openxmlformats.org/officeDocument/2006/relationships/image" Target="../media/image6.png"/><Relationship Id="rId7"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1.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hyperlink" Target="https://www.nakka-rocketry.net/sorb.html" TargetMode="External"/><Relationship Id="rId4" Type="http://schemas.openxmlformats.org/officeDocument/2006/relationships/image" Target="../media/image3.png"/><Relationship Id="rId5" Type="http://schemas.openxmlformats.org/officeDocument/2006/relationships/image" Target="../media/image2.png"/><Relationship Id="rId6" Type="http://schemas.openxmlformats.org/officeDocument/2006/relationships/image" Target="../media/image4.png"/><Relationship Id="rId7"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hyperlink" Target="https://github.com/orgs/nakujaproject/projects/26"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
          <p:cNvSpPr txBox="1"/>
          <p:nvPr>
            <p:ph type="ctrTitle"/>
          </p:nvPr>
        </p:nvSpPr>
        <p:spPr>
          <a:xfrm>
            <a:off x="366308" y="1545450"/>
            <a:ext cx="8520600" cy="2052600"/>
          </a:xfrm>
          <a:prstGeom prst="rect">
            <a:avLst/>
          </a:prstGeom>
          <a:noFill/>
          <a:ln>
            <a:noFill/>
          </a:ln>
        </p:spPr>
        <p:txBody>
          <a:bodyPr anchorCtr="0" anchor="b" bIns="91425" lIns="91425" spcFirstLastPara="1" rIns="91425" wrap="square" tIns="91425">
            <a:normAutofit fontScale="90000"/>
          </a:bodyPr>
          <a:lstStyle/>
          <a:p>
            <a:pPr indent="0" lvl="0" marL="0" rtl="0" algn="ctr">
              <a:lnSpc>
                <a:spcPct val="100000"/>
              </a:lnSpc>
              <a:spcBef>
                <a:spcPts val="0"/>
              </a:spcBef>
              <a:spcAft>
                <a:spcPts val="0"/>
              </a:spcAft>
              <a:buSzPct val="111111"/>
              <a:buNone/>
            </a:pPr>
            <a:r>
              <a:rPr lang="en"/>
              <a:t>Nakuja Internship 2026</a:t>
            </a:r>
            <a:endParaRPr/>
          </a:p>
          <a:p>
            <a:pPr indent="0" lvl="0" marL="0" rtl="0" algn="ctr">
              <a:lnSpc>
                <a:spcPct val="100000"/>
              </a:lnSpc>
              <a:spcBef>
                <a:spcPts val="0"/>
              </a:spcBef>
              <a:spcAft>
                <a:spcPts val="0"/>
              </a:spcAft>
              <a:buSzPct val="111111"/>
              <a:buNone/>
            </a:pPr>
            <a:r>
              <a:rPr lang="en"/>
              <a:t>Solid Propulsion Team</a:t>
            </a:r>
            <a:endParaRPr/>
          </a:p>
          <a:p>
            <a:pPr indent="0" lvl="0" marL="0" rtl="0" algn="ctr">
              <a:lnSpc>
                <a:spcPct val="100000"/>
              </a:lnSpc>
              <a:spcBef>
                <a:spcPts val="0"/>
              </a:spcBef>
              <a:spcAft>
                <a:spcPts val="0"/>
              </a:spcAft>
              <a:buSzPct val="111111"/>
              <a:buNone/>
            </a:pPr>
            <a:r>
              <a:rPr lang="en"/>
              <a:t> Weekly report #10</a:t>
            </a:r>
            <a:endParaRPr/>
          </a:p>
          <a:p>
            <a:pPr indent="0" lvl="0" marL="0" rtl="0" algn="ctr">
              <a:lnSpc>
                <a:spcPct val="100000"/>
              </a:lnSpc>
              <a:spcBef>
                <a:spcPts val="0"/>
              </a:spcBef>
              <a:spcAft>
                <a:spcPts val="0"/>
              </a:spcAft>
              <a:buSzPct val="111111"/>
              <a:buNone/>
            </a:pPr>
            <a:r>
              <a:t/>
            </a:r>
            <a:endParaRPr/>
          </a:p>
        </p:txBody>
      </p:sp>
      <p:sp>
        <p:nvSpPr>
          <p:cNvPr id="55" name="Google Shape;55;p1"/>
          <p:cNvSpPr txBox="1"/>
          <p:nvPr>
            <p:ph idx="1" type="subTitle"/>
          </p:nvPr>
        </p:nvSpPr>
        <p:spPr>
          <a:xfrm>
            <a:off x="366300" y="3412900"/>
            <a:ext cx="8520600" cy="792600"/>
          </a:xfrm>
          <a:prstGeom prst="rect">
            <a:avLst/>
          </a:prstGeom>
          <a:noFill/>
          <a:ln>
            <a:noFill/>
          </a:ln>
        </p:spPr>
        <p:txBody>
          <a:bodyPr anchorCtr="0" anchor="t" bIns="91425" lIns="91425" spcFirstLastPara="1" rIns="91425" wrap="square" tIns="91425">
            <a:normAutofit/>
          </a:bodyPr>
          <a:lstStyle/>
          <a:p>
            <a:pPr indent="0" lvl="0" marL="0" rtl="0" algn="ctr">
              <a:lnSpc>
                <a:spcPct val="100000"/>
              </a:lnSpc>
              <a:spcBef>
                <a:spcPts val="0"/>
              </a:spcBef>
              <a:spcAft>
                <a:spcPts val="0"/>
              </a:spcAft>
              <a:buSzPts val="2800"/>
              <a:buNone/>
            </a:pPr>
            <a:r>
              <a:rPr lang="en"/>
              <a:t>Presented by: Collins Kinyua </a:t>
            </a:r>
            <a:endParaRPr/>
          </a:p>
        </p:txBody>
      </p:sp>
      <p:sp>
        <p:nvSpPr>
          <p:cNvPr id="56" name="Google Shape;56;p1"/>
          <p:cNvSpPr txBox="1"/>
          <p:nvPr/>
        </p:nvSpPr>
        <p:spPr>
          <a:xfrm>
            <a:off x="3504900" y="4309225"/>
            <a:ext cx="2134200" cy="4641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chemeClr val="dk2"/>
                </a:solidFill>
                <a:latin typeface="Arial"/>
                <a:ea typeface="Arial"/>
                <a:cs typeface="Arial"/>
                <a:sym typeface="Arial"/>
              </a:rPr>
              <a:t>August </a:t>
            </a:r>
            <a:r>
              <a:rPr lang="en" sz="1800">
                <a:solidFill>
                  <a:schemeClr val="dk2"/>
                </a:solidFill>
              </a:rPr>
              <a:t>21</a:t>
            </a:r>
            <a:r>
              <a:rPr b="0" i="0" lang="en" sz="1800" u="none" cap="none" strike="noStrike">
                <a:solidFill>
                  <a:schemeClr val="dk2"/>
                </a:solidFill>
                <a:latin typeface="Arial"/>
                <a:ea typeface="Arial"/>
                <a:cs typeface="Arial"/>
                <a:sym typeface="Arial"/>
              </a:rPr>
              <a:t>, 2026</a:t>
            </a:r>
            <a:endParaRPr b="0" i="0" sz="1800" u="none" cap="none" strike="noStrike">
              <a:solidFill>
                <a:schemeClr val="dk2"/>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g3f7035e86f4_0_0"/>
          <p:cNvSpPr txBox="1"/>
          <p:nvPr>
            <p:ph type="title"/>
          </p:nvPr>
        </p:nvSpPr>
        <p:spPr>
          <a:xfrm>
            <a:off x="49600" y="62800"/>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This week's tasks</a:t>
            </a:r>
            <a:endParaRPr/>
          </a:p>
        </p:txBody>
      </p:sp>
      <p:sp>
        <p:nvSpPr>
          <p:cNvPr id="62" name="Google Shape;62;g3f7035e86f4_0_0"/>
          <p:cNvSpPr txBox="1"/>
          <p:nvPr>
            <p:ph idx="1" type="body"/>
          </p:nvPr>
        </p:nvSpPr>
        <p:spPr>
          <a:xfrm>
            <a:off x="49600" y="635500"/>
            <a:ext cx="8520600" cy="3416400"/>
          </a:xfrm>
          <a:prstGeom prst="rect">
            <a:avLst/>
          </a:prstGeom>
          <a:noFill/>
          <a:ln>
            <a:noFill/>
          </a:ln>
        </p:spPr>
        <p:txBody>
          <a:bodyPr anchorCtr="0" anchor="t" bIns="91425" lIns="91425" spcFirstLastPara="1" rIns="91425" wrap="square" tIns="91425">
            <a:normAutofit/>
          </a:bodyPr>
          <a:lstStyle/>
          <a:p>
            <a:pPr indent="-342900" lvl="0" marL="457200" rtl="0" algn="l">
              <a:spcBef>
                <a:spcPts val="0"/>
              </a:spcBef>
              <a:spcAft>
                <a:spcPts val="0"/>
              </a:spcAft>
              <a:buSzPts val="1800"/>
              <a:buAutoNum type="arabicPeriod"/>
            </a:pPr>
            <a:r>
              <a:rPr lang="en"/>
              <a:t>Cooking of grains for 4 grain test (stainless steel) &amp; 5 grain test (Aluminium)</a:t>
            </a:r>
            <a:endParaRPr/>
          </a:p>
          <a:p>
            <a:pPr indent="-342900" lvl="0" marL="457200" rtl="0" algn="l">
              <a:spcBef>
                <a:spcPts val="0"/>
              </a:spcBef>
              <a:spcAft>
                <a:spcPts val="0"/>
              </a:spcAft>
              <a:buSzPts val="1800"/>
              <a:buAutoNum type="arabicPeriod"/>
            </a:pPr>
            <a:r>
              <a:rPr lang="en"/>
              <a:t>Machining of core rods</a:t>
            </a:r>
            <a:endParaRPr/>
          </a:p>
          <a:p>
            <a:pPr indent="-342900" lvl="0" marL="457200" rtl="0" algn="l">
              <a:lnSpc>
                <a:spcPct val="115000"/>
              </a:lnSpc>
              <a:spcBef>
                <a:spcPts val="0"/>
              </a:spcBef>
              <a:spcAft>
                <a:spcPts val="0"/>
              </a:spcAft>
              <a:buSzPts val="1800"/>
              <a:buAutoNum type="arabicPeriod"/>
            </a:pPr>
            <a:r>
              <a:rPr lang="en"/>
              <a:t>3 grain static test</a:t>
            </a:r>
            <a:endParaRPr/>
          </a:p>
          <a:p>
            <a:pPr indent="-342900" lvl="0" marL="457200" rtl="0" algn="l">
              <a:lnSpc>
                <a:spcPct val="115000"/>
              </a:lnSpc>
              <a:spcBef>
                <a:spcPts val="0"/>
              </a:spcBef>
              <a:spcAft>
                <a:spcPts val="0"/>
              </a:spcAft>
              <a:buSzPts val="1800"/>
              <a:buAutoNum type="arabicPeriod"/>
            </a:pPr>
            <a:r>
              <a:rPr lang="en"/>
              <a:t>Liner preparation</a:t>
            </a:r>
            <a:endParaRPr/>
          </a:p>
          <a:p>
            <a:pPr indent="-342900" lvl="0" marL="457200" rtl="0" algn="l">
              <a:lnSpc>
                <a:spcPct val="115000"/>
              </a:lnSpc>
              <a:spcBef>
                <a:spcPts val="0"/>
              </a:spcBef>
              <a:spcAft>
                <a:spcPts val="0"/>
              </a:spcAft>
              <a:buSzPts val="1800"/>
              <a:buAutoNum type="arabicPeriod"/>
            </a:pPr>
            <a:r>
              <a:rPr lang="en"/>
              <a:t>One grain static test</a:t>
            </a:r>
            <a:endParaRPr/>
          </a:p>
        </p:txBody>
      </p:sp>
      <p:sp>
        <p:nvSpPr>
          <p:cNvPr id="63" name="Google Shape;63;g3f7035e86f4_0_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en" sz="2500"/>
              <a:t>‹#›</a:t>
            </a:fld>
            <a:endParaRPr sz="25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g3f7035e8640_0_0"/>
          <p:cNvSpPr txBox="1"/>
          <p:nvPr>
            <p:ph type="title"/>
          </p:nvPr>
        </p:nvSpPr>
        <p:spPr>
          <a:xfrm>
            <a:off x="60525" y="84650"/>
            <a:ext cx="8520600" cy="572700"/>
          </a:xfrm>
          <a:prstGeom prst="rect">
            <a:avLst/>
          </a:prstGeom>
          <a:noFill/>
          <a:ln>
            <a:noFill/>
          </a:ln>
        </p:spPr>
        <p:txBody>
          <a:bodyPr anchorCtr="0" anchor="t" bIns="91425" lIns="91425" spcFirstLastPara="1" rIns="91425" wrap="square" tIns="91425">
            <a:normAutofit fontScale="90000"/>
          </a:bodyPr>
          <a:lstStyle/>
          <a:p>
            <a:pPr indent="-388620" lvl="0" marL="457200" rtl="0" algn="l">
              <a:lnSpc>
                <a:spcPct val="100000"/>
              </a:lnSpc>
              <a:spcBef>
                <a:spcPts val="0"/>
              </a:spcBef>
              <a:spcAft>
                <a:spcPts val="0"/>
              </a:spcAft>
              <a:buSzPct val="100000"/>
              <a:buAutoNum type="arabicPeriod"/>
            </a:pPr>
            <a:r>
              <a:rPr lang="en"/>
              <a:t>Cooking of grains for 5 grain test</a:t>
            </a:r>
            <a:endParaRPr/>
          </a:p>
        </p:txBody>
      </p:sp>
      <p:sp>
        <p:nvSpPr>
          <p:cNvPr id="69" name="Google Shape;69;g3f7035e8640_0_0"/>
          <p:cNvSpPr txBox="1"/>
          <p:nvPr>
            <p:ph idx="1" type="body"/>
          </p:nvPr>
        </p:nvSpPr>
        <p:spPr>
          <a:xfrm>
            <a:off x="126050" y="737500"/>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b="1" lang="en"/>
              <a:t>Purpose: </a:t>
            </a:r>
            <a:r>
              <a:rPr lang="en"/>
              <a:t>These grains will be used during the 5 grain static test which will be held on Wednesday 26/08/2026.</a:t>
            </a:r>
            <a:endParaRPr/>
          </a:p>
          <a:p>
            <a:pPr indent="0" lvl="0" marL="0" rtl="0" algn="l">
              <a:lnSpc>
                <a:spcPct val="115000"/>
              </a:lnSpc>
              <a:spcBef>
                <a:spcPts val="0"/>
              </a:spcBef>
              <a:spcAft>
                <a:spcPts val="0"/>
              </a:spcAft>
              <a:buSzPts val="1800"/>
              <a:buNone/>
            </a:pPr>
            <a:r>
              <a:t/>
            </a:r>
            <a:endParaRPr b="1"/>
          </a:p>
          <a:p>
            <a:pPr indent="0" lvl="0" marL="0" rtl="0" algn="l">
              <a:lnSpc>
                <a:spcPct val="115000"/>
              </a:lnSpc>
              <a:spcBef>
                <a:spcPts val="0"/>
              </a:spcBef>
              <a:spcAft>
                <a:spcPts val="0"/>
              </a:spcAft>
              <a:buSzPts val="1800"/>
              <a:buNone/>
            </a:pPr>
            <a:r>
              <a:rPr b="1" lang="en"/>
              <a:t>Result: </a:t>
            </a:r>
            <a:r>
              <a:rPr lang="en"/>
              <a:t>5</a:t>
            </a:r>
            <a:r>
              <a:rPr lang="en"/>
              <a:t> out of 9 grains have been prepared</a:t>
            </a:r>
            <a:endParaRPr/>
          </a:p>
        </p:txBody>
      </p:sp>
      <p:pic>
        <p:nvPicPr>
          <p:cNvPr id="70" name="Google Shape;70;g3f7035e8640_0_0"/>
          <p:cNvPicPr preferRelativeResize="0"/>
          <p:nvPr/>
        </p:nvPicPr>
        <p:blipFill rotWithShape="1">
          <a:blip r:embed="rId3">
            <a:alphaModFix/>
          </a:blip>
          <a:srcRect b="0" l="0" r="0" t="0"/>
          <a:stretch/>
        </p:blipFill>
        <p:spPr>
          <a:xfrm>
            <a:off x="469401" y="2166925"/>
            <a:ext cx="3667002" cy="2747374"/>
          </a:xfrm>
          <a:prstGeom prst="rect">
            <a:avLst/>
          </a:prstGeom>
          <a:noFill/>
          <a:ln>
            <a:noFill/>
          </a:ln>
        </p:spPr>
      </p:pic>
      <p:sp>
        <p:nvSpPr>
          <p:cNvPr id="71" name="Google Shape;71;g3f7035e8640_0_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en" sz="2500"/>
              <a:t>‹#›</a:t>
            </a:fld>
            <a:endParaRPr sz="2500"/>
          </a:p>
        </p:txBody>
      </p:sp>
      <p:pic>
        <p:nvPicPr>
          <p:cNvPr id="72" name="Google Shape;72;g3f7035e8640_0_0"/>
          <p:cNvPicPr preferRelativeResize="0"/>
          <p:nvPr/>
        </p:nvPicPr>
        <p:blipFill>
          <a:blip r:embed="rId4">
            <a:alphaModFix/>
          </a:blip>
          <a:stretch>
            <a:fillRect/>
          </a:stretch>
        </p:blipFill>
        <p:spPr>
          <a:xfrm rot="5400000">
            <a:off x="5172776" y="1716602"/>
            <a:ext cx="2702001" cy="3602648"/>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g3f7035e8640_0_5"/>
          <p:cNvSpPr txBox="1"/>
          <p:nvPr>
            <p:ph type="title"/>
          </p:nvPr>
        </p:nvSpPr>
        <p:spPr>
          <a:xfrm>
            <a:off x="83750" y="11797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2. Machining of core rods</a:t>
            </a:r>
            <a:endParaRPr/>
          </a:p>
        </p:txBody>
      </p:sp>
      <p:sp>
        <p:nvSpPr>
          <p:cNvPr id="78" name="Google Shape;78;g3f7035e8640_0_5"/>
          <p:cNvSpPr txBox="1"/>
          <p:nvPr>
            <p:ph idx="1" type="body"/>
          </p:nvPr>
        </p:nvSpPr>
        <p:spPr>
          <a:xfrm>
            <a:off x="133325" y="765950"/>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b="1" lang="en"/>
              <a:t>Purpose: </a:t>
            </a:r>
            <a:r>
              <a:rPr lang="en"/>
              <a:t>In preparation for mass production, the machining sub-team has been machining 3 new core rods to help increase number of grains cooked per day</a:t>
            </a:r>
            <a:endParaRPr/>
          </a:p>
          <a:p>
            <a:pPr indent="0" lvl="0" marL="0" rtl="0" algn="l">
              <a:lnSpc>
                <a:spcPct val="115000"/>
              </a:lnSpc>
              <a:spcBef>
                <a:spcPts val="0"/>
              </a:spcBef>
              <a:spcAft>
                <a:spcPts val="0"/>
              </a:spcAft>
              <a:buSzPts val="1800"/>
              <a:buNone/>
            </a:pPr>
            <a:r>
              <a:t/>
            </a:r>
            <a:endParaRPr b="1"/>
          </a:p>
          <a:p>
            <a:pPr indent="0" lvl="0" marL="0" rtl="0" algn="l">
              <a:lnSpc>
                <a:spcPct val="115000"/>
              </a:lnSpc>
              <a:spcBef>
                <a:spcPts val="0"/>
              </a:spcBef>
              <a:spcAft>
                <a:spcPts val="0"/>
              </a:spcAft>
              <a:buSzPts val="1800"/>
              <a:buNone/>
            </a:pPr>
            <a:r>
              <a:rPr b="1" lang="en"/>
              <a:t>Result: </a:t>
            </a:r>
            <a:r>
              <a:rPr lang="en"/>
              <a:t>3 out of 4 core rods complete</a:t>
            </a:r>
            <a:endParaRPr/>
          </a:p>
          <a:p>
            <a:pPr indent="0" lvl="0" marL="0" rtl="0" algn="l">
              <a:lnSpc>
                <a:spcPct val="115000"/>
              </a:lnSpc>
              <a:spcBef>
                <a:spcPts val="0"/>
              </a:spcBef>
              <a:spcAft>
                <a:spcPts val="0"/>
              </a:spcAft>
              <a:buSzPts val="1800"/>
              <a:buNone/>
            </a:pPr>
            <a:r>
              <a:t/>
            </a:r>
            <a:endParaRPr/>
          </a:p>
        </p:txBody>
      </p:sp>
      <p:sp>
        <p:nvSpPr>
          <p:cNvPr id="79" name="Google Shape;79;g3f7035e8640_0_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en" sz="2500"/>
              <a:t>‹#›</a:t>
            </a:fld>
            <a:endParaRPr sz="2500"/>
          </a:p>
        </p:txBody>
      </p:sp>
      <p:pic>
        <p:nvPicPr>
          <p:cNvPr id="80" name="Google Shape;80;g3f7035e8640_0_5"/>
          <p:cNvPicPr preferRelativeResize="0"/>
          <p:nvPr/>
        </p:nvPicPr>
        <p:blipFill>
          <a:blip r:embed="rId3">
            <a:alphaModFix/>
          </a:blip>
          <a:stretch>
            <a:fillRect/>
          </a:stretch>
        </p:blipFill>
        <p:spPr>
          <a:xfrm rot="-5400000">
            <a:off x="2763974" y="1715947"/>
            <a:ext cx="2637951" cy="3517248"/>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g3f7035e8640_0_10"/>
          <p:cNvSpPr txBox="1"/>
          <p:nvPr>
            <p:ph type="title"/>
          </p:nvPr>
        </p:nvSpPr>
        <p:spPr>
          <a:xfrm>
            <a:off x="54025" y="0"/>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3. 3 grain static test</a:t>
            </a:r>
            <a:endParaRPr/>
          </a:p>
        </p:txBody>
      </p:sp>
      <p:sp>
        <p:nvSpPr>
          <p:cNvPr id="86" name="Google Shape;86;g3f7035e8640_0_10"/>
          <p:cNvSpPr txBox="1"/>
          <p:nvPr>
            <p:ph idx="1" type="body"/>
          </p:nvPr>
        </p:nvSpPr>
        <p:spPr>
          <a:xfrm>
            <a:off x="54025" y="480250"/>
            <a:ext cx="8520600" cy="45765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b="1" lang="en"/>
              <a:t>Purpose: </a:t>
            </a:r>
            <a:r>
              <a:rPr lang="en"/>
              <a:t>This test was done in order to quantitatively verify the effect of adding 1% of Sodium Bicarbonate to the KNSB grains to act as a suppressant thus effectively lowering the peak thrust and by extension peak pressure values.</a:t>
            </a:r>
            <a:endParaRPr/>
          </a:p>
          <a:p>
            <a:pPr indent="0" lvl="0" marL="0" rtl="0" algn="l">
              <a:lnSpc>
                <a:spcPct val="115000"/>
              </a:lnSpc>
              <a:spcBef>
                <a:spcPts val="0"/>
              </a:spcBef>
              <a:spcAft>
                <a:spcPts val="0"/>
              </a:spcAft>
              <a:buSzPts val="1800"/>
              <a:buNone/>
            </a:pPr>
            <a:r>
              <a:t/>
            </a:r>
            <a:endParaRPr b="1"/>
          </a:p>
          <a:p>
            <a:pPr indent="0" lvl="0" marL="0" rtl="0" algn="l">
              <a:lnSpc>
                <a:spcPct val="115000"/>
              </a:lnSpc>
              <a:spcBef>
                <a:spcPts val="0"/>
              </a:spcBef>
              <a:spcAft>
                <a:spcPts val="0"/>
              </a:spcAft>
              <a:buSzPts val="1800"/>
              <a:buNone/>
            </a:pPr>
            <a:r>
              <a:rPr b="1" lang="en"/>
              <a:t>Result: </a:t>
            </a:r>
            <a:r>
              <a:rPr lang="en"/>
              <a:t>The static test was a success with the data indicating lower thrust values than simulated one. The motor produced an ISP which was 89.69% of the theoretical maximum.</a:t>
            </a:r>
            <a:endParaRPr/>
          </a:p>
          <a:p>
            <a:pPr indent="0" lvl="0" marL="0" rtl="0" algn="l">
              <a:lnSpc>
                <a:spcPct val="115000"/>
              </a:lnSpc>
              <a:spcBef>
                <a:spcPts val="0"/>
              </a:spcBef>
              <a:spcAft>
                <a:spcPts val="0"/>
              </a:spcAft>
              <a:buSzPts val="1800"/>
              <a:buNone/>
            </a:pPr>
            <a:r>
              <a:t/>
            </a:r>
            <a:endParaRPr/>
          </a:p>
          <a:p>
            <a:pPr indent="0" lvl="0" marL="0" rtl="0" algn="l">
              <a:lnSpc>
                <a:spcPct val="115000"/>
              </a:lnSpc>
              <a:spcBef>
                <a:spcPts val="0"/>
              </a:spcBef>
              <a:spcAft>
                <a:spcPts val="0"/>
              </a:spcAft>
              <a:buSzPts val="1800"/>
              <a:buNone/>
            </a:pPr>
            <a:r>
              <a:t/>
            </a:r>
            <a:endParaRPr/>
          </a:p>
          <a:p>
            <a:pPr indent="0" lvl="0" marL="0" rtl="0" algn="l">
              <a:lnSpc>
                <a:spcPct val="115000"/>
              </a:lnSpc>
              <a:spcBef>
                <a:spcPts val="0"/>
              </a:spcBef>
              <a:spcAft>
                <a:spcPts val="0"/>
              </a:spcAft>
              <a:buSzPts val="1800"/>
              <a:buNone/>
            </a:pPr>
            <a:r>
              <a:t/>
            </a:r>
            <a:endParaRPr/>
          </a:p>
          <a:p>
            <a:pPr indent="0" lvl="0" marL="0" rtl="0" algn="l">
              <a:lnSpc>
                <a:spcPct val="115000"/>
              </a:lnSpc>
              <a:spcBef>
                <a:spcPts val="0"/>
              </a:spcBef>
              <a:spcAft>
                <a:spcPts val="0"/>
              </a:spcAft>
              <a:buSzPts val="1800"/>
              <a:buNone/>
            </a:pPr>
            <a:r>
              <a:t/>
            </a:r>
            <a:endParaRPr/>
          </a:p>
          <a:p>
            <a:pPr indent="0" lvl="0" marL="0" rtl="0" algn="l">
              <a:lnSpc>
                <a:spcPct val="115000"/>
              </a:lnSpc>
              <a:spcBef>
                <a:spcPts val="0"/>
              </a:spcBef>
              <a:spcAft>
                <a:spcPts val="0"/>
              </a:spcAft>
              <a:buSzPts val="1800"/>
              <a:buNone/>
            </a:pPr>
            <a:r>
              <a:t/>
            </a:r>
            <a:endParaRPr/>
          </a:p>
          <a:p>
            <a:pPr indent="0" lvl="0" marL="0" rtl="0" algn="l">
              <a:lnSpc>
                <a:spcPct val="115000"/>
              </a:lnSpc>
              <a:spcBef>
                <a:spcPts val="0"/>
              </a:spcBef>
              <a:spcAft>
                <a:spcPts val="0"/>
              </a:spcAft>
              <a:buSzPts val="1800"/>
              <a:buNone/>
            </a:pPr>
            <a:r>
              <a:t/>
            </a:r>
            <a:endParaRPr/>
          </a:p>
          <a:p>
            <a:pPr indent="0" lvl="0" marL="0" rtl="0" algn="l">
              <a:lnSpc>
                <a:spcPct val="115000"/>
              </a:lnSpc>
              <a:spcBef>
                <a:spcPts val="0"/>
              </a:spcBef>
              <a:spcAft>
                <a:spcPts val="0"/>
              </a:spcAft>
              <a:buSzPts val="1800"/>
              <a:buNone/>
            </a:pPr>
            <a:r>
              <a:rPr b="1" lang="en"/>
              <a:t>Results from previous test            </a:t>
            </a:r>
            <a:endParaRPr b="1"/>
          </a:p>
        </p:txBody>
      </p:sp>
      <p:sp>
        <p:nvSpPr>
          <p:cNvPr id="87" name="Google Shape;87;g3f7035e8640_0_1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en" sz="2500"/>
              <a:t>‹#›</a:t>
            </a:fld>
            <a:endParaRPr sz="2500"/>
          </a:p>
        </p:txBody>
      </p:sp>
      <p:pic>
        <p:nvPicPr>
          <p:cNvPr id="88" name="Google Shape;88;g3f7035e8640_0_10" title="Static test #8: 3 grain test.mp4">
            <a:hlinkClick r:id="rId3"/>
          </p:cNvPr>
          <p:cNvPicPr preferRelativeResize="0"/>
          <p:nvPr/>
        </p:nvPicPr>
        <p:blipFill>
          <a:blip r:embed="rId4">
            <a:alphaModFix/>
          </a:blip>
          <a:stretch>
            <a:fillRect/>
          </a:stretch>
        </p:blipFill>
        <p:spPr>
          <a:xfrm>
            <a:off x="7266175" y="2491924"/>
            <a:ext cx="1388925" cy="2469875"/>
          </a:xfrm>
          <a:prstGeom prst="rect">
            <a:avLst/>
          </a:prstGeom>
          <a:noFill/>
          <a:ln>
            <a:noFill/>
          </a:ln>
        </p:spPr>
      </p:pic>
      <p:pic>
        <p:nvPicPr>
          <p:cNvPr id="89" name="Google Shape;89;g3f7035e8640_0_10"/>
          <p:cNvPicPr preferRelativeResize="0"/>
          <p:nvPr/>
        </p:nvPicPr>
        <p:blipFill>
          <a:blip r:embed="rId5">
            <a:alphaModFix/>
          </a:blip>
          <a:stretch>
            <a:fillRect/>
          </a:stretch>
        </p:blipFill>
        <p:spPr>
          <a:xfrm>
            <a:off x="3348525" y="2402475"/>
            <a:ext cx="3445100" cy="2079225"/>
          </a:xfrm>
          <a:prstGeom prst="rect">
            <a:avLst/>
          </a:prstGeom>
          <a:noFill/>
          <a:ln>
            <a:noFill/>
          </a:ln>
        </p:spPr>
      </p:pic>
      <p:pic>
        <p:nvPicPr>
          <p:cNvPr id="90" name="Google Shape;90;g3f7035e8640_0_10"/>
          <p:cNvPicPr preferRelativeResize="0"/>
          <p:nvPr/>
        </p:nvPicPr>
        <p:blipFill>
          <a:blip r:embed="rId6">
            <a:alphaModFix/>
          </a:blip>
          <a:stretch>
            <a:fillRect/>
          </a:stretch>
        </p:blipFill>
        <p:spPr>
          <a:xfrm>
            <a:off x="98375" y="2858524"/>
            <a:ext cx="3061525" cy="1736675"/>
          </a:xfrm>
          <a:prstGeom prst="rect">
            <a:avLst/>
          </a:prstGeom>
          <a:noFill/>
          <a:ln>
            <a:noFill/>
          </a:ln>
        </p:spPr>
      </p:pic>
      <p:pic>
        <p:nvPicPr>
          <p:cNvPr id="91" name="Google Shape;91;g3f7035e8640_0_10"/>
          <p:cNvPicPr preferRelativeResize="0"/>
          <p:nvPr/>
        </p:nvPicPr>
        <p:blipFill>
          <a:blip r:embed="rId7">
            <a:alphaModFix/>
          </a:blip>
          <a:stretch>
            <a:fillRect/>
          </a:stretch>
        </p:blipFill>
        <p:spPr>
          <a:xfrm>
            <a:off x="3283762" y="4573675"/>
            <a:ext cx="3880262" cy="5727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g3f64fae6c6a_0_20"/>
          <p:cNvSpPr txBox="1"/>
          <p:nvPr>
            <p:ph type="title"/>
          </p:nvPr>
        </p:nvSpPr>
        <p:spPr>
          <a:xfrm>
            <a:off x="0" y="776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4. Liner preparation</a:t>
            </a:r>
            <a:endParaRPr/>
          </a:p>
        </p:txBody>
      </p:sp>
      <p:sp>
        <p:nvSpPr>
          <p:cNvPr id="97" name="Google Shape;97;g3f64fae6c6a_0_20"/>
          <p:cNvSpPr txBox="1"/>
          <p:nvPr>
            <p:ph idx="1" type="body"/>
          </p:nvPr>
        </p:nvSpPr>
        <p:spPr>
          <a:xfrm>
            <a:off x="66775" y="65032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n"/>
              <a:t>Purpose: In preparation of the static tests campaign, we have fabricated 2 liners and both can fit the Aluminium and Stainless Steel fabrication.</a:t>
            </a:r>
            <a:endParaRPr/>
          </a:p>
          <a:p>
            <a:pPr indent="0" lvl="0" marL="0" rtl="0" algn="l">
              <a:lnSpc>
                <a:spcPct val="115000"/>
              </a:lnSpc>
              <a:spcBef>
                <a:spcPts val="0"/>
              </a:spcBef>
              <a:spcAft>
                <a:spcPts val="0"/>
              </a:spcAft>
              <a:buSzPts val="1800"/>
              <a:buNone/>
            </a:pPr>
            <a:r>
              <a:t/>
            </a:r>
            <a:endParaRPr/>
          </a:p>
          <a:p>
            <a:pPr indent="0" lvl="0" marL="0" rtl="0" algn="l">
              <a:lnSpc>
                <a:spcPct val="115000"/>
              </a:lnSpc>
              <a:spcBef>
                <a:spcPts val="0"/>
              </a:spcBef>
              <a:spcAft>
                <a:spcPts val="0"/>
              </a:spcAft>
              <a:buSzPts val="1800"/>
              <a:buNone/>
            </a:pPr>
            <a:r>
              <a:rPr lang="en"/>
              <a:t>Result: 5 out of 6 liners have been fabricated</a:t>
            </a:r>
            <a:endParaRPr/>
          </a:p>
          <a:p>
            <a:pPr indent="0" lvl="0" marL="0" rtl="0" algn="l">
              <a:lnSpc>
                <a:spcPct val="115000"/>
              </a:lnSpc>
              <a:spcBef>
                <a:spcPts val="0"/>
              </a:spcBef>
              <a:spcAft>
                <a:spcPts val="0"/>
              </a:spcAft>
              <a:buSzPts val="1800"/>
              <a:buNone/>
            </a:pPr>
            <a:r>
              <a:t/>
            </a:r>
            <a:endParaRPr/>
          </a:p>
        </p:txBody>
      </p:sp>
      <p:pic>
        <p:nvPicPr>
          <p:cNvPr id="98" name="Google Shape;98;g3f64fae6c6a_0_20"/>
          <p:cNvPicPr preferRelativeResize="0"/>
          <p:nvPr/>
        </p:nvPicPr>
        <p:blipFill rotWithShape="1">
          <a:blip r:embed="rId3">
            <a:alphaModFix/>
          </a:blip>
          <a:srcRect b="0" l="0" r="0" t="0"/>
          <a:stretch/>
        </p:blipFill>
        <p:spPr>
          <a:xfrm>
            <a:off x="345350" y="2043950"/>
            <a:ext cx="3871500" cy="2903625"/>
          </a:xfrm>
          <a:prstGeom prst="rect">
            <a:avLst/>
          </a:prstGeom>
          <a:noFill/>
          <a:ln>
            <a:noFill/>
          </a:ln>
        </p:spPr>
      </p:pic>
      <p:pic>
        <p:nvPicPr>
          <p:cNvPr id="99" name="Google Shape;99;g3f64fae6c6a_0_20"/>
          <p:cNvPicPr preferRelativeResize="0"/>
          <p:nvPr/>
        </p:nvPicPr>
        <p:blipFill rotWithShape="1">
          <a:blip r:embed="rId4">
            <a:alphaModFix/>
          </a:blip>
          <a:srcRect b="0" l="0" r="0" t="0"/>
          <a:stretch/>
        </p:blipFill>
        <p:spPr>
          <a:xfrm>
            <a:off x="4649100" y="2043950"/>
            <a:ext cx="3871500" cy="2903625"/>
          </a:xfrm>
          <a:prstGeom prst="rect">
            <a:avLst/>
          </a:prstGeom>
          <a:noFill/>
          <a:ln>
            <a:noFill/>
          </a:ln>
        </p:spPr>
      </p:pic>
      <p:sp>
        <p:nvSpPr>
          <p:cNvPr id="100" name="Google Shape;100;g3f64fae6c6a_0_2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en" sz="2500"/>
              <a:t>‹#›</a:t>
            </a:fld>
            <a:endParaRPr sz="25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g3f3f1a97ab7_0_0"/>
          <p:cNvSpPr txBox="1"/>
          <p:nvPr>
            <p:ph type="title"/>
          </p:nvPr>
        </p:nvSpPr>
        <p:spPr>
          <a:xfrm>
            <a:off x="0" y="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5. One grain static test: Cured after 2 weeks vs 3 days</a:t>
            </a:r>
            <a:endParaRPr/>
          </a:p>
        </p:txBody>
      </p:sp>
      <p:sp>
        <p:nvSpPr>
          <p:cNvPr id="106" name="Google Shape;106;g3f3f1a97ab7_0_0"/>
          <p:cNvSpPr txBox="1"/>
          <p:nvPr>
            <p:ph idx="1" type="body"/>
          </p:nvPr>
        </p:nvSpPr>
        <p:spPr>
          <a:xfrm>
            <a:off x="45650" y="572700"/>
            <a:ext cx="8691900" cy="4484100"/>
          </a:xfrm>
          <a:prstGeom prst="rect">
            <a:avLst/>
          </a:prstGeom>
        </p:spPr>
        <p:txBody>
          <a:bodyPr anchorCtr="0" anchor="t" bIns="91425" lIns="91425" spcFirstLastPara="1" rIns="91425" wrap="square" tIns="91425">
            <a:normAutofit lnSpcReduction="10000"/>
          </a:bodyPr>
          <a:lstStyle/>
          <a:p>
            <a:pPr indent="0" lvl="0" marL="0" rtl="0" algn="l">
              <a:lnSpc>
                <a:spcPct val="95000"/>
              </a:lnSpc>
              <a:spcBef>
                <a:spcPts val="0"/>
              </a:spcBef>
              <a:spcAft>
                <a:spcPts val="0"/>
              </a:spcAft>
              <a:buNone/>
            </a:pPr>
            <a:r>
              <a:rPr b="1" lang="en" sz="1500"/>
              <a:t>Purpose: </a:t>
            </a:r>
            <a:r>
              <a:rPr lang="en" sz="1500"/>
              <a:t>This static test was done in order to make a quantitative </a:t>
            </a:r>
            <a:r>
              <a:rPr lang="en" sz="1500"/>
              <a:t>decision</a:t>
            </a:r>
            <a:r>
              <a:rPr lang="en" sz="1500"/>
              <a:t> on the curing time for KNSB propellant grain. According to Richard Nakka, he states that for KNSB grains need one or two days prior to demoulding i.e removing the core rod (we remove the core rod after a day) after which the grains have fully cured and solidified. He also states that full curing may take a week but is is perfectly acceptable to fire a grain anytime after demoulding. </a:t>
            </a:r>
            <a:r>
              <a:rPr lang="en" sz="1500" u="sng">
                <a:solidFill>
                  <a:schemeClr val="hlink"/>
                </a:solidFill>
                <a:hlinkClick r:id="rId3"/>
              </a:rPr>
              <a:t>https://www.nakka-rocketry.net/sorb.html</a:t>
            </a:r>
            <a:endParaRPr sz="1500"/>
          </a:p>
          <a:p>
            <a:pPr indent="0" lvl="0" marL="0" rtl="0" algn="l">
              <a:lnSpc>
                <a:spcPct val="95000"/>
              </a:lnSpc>
              <a:spcBef>
                <a:spcPts val="0"/>
              </a:spcBef>
              <a:spcAft>
                <a:spcPts val="0"/>
              </a:spcAft>
              <a:buNone/>
            </a:pPr>
            <a:r>
              <a:rPr lang="en" sz="1500"/>
              <a:t>As observed from the first static test i.e. grain cured after 2 weeks, the longer the grain stays in storage, the higher the chances of being exposed to moisture which lowers the quality of the grain.</a:t>
            </a:r>
            <a:endParaRPr sz="1500"/>
          </a:p>
          <a:p>
            <a:pPr indent="0" lvl="0" marL="0" rtl="0" algn="l">
              <a:lnSpc>
                <a:spcPct val="95000"/>
              </a:lnSpc>
              <a:spcBef>
                <a:spcPts val="0"/>
              </a:spcBef>
              <a:spcAft>
                <a:spcPts val="0"/>
              </a:spcAft>
              <a:buNone/>
            </a:pPr>
            <a:r>
              <a:rPr b="1" lang="en" sz="1500"/>
              <a:t>Conclusion: </a:t>
            </a:r>
            <a:r>
              <a:rPr lang="en" sz="1500"/>
              <a:t>Curing time shall be </a:t>
            </a:r>
            <a:r>
              <a:rPr b="1" lang="en" sz="1500"/>
              <a:t>5 days</a:t>
            </a:r>
            <a:r>
              <a:rPr lang="en" sz="1500"/>
              <a:t> </a:t>
            </a:r>
            <a:r>
              <a:rPr lang="en" sz="1500"/>
              <a:t>instead</a:t>
            </a:r>
            <a:r>
              <a:rPr lang="en" sz="1500"/>
              <a:t> of 3 to allow the grain to solidify properly</a:t>
            </a:r>
            <a:endParaRPr sz="1500"/>
          </a:p>
          <a:p>
            <a:pPr indent="0" lvl="0" marL="0" rtl="0" algn="l">
              <a:lnSpc>
                <a:spcPct val="95000"/>
              </a:lnSpc>
              <a:spcBef>
                <a:spcPts val="0"/>
              </a:spcBef>
              <a:spcAft>
                <a:spcPts val="0"/>
              </a:spcAft>
              <a:buNone/>
            </a:pPr>
            <a:r>
              <a:t/>
            </a:r>
            <a:endParaRPr sz="1300"/>
          </a:p>
          <a:p>
            <a:pPr indent="0" lvl="0" marL="0" rtl="0" algn="l">
              <a:lnSpc>
                <a:spcPct val="95000"/>
              </a:lnSpc>
              <a:spcBef>
                <a:spcPts val="0"/>
              </a:spcBef>
              <a:spcAft>
                <a:spcPts val="0"/>
              </a:spcAft>
              <a:buNone/>
            </a:pPr>
            <a:r>
              <a:t/>
            </a:r>
            <a:endParaRPr sz="1300"/>
          </a:p>
          <a:p>
            <a:pPr indent="0" lvl="0" marL="0" rtl="0" algn="l">
              <a:lnSpc>
                <a:spcPct val="95000"/>
              </a:lnSpc>
              <a:spcBef>
                <a:spcPts val="0"/>
              </a:spcBef>
              <a:spcAft>
                <a:spcPts val="0"/>
              </a:spcAft>
              <a:buNone/>
            </a:pPr>
            <a:r>
              <a:t/>
            </a:r>
            <a:endParaRPr sz="1300"/>
          </a:p>
          <a:p>
            <a:pPr indent="0" lvl="0" marL="0" rtl="0" algn="l">
              <a:lnSpc>
                <a:spcPct val="95000"/>
              </a:lnSpc>
              <a:spcBef>
                <a:spcPts val="0"/>
              </a:spcBef>
              <a:spcAft>
                <a:spcPts val="0"/>
              </a:spcAft>
              <a:buNone/>
            </a:pPr>
            <a:r>
              <a:t/>
            </a:r>
            <a:endParaRPr sz="1300"/>
          </a:p>
          <a:p>
            <a:pPr indent="0" lvl="0" marL="0" rtl="0" algn="l">
              <a:lnSpc>
                <a:spcPct val="95000"/>
              </a:lnSpc>
              <a:spcBef>
                <a:spcPts val="0"/>
              </a:spcBef>
              <a:spcAft>
                <a:spcPts val="0"/>
              </a:spcAft>
              <a:buNone/>
            </a:pPr>
            <a:r>
              <a:t/>
            </a:r>
            <a:endParaRPr sz="1300"/>
          </a:p>
          <a:p>
            <a:pPr indent="0" lvl="0" marL="0" rtl="0" algn="l">
              <a:lnSpc>
                <a:spcPct val="95000"/>
              </a:lnSpc>
              <a:spcBef>
                <a:spcPts val="0"/>
              </a:spcBef>
              <a:spcAft>
                <a:spcPts val="0"/>
              </a:spcAft>
              <a:buNone/>
            </a:pPr>
            <a:r>
              <a:t/>
            </a:r>
            <a:endParaRPr sz="1300"/>
          </a:p>
          <a:p>
            <a:pPr indent="0" lvl="0" marL="0" rtl="0" algn="l">
              <a:lnSpc>
                <a:spcPct val="95000"/>
              </a:lnSpc>
              <a:spcBef>
                <a:spcPts val="0"/>
              </a:spcBef>
              <a:spcAft>
                <a:spcPts val="0"/>
              </a:spcAft>
              <a:buNone/>
            </a:pPr>
            <a:r>
              <a:t/>
            </a:r>
            <a:endParaRPr sz="1300"/>
          </a:p>
          <a:p>
            <a:pPr indent="0" lvl="0" marL="0" rtl="0" algn="l">
              <a:lnSpc>
                <a:spcPct val="95000"/>
              </a:lnSpc>
              <a:spcBef>
                <a:spcPts val="0"/>
              </a:spcBef>
              <a:spcAft>
                <a:spcPts val="0"/>
              </a:spcAft>
              <a:buNone/>
            </a:pPr>
            <a:r>
              <a:t/>
            </a:r>
            <a:endParaRPr sz="1300"/>
          </a:p>
          <a:p>
            <a:pPr indent="0" lvl="0" marL="0" rtl="0" algn="l">
              <a:lnSpc>
                <a:spcPct val="95000"/>
              </a:lnSpc>
              <a:spcBef>
                <a:spcPts val="0"/>
              </a:spcBef>
              <a:spcAft>
                <a:spcPts val="0"/>
              </a:spcAft>
              <a:buNone/>
            </a:pPr>
            <a:r>
              <a:t/>
            </a:r>
            <a:endParaRPr sz="1300"/>
          </a:p>
          <a:p>
            <a:pPr indent="0" lvl="0" marL="0" rtl="0" algn="l">
              <a:lnSpc>
                <a:spcPct val="95000"/>
              </a:lnSpc>
              <a:spcBef>
                <a:spcPts val="0"/>
              </a:spcBef>
              <a:spcAft>
                <a:spcPts val="0"/>
              </a:spcAft>
              <a:buNone/>
            </a:pPr>
            <a:r>
              <a:t/>
            </a:r>
            <a:endParaRPr sz="1300"/>
          </a:p>
          <a:p>
            <a:pPr indent="0" lvl="0" marL="0" rtl="0" algn="l">
              <a:lnSpc>
                <a:spcPct val="95000"/>
              </a:lnSpc>
              <a:spcBef>
                <a:spcPts val="0"/>
              </a:spcBef>
              <a:spcAft>
                <a:spcPts val="0"/>
              </a:spcAft>
              <a:buNone/>
            </a:pPr>
            <a:r>
              <a:t/>
            </a:r>
            <a:endParaRPr sz="1300"/>
          </a:p>
          <a:p>
            <a:pPr indent="0" lvl="0" marL="0" rtl="0" algn="l">
              <a:lnSpc>
                <a:spcPct val="95000"/>
              </a:lnSpc>
              <a:spcBef>
                <a:spcPts val="0"/>
              </a:spcBef>
              <a:spcAft>
                <a:spcPts val="0"/>
              </a:spcAft>
              <a:buNone/>
            </a:pPr>
            <a:r>
              <a:t/>
            </a:r>
            <a:endParaRPr sz="1300"/>
          </a:p>
          <a:p>
            <a:pPr indent="0" lvl="0" marL="0" rtl="0" algn="l">
              <a:lnSpc>
                <a:spcPct val="95000"/>
              </a:lnSpc>
              <a:spcBef>
                <a:spcPts val="0"/>
              </a:spcBef>
              <a:spcAft>
                <a:spcPts val="0"/>
              </a:spcAft>
              <a:buNone/>
            </a:pPr>
            <a:r>
              <a:t/>
            </a:r>
            <a:endParaRPr sz="1300"/>
          </a:p>
          <a:p>
            <a:pPr indent="0" lvl="0" marL="0" rtl="0" algn="l">
              <a:lnSpc>
                <a:spcPct val="95000"/>
              </a:lnSpc>
              <a:spcBef>
                <a:spcPts val="0"/>
              </a:spcBef>
              <a:spcAft>
                <a:spcPts val="0"/>
              </a:spcAft>
              <a:buNone/>
            </a:pPr>
            <a:r>
              <a:rPr lang="en" sz="1300"/>
              <a:t>              </a:t>
            </a:r>
            <a:r>
              <a:rPr b="1" lang="en" sz="1300"/>
              <a:t>Results from 2 weeks cured                                                          Results from 3 days cured</a:t>
            </a:r>
            <a:endParaRPr b="1" sz="1300"/>
          </a:p>
        </p:txBody>
      </p:sp>
      <p:sp>
        <p:nvSpPr>
          <p:cNvPr id="107" name="Google Shape;107;g3f3f1a97ab7_0_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pic>
        <p:nvPicPr>
          <p:cNvPr id="108" name="Google Shape;108;g3f3f1a97ab7_0_0"/>
          <p:cNvPicPr preferRelativeResize="0"/>
          <p:nvPr/>
        </p:nvPicPr>
        <p:blipFill>
          <a:blip r:embed="rId4">
            <a:alphaModFix/>
          </a:blip>
          <a:stretch>
            <a:fillRect/>
          </a:stretch>
        </p:blipFill>
        <p:spPr>
          <a:xfrm>
            <a:off x="837675" y="2571750"/>
            <a:ext cx="2627300" cy="1588501"/>
          </a:xfrm>
          <a:prstGeom prst="rect">
            <a:avLst/>
          </a:prstGeom>
          <a:noFill/>
          <a:ln>
            <a:noFill/>
          </a:ln>
        </p:spPr>
      </p:pic>
      <p:pic>
        <p:nvPicPr>
          <p:cNvPr id="109" name="Google Shape;109;g3f3f1a97ab7_0_0"/>
          <p:cNvPicPr preferRelativeResize="0"/>
          <p:nvPr/>
        </p:nvPicPr>
        <p:blipFill>
          <a:blip r:embed="rId5">
            <a:alphaModFix/>
          </a:blip>
          <a:stretch>
            <a:fillRect/>
          </a:stretch>
        </p:blipFill>
        <p:spPr>
          <a:xfrm>
            <a:off x="45652" y="4084225"/>
            <a:ext cx="4713100" cy="510200"/>
          </a:xfrm>
          <a:prstGeom prst="rect">
            <a:avLst/>
          </a:prstGeom>
          <a:noFill/>
          <a:ln>
            <a:noFill/>
          </a:ln>
        </p:spPr>
      </p:pic>
      <p:pic>
        <p:nvPicPr>
          <p:cNvPr id="110" name="Google Shape;110;g3f3f1a97ab7_0_0"/>
          <p:cNvPicPr preferRelativeResize="0"/>
          <p:nvPr/>
        </p:nvPicPr>
        <p:blipFill>
          <a:blip r:embed="rId6">
            <a:alphaModFix/>
          </a:blip>
          <a:stretch>
            <a:fillRect/>
          </a:stretch>
        </p:blipFill>
        <p:spPr>
          <a:xfrm>
            <a:off x="5210775" y="2525775"/>
            <a:ext cx="2816875" cy="1680450"/>
          </a:xfrm>
          <a:prstGeom prst="rect">
            <a:avLst/>
          </a:prstGeom>
          <a:noFill/>
          <a:ln>
            <a:noFill/>
          </a:ln>
        </p:spPr>
      </p:pic>
      <p:pic>
        <p:nvPicPr>
          <p:cNvPr id="111" name="Google Shape;111;g3f3f1a97ab7_0_0"/>
          <p:cNvPicPr preferRelativeResize="0"/>
          <p:nvPr/>
        </p:nvPicPr>
        <p:blipFill>
          <a:blip r:embed="rId7">
            <a:alphaModFix/>
          </a:blip>
          <a:stretch>
            <a:fillRect/>
          </a:stretch>
        </p:blipFill>
        <p:spPr>
          <a:xfrm>
            <a:off x="5096138" y="4206225"/>
            <a:ext cx="3692687" cy="3936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g3f3e9c9aa36_0_11"/>
          <p:cNvSpPr txBox="1"/>
          <p:nvPr>
            <p:ph type="title"/>
          </p:nvPr>
        </p:nvSpPr>
        <p:spPr>
          <a:xfrm>
            <a:off x="0" y="456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Next week’s tasks</a:t>
            </a:r>
            <a:endParaRPr/>
          </a:p>
        </p:txBody>
      </p:sp>
      <p:sp>
        <p:nvSpPr>
          <p:cNvPr id="117" name="Google Shape;117;g3f3e9c9aa36_0_11"/>
          <p:cNvSpPr txBox="1"/>
          <p:nvPr>
            <p:ph idx="1" type="body"/>
          </p:nvPr>
        </p:nvSpPr>
        <p:spPr>
          <a:xfrm>
            <a:off x="0" y="61832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AutoNum type="arabicPeriod"/>
            </a:pPr>
            <a:r>
              <a:rPr lang="en"/>
              <a:t>5 grain static test</a:t>
            </a:r>
            <a:endParaRPr/>
          </a:p>
          <a:p>
            <a:pPr indent="-342900" lvl="0" marL="457200" rtl="0" algn="l">
              <a:spcBef>
                <a:spcPts val="0"/>
              </a:spcBef>
              <a:spcAft>
                <a:spcPts val="0"/>
              </a:spcAft>
              <a:buSzPts val="1800"/>
              <a:buAutoNum type="arabicPeriod"/>
            </a:pPr>
            <a:r>
              <a:rPr lang="en"/>
              <a:t>Motor assembly for 4 grain stainless steel casing</a:t>
            </a:r>
            <a:endParaRPr/>
          </a:p>
          <a:p>
            <a:pPr indent="-342900" lvl="0" marL="457200" rtl="0" algn="l">
              <a:spcBef>
                <a:spcPts val="0"/>
              </a:spcBef>
              <a:spcAft>
                <a:spcPts val="0"/>
              </a:spcAft>
              <a:buSzPts val="1800"/>
              <a:buAutoNum type="arabicPeriod"/>
            </a:pPr>
            <a:r>
              <a:rPr lang="en"/>
              <a:t>Cooking of grains</a:t>
            </a:r>
            <a:endParaRPr/>
          </a:p>
          <a:p>
            <a:pPr indent="-342900" lvl="0" marL="457200" rtl="0" algn="l">
              <a:spcBef>
                <a:spcPts val="0"/>
              </a:spcBef>
              <a:spcAft>
                <a:spcPts val="0"/>
              </a:spcAft>
              <a:buSzPts val="1800"/>
              <a:buAutoNum type="arabicPeriod"/>
            </a:pPr>
            <a:r>
              <a:rPr lang="en"/>
              <a:t>Liner preparation</a:t>
            </a:r>
            <a:endParaRPr/>
          </a:p>
          <a:p>
            <a:pPr indent="-342900" lvl="0" marL="457200" rtl="0" algn="l">
              <a:spcBef>
                <a:spcPts val="0"/>
              </a:spcBef>
              <a:spcAft>
                <a:spcPts val="0"/>
              </a:spcAft>
              <a:buSzPts val="1800"/>
              <a:buAutoNum type="arabicPeriod"/>
            </a:pPr>
            <a:r>
              <a:rPr lang="en"/>
              <a:t>Nozzle and </a:t>
            </a:r>
            <a:r>
              <a:rPr lang="en"/>
              <a:t>bulkhead</a:t>
            </a:r>
            <a:r>
              <a:rPr lang="en"/>
              <a:t> fabrication</a:t>
            </a:r>
            <a:endParaRPr/>
          </a:p>
          <a:p>
            <a:pPr indent="0" lvl="0" marL="0" rtl="0" algn="l">
              <a:spcBef>
                <a:spcPts val="0"/>
              </a:spcBef>
              <a:spcAft>
                <a:spcPts val="0"/>
              </a:spcAft>
              <a:buNone/>
            </a:pPr>
            <a:r>
              <a:t/>
            </a:r>
            <a:endParaRPr/>
          </a:p>
          <a:p>
            <a:pPr indent="0" lvl="0" marL="457200" rtl="0" algn="l">
              <a:spcBef>
                <a:spcPts val="0"/>
              </a:spcBef>
              <a:spcAft>
                <a:spcPts val="0"/>
              </a:spcAft>
              <a:buNone/>
            </a:pPr>
            <a:r>
              <a:t/>
            </a:r>
            <a:endParaRPr/>
          </a:p>
        </p:txBody>
      </p:sp>
      <p:sp>
        <p:nvSpPr>
          <p:cNvPr id="118" name="Google Shape;118;g3f3e9c9aa36_0_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12"/>
          <p:cNvSpPr txBox="1"/>
          <p:nvPr>
            <p:ph type="title"/>
          </p:nvPr>
        </p:nvSpPr>
        <p:spPr>
          <a:xfrm>
            <a:off x="127225" y="14117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Challenges experienced</a:t>
            </a:r>
            <a:endParaRPr/>
          </a:p>
        </p:txBody>
      </p:sp>
      <p:sp>
        <p:nvSpPr>
          <p:cNvPr id="124" name="Google Shape;124;p12"/>
          <p:cNvSpPr txBox="1"/>
          <p:nvPr>
            <p:ph idx="1" type="body"/>
          </p:nvPr>
        </p:nvSpPr>
        <p:spPr>
          <a:xfrm>
            <a:off x="127225" y="769300"/>
            <a:ext cx="8729700" cy="3838500"/>
          </a:xfrm>
          <a:prstGeom prst="rect">
            <a:avLst/>
          </a:prstGeom>
          <a:noFill/>
          <a:ln>
            <a:noFill/>
          </a:ln>
        </p:spPr>
        <p:txBody>
          <a:bodyPr anchorCtr="0" anchor="t" bIns="91425" lIns="91425" spcFirstLastPara="1" rIns="91425" wrap="square" tIns="91425">
            <a:normAutofit lnSpcReduction="20000"/>
          </a:bodyPr>
          <a:lstStyle/>
          <a:p>
            <a:pPr indent="-334328" lvl="0" marL="457200" rtl="0" algn="l">
              <a:lnSpc>
                <a:spcPct val="115000"/>
              </a:lnSpc>
              <a:spcBef>
                <a:spcPts val="0"/>
              </a:spcBef>
              <a:spcAft>
                <a:spcPts val="0"/>
              </a:spcAft>
              <a:buSzPts val="1800"/>
              <a:buAutoNum type="arabicPeriod"/>
            </a:pPr>
            <a:r>
              <a:rPr lang="en"/>
              <a:t>Transport of the test stand using a wheelbarrow has become </a:t>
            </a:r>
            <a:r>
              <a:rPr lang="en"/>
              <a:t>tedious</a:t>
            </a:r>
            <a:r>
              <a:rPr lang="en"/>
              <a:t> and is creating internal friction.</a:t>
            </a:r>
            <a:endParaRPr/>
          </a:p>
          <a:p>
            <a:pPr indent="-220028" lvl="0" marL="457200" rtl="0" algn="l">
              <a:lnSpc>
                <a:spcPct val="115000"/>
              </a:lnSpc>
              <a:spcBef>
                <a:spcPts val="0"/>
              </a:spcBef>
              <a:spcAft>
                <a:spcPts val="0"/>
              </a:spcAft>
              <a:buSzPts val="1800"/>
              <a:buNone/>
            </a:pPr>
            <a:r>
              <a:t/>
            </a:r>
            <a:endParaRPr/>
          </a:p>
          <a:p>
            <a:pPr indent="0" lvl="0" marL="457200" rtl="0" algn="l">
              <a:lnSpc>
                <a:spcPct val="115000"/>
              </a:lnSpc>
              <a:spcBef>
                <a:spcPts val="1200"/>
              </a:spcBef>
              <a:spcAft>
                <a:spcPts val="0"/>
              </a:spcAft>
              <a:buSzPts val="1800"/>
              <a:buNone/>
            </a:pPr>
            <a:r>
              <a:t/>
            </a:r>
            <a:endParaRPr/>
          </a:p>
          <a:p>
            <a:pPr indent="0" lvl="0" marL="457200" rtl="0" algn="l">
              <a:lnSpc>
                <a:spcPct val="115000"/>
              </a:lnSpc>
              <a:spcBef>
                <a:spcPts val="1200"/>
              </a:spcBef>
              <a:spcAft>
                <a:spcPts val="0"/>
              </a:spcAft>
              <a:buSzPts val="1800"/>
              <a:buNone/>
            </a:pPr>
            <a:r>
              <a:t/>
            </a:r>
            <a:endParaRPr/>
          </a:p>
          <a:p>
            <a:pPr indent="0" lvl="0" marL="457200" rtl="0" algn="l">
              <a:lnSpc>
                <a:spcPct val="115000"/>
              </a:lnSpc>
              <a:spcBef>
                <a:spcPts val="1200"/>
              </a:spcBef>
              <a:spcAft>
                <a:spcPts val="0"/>
              </a:spcAft>
              <a:buSzPts val="1800"/>
              <a:buNone/>
            </a:pPr>
            <a:r>
              <a:t/>
            </a:r>
            <a:endParaRPr/>
          </a:p>
          <a:p>
            <a:pPr indent="0" lvl="0" marL="0" rtl="0" algn="l">
              <a:lnSpc>
                <a:spcPct val="115000"/>
              </a:lnSpc>
              <a:spcBef>
                <a:spcPts val="1200"/>
              </a:spcBef>
              <a:spcAft>
                <a:spcPts val="0"/>
              </a:spcAft>
              <a:buSzPts val="1800"/>
              <a:buNone/>
            </a:pPr>
            <a:r>
              <a:rPr b="1" lang="en"/>
              <a:t>Supervisors’ note:</a:t>
            </a:r>
            <a:endParaRPr b="1"/>
          </a:p>
          <a:p>
            <a:pPr indent="0" lvl="0" marL="0" rtl="0" algn="l">
              <a:lnSpc>
                <a:spcPct val="115000"/>
              </a:lnSpc>
              <a:spcBef>
                <a:spcPts val="1200"/>
              </a:spcBef>
              <a:spcAft>
                <a:spcPts val="0"/>
              </a:spcAft>
              <a:buSzPts val="1800"/>
              <a:buNone/>
            </a:pPr>
            <a:r>
              <a:rPr b="1" lang="en"/>
              <a:t>Visit Solid Propulsion github projects @ </a:t>
            </a:r>
            <a:r>
              <a:rPr b="1" lang="en" u="sng">
                <a:solidFill>
                  <a:schemeClr val="hlink"/>
                </a:solidFill>
                <a:hlinkClick r:id="rId3"/>
              </a:rPr>
              <a:t>https://github.com/orgs/nakujaproject/projects/26</a:t>
            </a:r>
            <a:r>
              <a:rPr b="1" lang="en"/>
              <a:t> to review the tasks done.</a:t>
            </a:r>
            <a:endParaRPr b="1"/>
          </a:p>
          <a:p>
            <a:pPr indent="0" lvl="0" marL="0" rtl="0" algn="l">
              <a:lnSpc>
                <a:spcPct val="115000"/>
              </a:lnSpc>
              <a:spcBef>
                <a:spcPts val="1200"/>
              </a:spcBef>
              <a:spcAft>
                <a:spcPts val="1200"/>
              </a:spcAft>
              <a:buSzPts val="1800"/>
              <a:buNone/>
            </a:pPr>
            <a:r>
              <a:t/>
            </a:r>
            <a:endParaRPr/>
          </a:p>
        </p:txBody>
      </p:sp>
      <p:sp>
        <p:nvSpPr>
          <p:cNvPr id="125" name="Google Shape;125;p1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en" sz="2500"/>
              <a:t>‹#›</a:t>
            </a:fld>
            <a:endParaRPr sz="25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14"/>
          <p:cNvSpPr txBox="1"/>
          <p:nvPr>
            <p:ph type="title"/>
          </p:nvPr>
        </p:nvSpPr>
        <p:spPr>
          <a:xfrm>
            <a:off x="519856" y="415289"/>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Thank you for your attention!</a:t>
            </a:r>
            <a:endParaRPr/>
          </a:p>
        </p:txBody>
      </p:sp>
      <p:sp>
        <p:nvSpPr>
          <p:cNvPr id="131" name="Google Shape;131;p1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en" sz="2500"/>
              <a:t>‹#›</a:t>
            </a:fld>
            <a:endParaRPr sz="2500"/>
          </a:p>
        </p:txBody>
      </p:sp>
      <p:pic>
        <p:nvPicPr>
          <p:cNvPr id="132" name="Google Shape;132;p14"/>
          <p:cNvPicPr preferRelativeResize="0"/>
          <p:nvPr/>
        </p:nvPicPr>
        <p:blipFill>
          <a:blip r:embed="rId3">
            <a:alphaModFix/>
          </a:blip>
          <a:stretch>
            <a:fillRect/>
          </a:stretch>
        </p:blipFill>
        <p:spPr>
          <a:xfrm>
            <a:off x="2075800" y="1171939"/>
            <a:ext cx="5200650" cy="3400425"/>
          </a:xfrm>
          <a:prstGeom prst="rect">
            <a:avLst/>
          </a:prstGeom>
          <a:noFill/>
          <a:ln>
            <a:noFill/>
          </a:ln>
        </p:spPr>
      </p:pic>
    </p:spTree>
  </p:cSld>
  <p:clrMapOvr>
    <a:masterClrMapping/>
  </p:clrMapOvr>
  <p:transition spd="med">
    <p:fade thruBlk="1"/>
  </p:transition>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Collins Ngash</dc:creator>
</cp:coreProperties>
</file>