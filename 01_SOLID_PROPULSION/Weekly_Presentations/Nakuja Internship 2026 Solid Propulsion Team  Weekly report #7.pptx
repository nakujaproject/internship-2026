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7" roundtripDataSignature="AMtx7mh0PPflTh6ERAdaf/EtMpv26SVU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60be24b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60be24b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f60be24b50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f60be24b50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f60be24b5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f60be24b5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f60be24b50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f60be24b50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60be24b50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60be24b50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f60be24b50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3f60be24b50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3f60be24b50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3f60be24b50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1" name="Google Shape;121;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8"/>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hyperlink" Target="https://github.com/nakujaproject/Internship-2026/blob/main/01_SOLID_PROPULSION/Static_Tests/Four_Grain_Test/Critical%20Path%20For%20N4%20Version%202%20Solid%20Rocket%20Booster%20(3).pdf"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hyperlink" Target="http://drive.google.com/file/d/1qJEAjCW4CnzUjR320V8q_REh-gf0xJCH/view" TargetMode="External"/><Relationship Id="rId4" Type="http://schemas.openxmlformats.org/officeDocument/2006/relationships/image" Target="../media/image5.jpg"/><Relationship Id="rId5"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hyperlink" Target="https://github.com/orgs/nakujaproject/projects/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66308" y="1545450"/>
            <a:ext cx="8520600" cy="2052600"/>
          </a:xfrm>
          <a:prstGeom prst="rect">
            <a:avLst/>
          </a:prstGeom>
          <a:noFill/>
          <a:ln>
            <a:noFill/>
          </a:ln>
        </p:spPr>
        <p:txBody>
          <a:bodyPr anchorCtr="0" anchor="b" bIns="91425" lIns="91425" spcFirstLastPara="1" rIns="91425" wrap="square" tIns="91425">
            <a:normAutofit fontScale="90000"/>
          </a:bodyPr>
          <a:lstStyle/>
          <a:p>
            <a:pPr indent="0" lvl="0" marL="0" rtl="0" algn="ctr">
              <a:lnSpc>
                <a:spcPct val="100000"/>
              </a:lnSpc>
              <a:spcBef>
                <a:spcPts val="0"/>
              </a:spcBef>
              <a:spcAft>
                <a:spcPts val="0"/>
              </a:spcAft>
              <a:buSzPct val="111111"/>
              <a:buNone/>
            </a:pPr>
            <a:r>
              <a:rPr lang="en"/>
              <a:t>Nakuja Internship 2026</a:t>
            </a:r>
            <a:endParaRPr/>
          </a:p>
          <a:p>
            <a:pPr indent="0" lvl="0" marL="0" rtl="0" algn="ctr">
              <a:lnSpc>
                <a:spcPct val="100000"/>
              </a:lnSpc>
              <a:spcBef>
                <a:spcPts val="0"/>
              </a:spcBef>
              <a:spcAft>
                <a:spcPts val="0"/>
              </a:spcAft>
              <a:buSzPct val="111111"/>
              <a:buNone/>
            </a:pPr>
            <a:r>
              <a:rPr lang="en"/>
              <a:t>Solid Propulsion Team</a:t>
            </a:r>
            <a:endParaRPr/>
          </a:p>
          <a:p>
            <a:pPr indent="0" lvl="0" marL="0" rtl="0" algn="ctr">
              <a:lnSpc>
                <a:spcPct val="100000"/>
              </a:lnSpc>
              <a:spcBef>
                <a:spcPts val="0"/>
              </a:spcBef>
              <a:spcAft>
                <a:spcPts val="0"/>
              </a:spcAft>
              <a:buSzPct val="111111"/>
              <a:buNone/>
            </a:pPr>
            <a:r>
              <a:rPr lang="en"/>
              <a:t> Weekly report #7</a:t>
            </a:r>
            <a:endParaRPr/>
          </a:p>
          <a:p>
            <a:pPr indent="0" lvl="0" marL="0" rtl="0" algn="ctr">
              <a:lnSpc>
                <a:spcPct val="100000"/>
              </a:lnSpc>
              <a:spcBef>
                <a:spcPts val="0"/>
              </a:spcBef>
              <a:spcAft>
                <a:spcPts val="0"/>
              </a:spcAft>
              <a:buSzPct val="111111"/>
              <a:buNone/>
            </a:pPr>
            <a:r>
              <a:t/>
            </a:r>
            <a:endParaRPr/>
          </a:p>
        </p:txBody>
      </p:sp>
      <p:sp>
        <p:nvSpPr>
          <p:cNvPr id="55" name="Google Shape;55;p1"/>
          <p:cNvSpPr txBox="1"/>
          <p:nvPr>
            <p:ph idx="1" type="subTitle"/>
          </p:nvPr>
        </p:nvSpPr>
        <p:spPr>
          <a:xfrm>
            <a:off x="366300" y="34129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en"/>
              <a:t>Presented by: Lynn Talam </a:t>
            </a:r>
            <a:endParaRPr/>
          </a:p>
        </p:txBody>
      </p:sp>
      <p:sp>
        <p:nvSpPr>
          <p:cNvPr id="56" name="Google Shape;56;p1"/>
          <p:cNvSpPr txBox="1"/>
          <p:nvPr/>
        </p:nvSpPr>
        <p:spPr>
          <a:xfrm>
            <a:off x="3504900" y="4309225"/>
            <a:ext cx="2134200" cy="464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chemeClr val="dk2"/>
                </a:solidFill>
                <a:latin typeface="Arial"/>
                <a:ea typeface="Arial"/>
                <a:cs typeface="Arial"/>
                <a:sym typeface="Arial"/>
              </a:rPr>
              <a:t>July </a:t>
            </a:r>
            <a:r>
              <a:rPr lang="en" sz="1800">
                <a:solidFill>
                  <a:schemeClr val="dk2"/>
                </a:solidFill>
              </a:rPr>
              <a:t>31</a:t>
            </a:r>
            <a:r>
              <a:rPr b="0" i="0" lang="en" sz="1800" u="none" cap="none" strike="noStrike">
                <a:solidFill>
                  <a:schemeClr val="dk2"/>
                </a:solidFill>
                <a:latin typeface="Arial"/>
                <a:ea typeface="Arial"/>
                <a:cs typeface="Arial"/>
                <a:sym typeface="Arial"/>
              </a:rPr>
              <a:t>, 2026</a:t>
            </a:r>
            <a:endParaRPr b="0" i="0" sz="18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3f60be24b50_0_5"/>
          <p:cNvSpPr txBox="1"/>
          <p:nvPr>
            <p:ph type="ctrTitle"/>
          </p:nvPr>
        </p:nvSpPr>
        <p:spPr>
          <a:xfrm>
            <a:off x="130825" y="192250"/>
            <a:ext cx="8751000" cy="555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chemeClr val="dk1"/>
              </a:buClr>
              <a:buSzPts val="3111"/>
              <a:buFont typeface="Arial"/>
              <a:buNone/>
            </a:pPr>
            <a:r>
              <a:rPr lang="en" sz="2800"/>
              <a:t>Tasks completed this week</a:t>
            </a:r>
            <a:endParaRPr sz="2800"/>
          </a:p>
          <a:p>
            <a:pPr indent="0" lvl="0" marL="0" rtl="0" algn="l">
              <a:spcBef>
                <a:spcPts val="0"/>
              </a:spcBef>
              <a:spcAft>
                <a:spcPts val="0"/>
              </a:spcAft>
              <a:buSzPts val="990"/>
              <a:buNone/>
            </a:pPr>
            <a:r>
              <a:t/>
            </a:r>
            <a:endParaRPr sz="1200"/>
          </a:p>
        </p:txBody>
      </p:sp>
      <p:sp>
        <p:nvSpPr>
          <p:cNvPr id="62" name="Google Shape;62;g3f60be24b50_0_5"/>
          <p:cNvSpPr txBox="1"/>
          <p:nvPr>
            <p:ph idx="1" type="subTitle"/>
          </p:nvPr>
        </p:nvSpPr>
        <p:spPr>
          <a:xfrm>
            <a:off x="150625" y="601525"/>
            <a:ext cx="8711400" cy="4083300"/>
          </a:xfrm>
          <a:prstGeom prst="rect">
            <a:avLst/>
          </a:prstGeom>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sz="1800"/>
              <a:t>3D printed top and bottom plate for new casting tool design</a:t>
            </a:r>
            <a:endParaRPr sz="1800"/>
          </a:p>
          <a:p>
            <a:pPr indent="-342900" lvl="0" marL="457200" rtl="0" algn="l">
              <a:lnSpc>
                <a:spcPct val="115000"/>
              </a:lnSpc>
              <a:spcBef>
                <a:spcPts val="0"/>
              </a:spcBef>
              <a:spcAft>
                <a:spcPts val="0"/>
              </a:spcAft>
              <a:buSzPts val="1800"/>
              <a:buAutoNum type="arabicPeriod"/>
            </a:pPr>
            <a:r>
              <a:rPr lang="en" sz="1800"/>
              <a:t>Outlined procedure for N4 Version 2 Solid Rocket Booster production</a:t>
            </a:r>
            <a:endParaRPr sz="1800"/>
          </a:p>
          <a:p>
            <a:pPr indent="-342900" lvl="0" marL="457200" rtl="0" algn="l">
              <a:lnSpc>
                <a:spcPct val="115000"/>
              </a:lnSpc>
              <a:spcBef>
                <a:spcPts val="0"/>
              </a:spcBef>
              <a:spcAft>
                <a:spcPts val="0"/>
              </a:spcAft>
              <a:buSzPts val="1800"/>
              <a:buAutoNum type="arabicPeriod"/>
            </a:pPr>
            <a:r>
              <a:rPr lang="en" sz="1800"/>
              <a:t>3D print trigger circuit casing</a:t>
            </a:r>
            <a:endParaRPr sz="1800"/>
          </a:p>
          <a:p>
            <a:pPr indent="-342900" lvl="0" marL="457200" rtl="0" algn="l">
              <a:lnSpc>
                <a:spcPct val="115000"/>
              </a:lnSpc>
              <a:spcBef>
                <a:spcPts val="0"/>
              </a:spcBef>
              <a:spcAft>
                <a:spcPts val="0"/>
              </a:spcAft>
              <a:buSzPts val="1800"/>
              <a:buAutoNum type="arabicPeriod"/>
            </a:pPr>
            <a:r>
              <a:rPr lang="en" sz="1800"/>
              <a:t>Mandrel fabrication to fit new dimensions</a:t>
            </a:r>
            <a:endParaRPr sz="1800"/>
          </a:p>
          <a:p>
            <a:pPr indent="-342900" lvl="0" marL="457200" rtl="0" algn="l">
              <a:lnSpc>
                <a:spcPct val="115000"/>
              </a:lnSpc>
              <a:spcBef>
                <a:spcPts val="0"/>
              </a:spcBef>
              <a:spcAft>
                <a:spcPts val="0"/>
              </a:spcAft>
              <a:buSzPts val="1800"/>
              <a:buAutoNum type="arabicPeriod"/>
            </a:pPr>
            <a:r>
              <a:rPr lang="en" sz="1800"/>
              <a:t>One grain static test (control and suppressant)</a:t>
            </a:r>
            <a:endParaRPr sz="1800"/>
          </a:p>
          <a:p>
            <a:pPr indent="0" lvl="0" marL="0" rtl="0" algn="l">
              <a:lnSpc>
                <a:spcPct val="115000"/>
              </a:lnSpc>
              <a:spcBef>
                <a:spcPts val="1200"/>
              </a:spcBef>
              <a:spcAft>
                <a:spcPts val="0"/>
              </a:spcAft>
              <a:buClr>
                <a:schemeClr val="dk1"/>
              </a:buClr>
              <a:buSzPts val="1800"/>
              <a:buFont typeface="Arial"/>
              <a:buNone/>
            </a:pPr>
            <a:r>
              <a:t/>
            </a:r>
            <a:endParaRPr sz="1800"/>
          </a:p>
          <a:p>
            <a:pPr indent="0" lvl="0" marL="457200" rtl="0" algn="l">
              <a:lnSpc>
                <a:spcPct val="115000"/>
              </a:lnSpc>
              <a:spcBef>
                <a:spcPts val="1200"/>
              </a:spcBef>
              <a:spcAft>
                <a:spcPts val="0"/>
              </a:spcAft>
              <a:buClr>
                <a:schemeClr val="dk1"/>
              </a:buClr>
              <a:buSzPts val="1800"/>
              <a:buFont typeface="Arial"/>
              <a:buNone/>
            </a:pPr>
            <a:r>
              <a:t/>
            </a:r>
            <a:endParaRPr sz="1800"/>
          </a:p>
          <a:p>
            <a:pPr indent="0" lvl="0" marL="0" rtl="0" algn="l">
              <a:lnSpc>
                <a:spcPct val="115000"/>
              </a:lnSpc>
              <a:spcBef>
                <a:spcPts val="1200"/>
              </a:spcBef>
              <a:spcAft>
                <a:spcPts val="0"/>
              </a:spcAft>
              <a:buClr>
                <a:schemeClr val="dk1"/>
              </a:buClr>
              <a:buSzPts val="1800"/>
              <a:buFont typeface="Arial"/>
              <a:buNone/>
            </a:pPr>
            <a:r>
              <a:t/>
            </a:r>
            <a:endParaRPr sz="1800"/>
          </a:p>
          <a:p>
            <a:pPr indent="0" lvl="0" marL="0" rtl="0" algn="ctr">
              <a:spcBef>
                <a:spcPts val="12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g3f60be24b50_0_10"/>
          <p:cNvSpPr txBox="1"/>
          <p:nvPr>
            <p:ph type="ctrTitle"/>
          </p:nvPr>
        </p:nvSpPr>
        <p:spPr>
          <a:xfrm>
            <a:off x="91175" y="132800"/>
            <a:ext cx="8741100" cy="614400"/>
          </a:xfrm>
          <a:prstGeom prst="rect">
            <a:avLst/>
          </a:prstGeom>
        </p:spPr>
        <p:txBody>
          <a:bodyPr anchorCtr="0" anchor="b" bIns="91425" lIns="91425" spcFirstLastPara="1" rIns="91425" wrap="square" tIns="91425">
            <a:normAutofit/>
          </a:bodyPr>
          <a:lstStyle/>
          <a:p>
            <a:pPr indent="-368300" lvl="0" marL="457200" rtl="0" algn="ctr">
              <a:spcBef>
                <a:spcPts val="0"/>
              </a:spcBef>
              <a:spcAft>
                <a:spcPts val="0"/>
              </a:spcAft>
              <a:buSzPts val="2200"/>
              <a:buAutoNum type="arabicPeriod"/>
            </a:pPr>
            <a:r>
              <a:rPr lang="en" sz="2200"/>
              <a:t>3D printed top and bottom plate for the new casting tool design </a:t>
            </a:r>
            <a:endParaRPr sz="2200"/>
          </a:p>
        </p:txBody>
      </p:sp>
      <p:sp>
        <p:nvSpPr>
          <p:cNvPr id="68" name="Google Shape;68;g3f60be24b50_0_10"/>
          <p:cNvSpPr txBox="1"/>
          <p:nvPr>
            <p:ph idx="1" type="subTitle"/>
          </p:nvPr>
        </p:nvSpPr>
        <p:spPr>
          <a:xfrm>
            <a:off x="200200" y="985100"/>
            <a:ext cx="8741100" cy="388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Purpose: </a:t>
            </a:r>
            <a:r>
              <a:rPr lang="en" sz="1800"/>
              <a:t>Due to change in dimension for the grain diameter (Outer diameter increased from 86 mm to 104 mm), the team had to re-design the casting tools to fit this dimensions. One out of four casting tools have been printed.</a:t>
            </a:r>
            <a:endParaRPr sz="1800"/>
          </a:p>
          <a:p>
            <a:pPr indent="0" lvl="0" marL="0" rtl="0" algn="l">
              <a:spcBef>
                <a:spcPts val="0"/>
              </a:spcBef>
              <a:spcAft>
                <a:spcPts val="0"/>
              </a:spcAft>
              <a:buNone/>
            </a:pPr>
            <a:r>
              <a:t/>
            </a:r>
            <a:endParaRPr b="1" sz="1800"/>
          </a:p>
          <a:p>
            <a:pPr indent="0" lvl="0" marL="0" rtl="0" algn="l">
              <a:spcBef>
                <a:spcPts val="0"/>
              </a:spcBef>
              <a:spcAft>
                <a:spcPts val="0"/>
              </a:spcAft>
              <a:buNone/>
            </a:pPr>
            <a:r>
              <a:rPr b="1" lang="en" sz="1800"/>
              <a:t>Result:</a:t>
            </a:r>
            <a:endParaRPr b="1" sz="1800"/>
          </a:p>
        </p:txBody>
      </p:sp>
      <p:pic>
        <p:nvPicPr>
          <p:cNvPr id="69" name="Google Shape;69;g3f60be24b50_0_10"/>
          <p:cNvPicPr preferRelativeResize="0"/>
          <p:nvPr/>
        </p:nvPicPr>
        <p:blipFill>
          <a:blip r:embed="rId3">
            <a:alphaModFix/>
          </a:blip>
          <a:stretch>
            <a:fillRect/>
          </a:stretch>
        </p:blipFill>
        <p:spPr>
          <a:xfrm>
            <a:off x="2109802" y="2011550"/>
            <a:ext cx="1127500" cy="31319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3f60be24b50_0_25"/>
          <p:cNvSpPr txBox="1"/>
          <p:nvPr>
            <p:ph type="ctrTitle"/>
          </p:nvPr>
        </p:nvSpPr>
        <p:spPr>
          <a:xfrm>
            <a:off x="0" y="73325"/>
            <a:ext cx="8741100" cy="4755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 sz="2200"/>
              <a:t>2. Outlined procedure for N4 Version 2 SRB manufacturing </a:t>
            </a:r>
            <a:r>
              <a:rPr lang="en" sz="2200"/>
              <a:t> </a:t>
            </a:r>
            <a:endParaRPr sz="2200"/>
          </a:p>
        </p:txBody>
      </p:sp>
      <p:sp>
        <p:nvSpPr>
          <p:cNvPr id="75" name="Google Shape;75;g3f60be24b50_0_25"/>
          <p:cNvSpPr txBox="1"/>
          <p:nvPr>
            <p:ph idx="1" type="subTitle"/>
          </p:nvPr>
        </p:nvSpPr>
        <p:spPr>
          <a:xfrm>
            <a:off x="91175" y="588700"/>
            <a:ext cx="8741100" cy="388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Reason for Version 2 change: </a:t>
            </a:r>
            <a:endParaRPr b="1" sz="1800"/>
          </a:p>
          <a:p>
            <a:pPr indent="-342900" lvl="0" marL="457200" rtl="0" algn="l">
              <a:spcBef>
                <a:spcPts val="0"/>
              </a:spcBef>
              <a:spcAft>
                <a:spcPts val="0"/>
              </a:spcAft>
              <a:buSzPts val="1800"/>
              <a:buChar char="-"/>
            </a:pPr>
            <a:r>
              <a:rPr lang="en" sz="1800"/>
              <a:t>Change in casing material from Aluminium A6063-T5 to stainless steel </a:t>
            </a:r>
            <a:r>
              <a:rPr lang="en" sz="1800"/>
              <a:t>G 304</a:t>
            </a:r>
            <a:r>
              <a:rPr lang="en" sz="1800"/>
              <a:t> </a:t>
            </a:r>
            <a:r>
              <a:rPr lang="en" sz="1800"/>
              <a:t>schedule 10</a:t>
            </a:r>
            <a:endParaRPr sz="1800"/>
          </a:p>
          <a:p>
            <a:pPr indent="-342900" lvl="0" marL="457200" rtl="0" algn="l">
              <a:spcBef>
                <a:spcPts val="0"/>
              </a:spcBef>
              <a:spcAft>
                <a:spcPts val="0"/>
              </a:spcAft>
              <a:buSzPts val="1800"/>
              <a:buChar char="-"/>
            </a:pPr>
            <a:r>
              <a:rPr lang="en" sz="1800"/>
              <a:t>Increase in motor outer diameter from 100 mm to 114 mm</a:t>
            </a:r>
            <a:endParaRPr sz="1800"/>
          </a:p>
          <a:p>
            <a:pPr indent="-342900" lvl="0" marL="457200" rtl="0" algn="l">
              <a:spcBef>
                <a:spcPts val="0"/>
              </a:spcBef>
              <a:spcAft>
                <a:spcPts val="0"/>
              </a:spcAft>
              <a:buSzPts val="1800"/>
              <a:buChar char="-"/>
            </a:pPr>
            <a:r>
              <a:rPr lang="en" sz="1800"/>
              <a:t>Improvement in grain preparation (curing under pressure, fine milled KNO3)</a:t>
            </a:r>
            <a:endParaRPr sz="1800"/>
          </a:p>
          <a:p>
            <a:pPr indent="-342900" lvl="0" marL="457200" rtl="0" algn="l">
              <a:spcBef>
                <a:spcPts val="0"/>
              </a:spcBef>
              <a:spcAft>
                <a:spcPts val="0"/>
              </a:spcAft>
              <a:buSzPts val="1800"/>
              <a:buChar char="-"/>
            </a:pPr>
            <a:r>
              <a:rPr lang="en" sz="1800"/>
              <a:t>Reduction in number of grains from 5 to 4 to reduce peak thrust to the target value of ~2322N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Documentation for critical path to N4 version 2 SRB manufacturing</a:t>
            </a:r>
            <a:r>
              <a:rPr lang="en" sz="1800"/>
              <a:t>: </a:t>
            </a:r>
            <a:r>
              <a:rPr lang="en" sz="1800" u="sng">
                <a:solidFill>
                  <a:schemeClr val="hlink"/>
                </a:solidFill>
                <a:hlinkClick r:id="rId3"/>
              </a:rPr>
              <a:t>https://github.com/nakujaproject/Internship-2026/blob/main/01_SOLID_PROPULSION/Static_Tests/Four_Grain_Test/Critical%20Path%20For%20N4%20Version%202%20Solid%20Rocket%20Booster%20(3).pdf</a:t>
            </a: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3f60be24b50_0_30"/>
          <p:cNvSpPr txBox="1"/>
          <p:nvPr>
            <p:ph type="ctrTitle"/>
          </p:nvPr>
        </p:nvSpPr>
        <p:spPr>
          <a:xfrm>
            <a:off x="-374600" y="0"/>
            <a:ext cx="8741100" cy="614400"/>
          </a:xfrm>
          <a:prstGeom prst="rect">
            <a:avLst/>
          </a:prstGeom>
        </p:spPr>
        <p:txBody>
          <a:bodyPr anchorCtr="0" anchor="b" bIns="91425" lIns="91425" spcFirstLastPara="1" rIns="91425" wrap="square" tIns="91425">
            <a:normAutofit/>
          </a:bodyPr>
          <a:lstStyle/>
          <a:p>
            <a:pPr indent="0" lvl="0" marL="457200" rtl="0" algn="l">
              <a:spcBef>
                <a:spcPts val="0"/>
              </a:spcBef>
              <a:spcAft>
                <a:spcPts val="0"/>
              </a:spcAft>
              <a:buNone/>
            </a:pPr>
            <a:r>
              <a:rPr lang="en" sz="2200"/>
              <a:t>3. 3D print igniter circuit casing</a:t>
            </a:r>
            <a:endParaRPr sz="2200"/>
          </a:p>
        </p:txBody>
      </p:sp>
      <p:sp>
        <p:nvSpPr>
          <p:cNvPr id="81" name="Google Shape;81;g3f60be24b50_0_30"/>
          <p:cNvSpPr txBox="1"/>
          <p:nvPr>
            <p:ph idx="1" type="subTitle"/>
          </p:nvPr>
        </p:nvSpPr>
        <p:spPr>
          <a:xfrm>
            <a:off x="0" y="707600"/>
            <a:ext cx="8741100" cy="388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Purpose:</a:t>
            </a:r>
            <a:r>
              <a:rPr lang="en" sz="1800"/>
              <a:t> In order to protect the ignition circuit during static test and launch, the ignition sub-team designed and outer casing to protect the PCB during field tests.</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Result:</a:t>
            </a:r>
            <a:endParaRPr b="1" sz="1800"/>
          </a:p>
        </p:txBody>
      </p:sp>
      <p:pic>
        <p:nvPicPr>
          <p:cNvPr id="82" name="Google Shape;82;g3f60be24b50_0_30"/>
          <p:cNvPicPr preferRelativeResize="0"/>
          <p:nvPr/>
        </p:nvPicPr>
        <p:blipFill>
          <a:blip r:embed="rId3">
            <a:alphaModFix/>
          </a:blip>
          <a:stretch>
            <a:fillRect/>
          </a:stretch>
        </p:blipFill>
        <p:spPr>
          <a:xfrm>
            <a:off x="646500" y="2033775"/>
            <a:ext cx="3411776" cy="2558825"/>
          </a:xfrm>
          <a:prstGeom prst="rect">
            <a:avLst/>
          </a:prstGeom>
          <a:noFill/>
          <a:ln>
            <a:noFill/>
          </a:ln>
        </p:spPr>
      </p:pic>
      <p:pic>
        <p:nvPicPr>
          <p:cNvPr id="83" name="Google Shape;83;g3f60be24b50_0_30"/>
          <p:cNvPicPr preferRelativeResize="0"/>
          <p:nvPr/>
        </p:nvPicPr>
        <p:blipFill>
          <a:blip r:embed="rId4">
            <a:alphaModFix/>
          </a:blip>
          <a:stretch>
            <a:fillRect/>
          </a:stretch>
        </p:blipFill>
        <p:spPr>
          <a:xfrm>
            <a:off x="5025550" y="2060338"/>
            <a:ext cx="3340950" cy="2505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g3f60be24b50_0_35"/>
          <p:cNvSpPr txBox="1"/>
          <p:nvPr>
            <p:ph type="ctrTitle"/>
          </p:nvPr>
        </p:nvSpPr>
        <p:spPr>
          <a:xfrm>
            <a:off x="-364700" y="0"/>
            <a:ext cx="8741100" cy="614400"/>
          </a:xfrm>
          <a:prstGeom prst="rect">
            <a:avLst/>
          </a:prstGeom>
        </p:spPr>
        <p:txBody>
          <a:bodyPr anchorCtr="0" anchor="b" bIns="91425" lIns="91425" spcFirstLastPara="1" rIns="91425" wrap="square" tIns="91425">
            <a:normAutofit/>
          </a:bodyPr>
          <a:lstStyle/>
          <a:p>
            <a:pPr indent="0" lvl="0" marL="457200" rtl="0" algn="just">
              <a:spcBef>
                <a:spcPts val="0"/>
              </a:spcBef>
              <a:spcAft>
                <a:spcPts val="0"/>
              </a:spcAft>
              <a:buNone/>
            </a:pPr>
            <a:r>
              <a:rPr lang="en" sz="2200"/>
              <a:t>4. Mandrel fabrication to fit new dimensions</a:t>
            </a:r>
            <a:endParaRPr sz="2200"/>
          </a:p>
        </p:txBody>
      </p:sp>
      <p:sp>
        <p:nvSpPr>
          <p:cNvPr id="89" name="Google Shape;89;g3f60be24b50_0_35"/>
          <p:cNvSpPr txBox="1"/>
          <p:nvPr>
            <p:ph idx="1" type="subTitle"/>
          </p:nvPr>
        </p:nvSpPr>
        <p:spPr>
          <a:xfrm>
            <a:off x="81275" y="629250"/>
            <a:ext cx="8741100" cy="388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Purpose</a:t>
            </a:r>
            <a:r>
              <a:rPr lang="en" sz="1800"/>
              <a:t>: In order to fit the new dimensions for the outer diameter of the grain, the propellant subteam fabricated a new mandrel which will be used during liner fabrication.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Result:</a:t>
            </a:r>
            <a:endParaRPr b="1" sz="1800"/>
          </a:p>
        </p:txBody>
      </p:sp>
      <p:pic>
        <p:nvPicPr>
          <p:cNvPr id="90" name="Google Shape;90;g3f60be24b50_0_35"/>
          <p:cNvPicPr preferRelativeResize="0"/>
          <p:nvPr/>
        </p:nvPicPr>
        <p:blipFill>
          <a:blip r:embed="rId3">
            <a:alphaModFix/>
          </a:blip>
          <a:stretch>
            <a:fillRect/>
          </a:stretch>
        </p:blipFill>
        <p:spPr>
          <a:xfrm>
            <a:off x="1520100" y="1751625"/>
            <a:ext cx="4368152" cy="32761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g3f60be24b50_0_40"/>
          <p:cNvSpPr txBox="1"/>
          <p:nvPr>
            <p:ph type="ctrTitle"/>
          </p:nvPr>
        </p:nvSpPr>
        <p:spPr>
          <a:xfrm>
            <a:off x="-533175" y="0"/>
            <a:ext cx="8741100" cy="614400"/>
          </a:xfrm>
          <a:prstGeom prst="rect">
            <a:avLst/>
          </a:prstGeom>
        </p:spPr>
        <p:txBody>
          <a:bodyPr anchorCtr="0" anchor="b" bIns="91425" lIns="91425" spcFirstLastPara="1" rIns="91425" wrap="square" tIns="91425">
            <a:normAutofit/>
          </a:bodyPr>
          <a:lstStyle/>
          <a:p>
            <a:pPr indent="0" lvl="0" marL="457200" rtl="0" algn="just">
              <a:spcBef>
                <a:spcPts val="0"/>
              </a:spcBef>
              <a:spcAft>
                <a:spcPts val="0"/>
              </a:spcAft>
              <a:buNone/>
            </a:pPr>
            <a:r>
              <a:rPr lang="en" sz="2200"/>
              <a:t>5. One grain static test #6: Control test</a:t>
            </a:r>
            <a:endParaRPr sz="2200"/>
          </a:p>
        </p:txBody>
      </p:sp>
      <p:sp>
        <p:nvSpPr>
          <p:cNvPr id="96" name="Google Shape;96;g3f60be24b50_0_40"/>
          <p:cNvSpPr txBox="1"/>
          <p:nvPr>
            <p:ph idx="1" type="subTitle"/>
          </p:nvPr>
        </p:nvSpPr>
        <p:spPr>
          <a:xfrm>
            <a:off x="0" y="687800"/>
            <a:ext cx="8741100" cy="3885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Purpose: </a:t>
            </a:r>
            <a:r>
              <a:rPr lang="en" sz="1800"/>
              <a:t>Due to exposure and entry of moisture during the first control static test, the propellant subteam prepared another grain and it was fired during the 6th static test. This grain will be used as our reference point when making any potential changes to the grain.</a:t>
            </a:r>
            <a:endParaRPr sz="1800"/>
          </a:p>
          <a:p>
            <a:pPr indent="0" lvl="0" marL="0" rtl="0" algn="l">
              <a:spcBef>
                <a:spcPts val="0"/>
              </a:spcBef>
              <a:spcAft>
                <a:spcPts val="0"/>
              </a:spcAft>
              <a:buNone/>
            </a:pPr>
            <a:r>
              <a:t/>
            </a:r>
            <a:endParaRPr sz="1800"/>
          </a:p>
          <a:p>
            <a:pPr indent="0" lvl="0" marL="0" rtl="0" algn="l">
              <a:spcBef>
                <a:spcPts val="0"/>
              </a:spcBef>
              <a:spcAft>
                <a:spcPts val="0"/>
              </a:spcAft>
              <a:buNone/>
            </a:pPr>
            <a:r>
              <a:rPr b="1" lang="en" sz="1800"/>
              <a:t>Result: </a:t>
            </a:r>
            <a:endParaRPr b="1" sz="1800"/>
          </a:p>
        </p:txBody>
      </p:sp>
      <p:pic>
        <p:nvPicPr>
          <p:cNvPr id="97" name="Google Shape;97;g3f60be24b50_0_40" title="Static test #6: Control test.mp4">
            <a:hlinkClick r:id="rId3"/>
          </p:cNvPr>
          <p:cNvPicPr preferRelativeResize="0"/>
          <p:nvPr/>
        </p:nvPicPr>
        <p:blipFill>
          <a:blip r:embed="rId4">
            <a:alphaModFix/>
          </a:blip>
          <a:stretch>
            <a:fillRect/>
          </a:stretch>
        </p:blipFill>
        <p:spPr>
          <a:xfrm>
            <a:off x="1085495" y="2099350"/>
            <a:ext cx="1707700" cy="3044150"/>
          </a:xfrm>
          <a:prstGeom prst="rect">
            <a:avLst/>
          </a:prstGeom>
          <a:noFill/>
          <a:ln>
            <a:noFill/>
          </a:ln>
        </p:spPr>
      </p:pic>
      <p:pic>
        <p:nvPicPr>
          <p:cNvPr id="98" name="Google Shape;98;g3f60be24b50_0_40"/>
          <p:cNvPicPr preferRelativeResize="0"/>
          <p:nvPr/>
        </p:nvPicPr>
        <p:blipFill>
          <a:blip r:embed="rId5">
            <a:alphaModFix/>
          </a:blip>
          <a:stretch>
            <a:fillRect/>
          </a:stretch>
        </p:blipFill>
        <p:spPr>
          <a:xfrm>
            <a:off x="3520750" y="2017950"/>
            <a:ext cx="4799900" cy="2852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000"/>
                                        <p:tgtEl>
                                          <p:spTgt spid="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g3f60be24b50_0_45"/>
          <p:cNvSpPr txBox="1"/>
          <p:nvPr>
            <p:ph type="ctrTitle"/>
          </p:nvPr>
        </p:nvSpPr>
        <p:spPr>
          <a:xfrm>
            <a:off x="-414250" y="0"/>
            <a:ext cx="8741100" cy="614400"/>
          </a:xfrm>
          <a:prstGeom prst="rect">
            <a:avLst/>
          </a:prstGeom>
        </p:spPr>
        <p:txBody>
          <a:bodyPr anchorCtr="0" anchor="b" bIns="91425" lIns="91425" spcFirstLastPara="1" rIns="91425" wrap="square" tIns="91425">
            <a:noAutofit/>
          </a:bodyPr>
          <a:lstStyle/>
          <a:p>
            <a:pPr indent="0" lvl="0" marL="457200" rtl="0" algn="l">
              <a:spcBef>
                <a:spcPts val="0"/>
              </a:spcBef>
              <a:spcAft>
                <a:spcPts val="0"/>
              </a:spcAft>
              <a:buSzPts val="990"/>
              <a:buNone/>
            </a:pPr>
            <a:r>
              <a:rPr lang="en" sz="1950"/>
              <a:t>6. One grain static test #7: Addition of suppressant (Sodium Bicarbonate)</a:t>
            </a:r>
            <a:endParaRPr sz="1950"/>
          </a:p>
        </p:txBody>
      </p:sp>
      <p:sp>
        <p:nvSpPr>
          <p:cNvPr id="104" name="Google Shape;104;g3f60be24b50_0_45"/>
          <p:cNvSpPr txBox="1"/>
          <p:nvPr>
            <p:ph idx="1" type="subTitle"/>
          </p:nvPr>
        </p:nvSpPr>
        <p:spPr>
          <a:xfrm>
            <a:off x="50550" y="540675"/>
            <a:ext cx="9042900" cy="4194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1800"/>
              <a:t>Purpose: </a:t>
            </a:r>
            <a:r>
              <a:rPr lang="en" sz="1800"/>
              <a:t>Following the control static test, a second test was carried out using a KNSB grain with 1% sodium bicarbonate suppressant added to evaluate whether it’ll reduce thrust output.</a:t>
            </a:r>
            <a:endParaRPr sz="1800"/>
          </a:p>
          <a:p>
            <a:pPr indent="0" lvl="0" marL="0" rtl="0" algn="l">
              <a:spcBef>
                <a:spcPts val="0"/>
              </a:spcBef>
              <a:spcAft>
                <a:spcPts val="0"/>
              </a:spcAft>
              <a:buNone/>
            </a:pPr>
            <a:r>
              <a:rPr b="1" lang="en" sz="1800"/>
              <a:t>Result: </a:t>
            </a:r>
            <a:r>
              <a:rPr lang="en" sz="1800"/>
              <a:t>The SRM produced ~76% of the theoretical ISP and the peak thrust was slightly below simulated values indicating excellent performance of the suppressant.</a:t>
            </a:r>
            <a:endParaRPr sz="1800"/>
          </a:p>
          <a:p>
            <a:pPr indent="0" lvl="0" marL="0" rtl="0" algn="l">
              <a:spcBef>
                <a:spcPts val="0"/>
              </a:spcBef>
              <a:spcAft>
                <a:spcPts val="0"/>
              </a:spcAft>
              <a:buNone/>
            </a:pPr>
            <a:r>
              <a:rPr lang="en" sz="1800"/>
              <a:t>Unfortunately, no video footage was captured as the SD card in the GoPro was full at the time of the static test.</a:t>
            </a:r>
            <a:br>
              <a:rPr b="1" lang="en" sz="1800"/>
            </a:br>
            <a:endParaRPr b="1" sz="1800"/>
          </a:p>
        </p:txBody>
      </p:sp>
      <p:pic>
        <p:nvPicPr>
          <p:cNvPr id="105" name="Google Shape;105;g3f60be24b50_0_45"/>
          <p:cNvPicPr preferRelativeResize="0"/>
          <p:nvPr/>
        </p:nvPicPr>
        <p:blipFill>
          <a:blip r:embed="rId3">
            <a:alphaModFix/>
          </a:blip>
          <a:stretch>
            <a:fillRect/>
          </a:stretch>
        </p:blipFill>
        <p:spPr>
          <a:xfrm>
            <a:off x="222775" y="2571750"/>
            <a:ext cx="3609874" cy="2629025"/>
          </a:xfrm>
          <a:prstGeom prst="rect">
            <a:avLst/>
          </a:prstGeom>
          <a:noFill/>
          <a:ln>
            <a:noFill/>
          </a:ln>
        </p:spPr>
      </p:pic>
      <p:pic>
        <p:nvPicPr>
          <p:cNvPr id="106" name="Google Shape;106;g3f60be24b50_0_45"/>
          <p:cNvPicPr preferRelativeResize="0"/>
          <p:nvPr/>
        </p:nvPicPr>
        <p:blipFill>
          <a:blip r:embed="rId4">
            <a:alphaModFix/>
          </a:blip>
          <a:stretch>
            <a:fillRect/>
          </a:stretch>
        </p:blipFill>
        <p:spPr>
          <a:xfrm>
            <a:off x="3832650" y="3076125"/>
            <a:ext cx="5311349" cy="10506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Next week’s tasks</a:t>
            </a:r>
            <a:endParaRPr/>
          </a:p>
        </p:txBody>
      </p:sp>
      <p:sp>
        <p:nvSpPr>
          <p:cNvPr id="112" name="Google Shape;112;p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AutoNum type="arabicPeriod"/>
            </a:pPr>
            <a:r>
              <a:rPr lang="en"/>
              <a:t>Cooking of grains for 4 grain static test </a:t>
            </a:r>
            <a:endParaRPr/>
          </a:p>
          <a:p>
            <a:pPr indent="-342900" lvl="0" marL="457200" rtl="0" algn="l">
              <a:lnSpc>
                <a:spcPct val="115000"/>
              </a:lnSpc>
              <a:spcBef>
                <a:spcPts val="0"/>
              </a:spcBef>
              <a:spcAft>
                <a:spcPts val="0"/>
              </a:spcAft>
              <a:buSzPts val="1800"/>
              <a:buAutoNum type="arabicPeriod"/>
            </a:pPr>
            <a:r>
              <a:rPr lang="en"/>
              <a:t>Old grains disposal </a:t>
            </a:r>
            <a:endParaRPr/>
          </a:p>
          <a:p>
            <a:pPr indent="-342900" lvl="0" marL="457200" rtl="0" algn="l">
              <a:lnSpc>
                <a:spcPct val="115000"/>
              </a:lnSpc>
              <a:spcBef>
                <a:spcPts val="0"/>
              </a:spcBef>
              <a:spcAft>
                <a:spcPts val="0"/>
              </a:spcAft>
              <a:buSzPts val="1800"/>
              <a:buAutoNum type="arabicPeriod"/>
            </a:pPr>
            <a:r>
              <a:rPr lang="en"/>
              <a:t>Purchasing of items</a:t>
            </a:r>
            <a:endParaRPr/>
          </a:p>
          <a:p>
            <a:pPr indent="-342900" lvl="0" marL="457200" rtl="0" algn="l">
              <a:lnSpc>
                <a:spcPct val="115000"/>
              </a:lnSpc>
              <a:spcBef>
                <a:spcPts val="0"/>
              </a:spcBef>
              <a:spcAft>
                <a:spcPts val="0"/>
              </a:spcAft>
              <a:buSzPts val="1800"/>
              <a:buAutoNum type="arabicPeriod"/>
            </a:pPr>
            <a:r>
              <a:rPr lang="en"/>
              <a:t>Liner preparation</a:t>
            </a:r>
            <a:endParaRPr/>
          </a:p>
          <a:p>
            <a:pPr indent="-342900" lvl="0" marL="457200" rtl="0" algn="l">
              <a:spcBef>
                <a:spcPts val="0"/>
              </a:spcBef>
              <a:spcAft>
                <a:spcPts val="0"/>
              </a:spcAft>
              <a:buSzPts val="1800"/>
              <a:buAutoNum type="arabicPeriod"/>
            </a:pPr>
            <a:r>
              <a:rPr lang="en"/>
              <a:t>Liner thickness testing (Burn test)</a:t>
            </a:r>
            <a:endParaRPr/>
          </a:p>
          <a:p>
            <a:pPr indent="-342900" lvl="0" marL="457200" rtl="0" algn="l">
              <a:spcBef>
                <a:spcPts val="0"/>
              </a:spcBef>
              <a:spcAft>
                <a:spcPts val="0"/>
              </a:spcAft>
              <a:buSzPts val="1800"/>
              <a:buAutoNum type="arabicPeriod"/>
            </a:pPr>
            <a:r>
              <a:rPr lang="en"/>
              <a:t>Ignition circuit fabrication</a:t>
            </a:r>
            <a:endParaRPr/>
          </a:p>
          <a:p>
            <a:pPr indent="-342900" lvl="0" marL="457200" rtl="0" algn="l">
              <a:spcBef>
                <a:spcPts val="0"/>
              </a:spcBef>
              <a:spcAft>
                <a:spcPts val="0"/>
              </a:spcAft>
              <a:buSzPts val="1800"/>
              <a:buAutoNum type="arabicPeriod"/>
            </a:pPr>
            <a:r>
              <a:rPr lang="en"/>
              <a:t>Ignitor preparation and testing</a:t>
            </a:r>
            <a:endParaRPr/>
          </a:p>
          <a:p>
            <a:pPr indent="0" lvl="0" marL="457200" rtl="0" algn="l">
              <a:lnSpc>
                <a:spcPct val="115000"/>
              </a:lnSpc>
              <a:spcBef>
                <a:spcPts val="0"/>
              </a:spcBef>
              <a:spcAft>
                <a:spcPts val="0"/>
              </a:spcAft>
              <a:buNone/>
            </a:pPr>
            <a:r>
              <a:t/>
            </a:r>
            <a:endParaRPr/>
          </a:p>
          <a:p>
            <a:pPr indent="0" lvl="0" marL="457200" rtl="0" algn="l">
              <a:lnSpc>
                <a:spcPct val="115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Challenges experienced</a:t>
            </a:r>
            <a:endParaRPr/>
          </a:p>
        </p:txBody>
      </p:sp>
      <p:sp>
        <p:nvSpPr>
          <p:cNvPr id="118" name="Google Shape;118;p12"/>
          <p:cNvSpPr txBox="1"/>
          <p:nvPr>
            <p:ph idx="1" type="body"/>
          </p:nvPr>
        </p:nvSpPr>
        <p:spPr>
          <a:xfrm>
            <a:off x="246175" y="1086950"/>
            <a:ext cx="8729700" cy="3838500"/>
          </a:xfrm>
          <a:prstGeom prst="rect">
            <a:avLst/>
          </a:prstGeom>
          <a:noFill/>
          <a:ln>
            <a:noFill/>
          </a:ln>
        </p:spPr>
        <p:txBody>
          <a:bodyPr anchorCtr="0" anchor="t" bIns="91425" lIns="91425" spcFirstLastPara="1" rIns="91425" wrap="square" tIns="91425">
            <a:normAutofit lnSpcReduction="10000"/>
          </a:bodyPr>
          <a:lstStyle/>
          <a:p>
            <a:pPr indent="-334328" lvl="0" marL="457200" rtl="0" algn="l">
              <a:lnSpc>
                <a:spcPct val="115000"/>
              </a:lnSpc>
              <a:spcBef>
                <a:spcPts val="0"/>
              </a:spcBef>
              <a:spcAft>
                <a:spcPts val="0"/>
              </a:spcAft>
              <a:buSzPts val="1800"/>
              <a:buAutoNum type="arabicPeriod"/>
            </a:pPr>
            <a:r>
              <a:rPr lang="en"/>
              <a:t>Poor internet connectivity.</a:t>
            </a:r>
            <a:endParaRPr/>
          </a:p>
          <a:p>
            <a:pPr indent="-220028" lvl="0" marL="457200" rtl="0" algn="l">
              <a:lnSpc>
                <a:spcPct val="115000"/>
              </a:lnSpc>
              <a:spcBef>
                <a:spcPts val="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457200" rtl="0" algn="l">
              <a:lnSpc>
                <a:spcPct val="115000"/>
              </a:lnSpc>
              <a:spcBef>
                <a:spcPts val="1200"/>
              </a:spcBef>
              <a:spcAft>
                <a:spcPts val="0"/>
              </a:spcAft>
              <a:buSzPts val="1800"/>
              <a:buNone/>
            </a:pPr>
            <a:r>
              <a:t/>
            </a:r>
            <a:endParaRPr/>
          </a:p>
          <a:p>
            <a:pPr indent="0" lvl="0" marL="0" rtl="0" algn="l">
              <a:lnSpc>
                <a:spcPct val="115000"/>
              </a:lnSpc>
              <a:spcBef>
                <a:spcPts val="1200"/>
              </a:spcBef>
              <a:spcAft>
                <a:spcPts val="0"/>
              </a:spcAft>
              <a:buSzPts val="1800"/>
              <a:buNone/>
            </a:pPr>
            <a:r>
              <a:rPr b="1" lang="en"/>
              <a:t>Supervisors’ note:</a:t>
            </a:r>
            <a:endParaRPr b="1"/>
          </a:p>
          <a:p>
            <a:pPr indent="0" lvl="0" marL="0" rtl="0" algn="l">
              <a:lnSpc>
                <a:spcPct val="115000"/>
              </a:lnSpc>
              <a:spcBef>
                <a:spcPts val="1200"/>
              </a:spcBef>
              <a:spcAft>
                <a:spcPts val="0"/>
              </a:spcAft>
              <a:buSzPts val="1800"/>
              <a:buNone/>
            </a:pPr>
            <a:r>
              <a:rPr b="1" lang="en"/>
              <a:t>Visit Solid Propulsion github projects @ </a:t>
            </a:r>
            <a:r>
              <a:rPr b="1" lang="en" u="sng">
                <a:solidFill>
                  <a:schemeClr val="hlink"/>
                </a:solidFill>
                <a:hlinkClick r:id="rId3"/>
              </a:rPr>
              <a:t>https://github.com/orgs/nakujaproject/projects/26</a:t>
            </a:r>
            <a:r>
              <a:rPr b="1" lang="en"/>
              <a:t> to review the tasks done.</a:t>
            </a:r>
            <a:endParaRPr b="1"/>
          </a:p>
          <a:p>
            <a:pPr indent="0" lvl="0" marL="0" rtl="0" algn="l">
              <a:lnSpc>
                <a:spcPct val="115000"/>
              </a:lnSpc>
              <a:spcBef>
                <a:spcPts val="1200"/>
              </a:spcBef>
              <a:spcAft>
                <a:spcPts val="1200"/>
              </a:spcAft>
              <a:buSzPts val="1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519856" y="415289"/>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Thank you for your attention!</a:t>
            </a:r>
            <a:endParaRPr/>
          </a:p>
        </p:txBody>
      </p:sp>
      <p:pic>
        <p:nvPicPr>
          <p:cNvPr id="124" name="Google Shape;124;p14"/>
          <p:cNvPicPr preferRelativeResize="0"/>
          <p:nvPr/>
        </p:nvPicPr>
        <p:blipFill>
          <a:blip r:embed="rId3">
            <a:alphaModFix/>
          </a:blip>
          <a:stretch>
            <a:fillRect/>
          </a:stretch>
        </p:blipFill>
        <p:spPr>
          <a:xfrm>
            <a:off x="3331125" y="987989"/>
            <a:ext cx="3066734" cy="385071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Collins Ngash</dc:creator>
</cp:coreProperties>
</file>